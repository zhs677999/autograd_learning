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9a1978ce8e4778" /><Relationship Type="http://schemas.openxmlformats.org/officeDocument/2006/relationships/extended-properties" Target="/docProps/app.xml" Id="Ra940922e86d94125" /><Relationship Type="http://schemas.openxmlformats.org/officeDocument/2006/relationships/officeDocument" Target="/ppt/presentation.xml" Id="R77537ee950fb4a9f" /></Relationships>
</file>

<file path=ppt/presentation.xml><?xml version="1.0" encoding="utf-8"?>
<p:presentation xmlns:r="http://schemas.openxmlformats.org/officeDocument/2006/relationships" xmlns:a="http://schemas.openxmlformats.org/drawingml/2006/main" xmlns:p="http://schemas.openxmlformats.org/presentationml/2006/main">
  <p:sldMasterIdLst>
    <p:sldMasterId xmlns:r="http://schemas.openxmlformats.org/officeDocument/2006/relationships" id="2147483648" r:id="R35b4f1becbc54c04"/>
  </p:sldMasterIdLst>
  <p:notesMasterIdLst>
    <p:notesMasterId xmlns:r="http://schemas.openxmlformats.org/officeDocument/2006/relationships" r:id="Re7d04df6142a4f1e"/>
  </p:notesMasterIdLst>
  <p:sldIdLst>
    <p:sldId xmlns:r="http://schemas.openxmlformats.org/officeDocument/2006/relationships" id="256" r:id="R5a134b5a006b4ed7"/>
    <p:sldId xmlns:r="http://schemas.openxmlformats.org/officeDocument/2006/relationships" id="257" r:id="Rdcd98fb602b0457a"/>
    <p:sldId xmlns:r="http://schemas.openxmlformats.org/officeDocument/2006/relationships" id="258" r:id="R43682bcbb5fb4244"/>
    <p:sldId xmlns:r="http://schemas.openxmlformats.org/officeDocument/2006/relationships" id="259" r:id="R4e97f3a5980d45b3"/>
    <p:sldId xmlns:r="http://schemas.openxmlformats.org/officeDocument/2006/relationships" id="260" r:id="Rb6404b5c1d40402a"/>
    <p:sldId xmlns:r="http://schemas.openxmlformats.org/officeDocument/2006/relationships" id="261" r:id="Rebb14ea25ff54928"/>
    <p:sldId xmlns:r="http://schemas.openxmlformats.org/officeDocument/2006/relationships" id="262" r:id="Rd431a3a940f04a5f"/>
    <p:sldId xmlns:r="http://schemas.openxmlformats.org/officeDocument/2006/relationships" id="263" r:id="R5d2dd1173e8b4252"/>
    <p:sldId xmlns:r="http://schemas.openxmlformats.org/officeDocument/2006/relationships" id="264" r:id="Rd90b6c77379c4168"/>
    <p:sldId xmlns:r="http://schemas.openxmlformats.org/officeDocument/2006/relationships" id="265" r:id="Rff1ae7ccaa994f03"/>
    <p:sldId xmlns:r="http://schemas.openxmlformats.org/officeDocument/2006/relationships" id="266" r:id="Rf48951af250a433e"/>
    <p:sldId xmlns:r="http://schemas.openxmlformats.org/officeDocument/2006/relationships" id="267" r:id="R63ab1083ff4e4cd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35b4f1becbc54c04" /><Relationship Type="http://schemas.openxmlformats.org/officeDocument/2006/relationships/theme" Target="/ppt/theme/theme1.xml" Id="R1ba88838ad244b57" /><Relationship Type="http://schemas.openxmlformats.org/officeDocument/2006/relationships/notesMaster" Target="/ppt/notesMasters/notesMaster1.xml" Id="Re7d04df6142a4f1e" /><Relationship Type="http://schemas.openxmlformats.org/officeDocument/2006/relationships/presProps" Target="/ppt/presProps.xml" Id="R70f914c8104a47c8" /><Relationship Type="http://schemas.openxmlformats.org/officeDocument/2006/relationships/viewProps" Target="/ppt/viewProps.xml" Id="Rb64bde9ec8af4fe1" /><Relationship Type="http://schemas.openxmlformats.org/officeDocument/2006/relationships/tableStyles" Target="/ppt/tableStyles.xml" Id="Rdbb075622d8e4537" /><Relationship Type="http://schemas.openxmlformats.org/officeDocument/2006/relationships/slide" Target="/ppt/slides/slide1.xml" Id="R5a134b5a006b4ed7" /><Relationship Type="http://schemas.openxmlformats.org/officeDocument/2006/relationships/slide" Target="/ppt/slides/slide2.xml" Id="Rdcd98fb602b0457a" /><Relationship Type="http://schemas.openxmlformats.org/officeDocument/2006/relationships/slide" Target="/ppt/slides/slide3.xml" Id="R43682bcbb5fb4244" /><Relationship Type="http://schemas.openxmlformats.org/officeDocument/2006/relationships/slide" Target="/ppt/slides/slide4.xml" Id="R4e97f3a5980d45b3" /><Relationship Type="http://schemas.openxmlformats.org/officeDocument/2006/relationships/slide" Target="/ppt/slides/slide5.xml" Id="Rb6404b5c1d40402a" /><Relationship Type="http://schemas.openxmlformats.org/officeDocument/2006/relationships/slide" Target="/ppt/slides/slide6.xml" Id="Rebb14ea25ff54928" /><Relationship Type="http://schemas.openxmlformats.org/officeDocument/2006/relationships/slide" Target="/ppt/slides/slide7.xml" Id="Rd431a3a940f04a5f" /><Relationship Type="http://schemas.openxmlformats.org/officeDocument/2006/relationships/slide" Target="/ppt/slides/slide8.xml" Id="R5d2dd1173e8b4252" /><Relationship Type="http://schemas.openxmlformats.org/officeDocument/2006/relationships/slide" Target="/ppt/slides/slide9.xml" Id="Rd90b6c77379c4168" /><Relationship Type="http://schemas.openxmlformats.org/officeDocument/2006/relationships/slide" Target="/ppt/slides/slide10.xml" Id="Rff1ae7ccaa994f03" /><Relationship Type="http://schemas.openxmlformats.org/officeDocument/2006/relationships/slide" Target="/ppt/slides/slide11.xml" Id="Rf48951af250a433e" /><Relationship Type="http://schemas.openxmlformats.org/officeDocument/2006/relationships/slide" Target="/ppt/slides/slide12.xml" Id="R63ab1083ff4e4c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6dbc6e4ebe647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cec242767d49a0" /><Relationship Type="http://schemas.openxmlformats.org/officeDocument/2006/relationships/notesMaster" Target="/ppt/notesMasters/notesMaster1.xml" Id="R450a2766573548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9ea329b9b4415a" /><Relationship Type="http://schemas.openxmlformats.org/officeDocument/2006/relationships/notesMaster" Target="/ppt/notesMasters/notesMaster1.xml" Id="R2debb14d7c9740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d397c3401240d9" /><Relationship Type="http://schemas.openxmlformats.org/officeDocument/2006/relationships/notesMaster" Target="/ppt/notesMasters/notesMaster1.xml" Id="R9a6f237d739748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2821d0d8334ad1" /><Relationship Type="http://schemas.openxmlformats.org/officeDocument/2006/relationships/notesMaster" Target="/ppt/notesMasters/notesMaster1.xml" Id="Rba7eeca829834e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c38a51386a4711" /><Relationship Type="http://schemas.openxmlformats.org/officeDocument/2006/relationships/notesMaster" Target="/ppt/notesMasters/notesMaster1.xml" Id="Rf90c963444ea45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9e7a8f325b4864" /><Relationship Type="http://schemas.openxmlformats.org/officeDocument/2006/relationships/notesMaster" Target="/ppt/notesMasters/notesMaster1.xml" Id="Ra56fbf2f60b545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539fb73ce347d3" /><Relationship Type="http://schemas.openxmlformats.org/officeDocument/2006/relationships/notesMaster" Target="/ppt/notesMasters/notesMaster1.xml" Id="R00531b4e716c44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173ce8ddd7483b" /><Relationship Type="http://schemas.openxmlformats.org/officeDocument/2006/relationships/notesMaster" Target="/ppt/notesMasters/notesMaster1.xml" Id="Rdc0dd41105ad4b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d6b1b91d2c4561" /><Relationship Type="http://schemas.openxmlformats.org/officeDocument/2006/relationships/notesMaster" Target="/ppt/notesMasters/notesMaster1.xml" Id="R15bfc96f033f49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1c881631ad4463" /><Relationship Type="http://schemas.openxmlformats.org/officeDocument/2006/relationships/notesMaster" Target="/ppt/notesMasters/notesMaster1.xml" Id="R5cc9d394f3ee4c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f4a9779bd5493c" /><Relationship Type="http://schemas.openxmlformats.org/officeDocument/2006/relationships/notesMaster" Target="/ppt/notesMasters/notesMaster1.xml" Id="R441a4cafdb684d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05a9013b41417c" /><Relationship Type="http://schemas.openxmlformats.org/officeDocument/2006/relationships/notesMaster" Target="/ppt/notesMasters/notesMaster1.xml" Id="R4d85bc0222f44735"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rPr lang="en-US"/>
              <a:t>??????????RoboMaster??????????????????????????????????????????????????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rPr lang="en-US"/>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rPr lang="en-US"/>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rPr lang="en-US"/>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rPr lang="en-US"/>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rPr lang="en-US"/>
              <a:t>????????????????????????????MATLAB?????????????????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rPr lang="en-US"/>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rPr lang="en-US"/>
              <a:t>??????V2???????????????V3??????????????????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rPr lang="en-US"/>
              <a:t>???????????YOLO-Segment?ROS 2?MoveIt2?????????????????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rPr lang="en-US"/>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rPr lang="en-US"/>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rPr lang="en-US"/>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e06a77f03f4992"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2f533c28a9a94af5" /><Relationship Type="http://schemas.openxmlformats.org/officeDocument/2006/relationships/slideLayout" Target="/ppt/slideLayouts/slideLayout2.xml" Id="Ra1166915838640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166915838640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410832e9598a4b81" /><Relationship Type="http://schemas.openxmlformats.org/officeDocument/2006/relationships/image" Target="/ppt/media/image.jpeg" Id="Rde2e2929c99646e1" /><Relationship Type="http://schemas.openxmlformats.org/officeDocument/2006/relationships/image" Target="/ppt/media/image.png" Id="Rf94acb7660414449" /><Relationship Type="http://schemas.openxmlformats.org/officeDocument/2006/relationships/image" Target="/ppt/media/image2.jpeg" Id="Rd8bd87084bb94f5d" /><Relationship Type="http://schemas.openxmlformats.org/officeDocument/2006/relationships/image" Target="/ppt/media/image2.png" Id="R05a76bf044ac4362" /><Relationship Type="http://schemas.openxmlformats.org/officeDocument/2006/relationships/notesSlide" Target="/ppt/notesSlides/notesSlide1.xml" Id="R21551a1781b142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67add860d8b4ce0" /><Relationship Type="http://schemas.openxmlformats.org/officeDocument/2006/relationships/image" Target="/ppt/media/image3.jpeg" Id="R66e1abe751694552" /><Relationship Type="http://schemas.openxmlformats.org/officeDocument/2006/relationships/image" Target="/ppt/media/image3.png" Id="R71913a35e9c44fce" /><Relationship Type="http://schemas.openxmlformats.org/officeDocument/2006/relationships/notesSlide" Target="/ppt/notesSlides/notesSlide2.xml" Id="Rcf5cf8f4f3bf4a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534e6bca4844436" /><Relationship Type="http://schemas.openxmlformats.org/officeDocument/2006/relationships/image" Target="/ppt/media/image4.jpeg" Id="Re13329bb48224ab6" /><Relationship Type="http://schemas.openxmlformats.org/officeDocument/2006/relationships/image" Target="/ppt/media/image4.png" Id="R67439bc336484470" /><Relationship Type="http://schemas.openxmlformats.org/officeDocument/2006/relationships/image" Target="/ppt/media/image5.jpeg" Id="Rb20d503ec52149fe" /><Relationship Type="http://schemas.openxmlformats.org/officeDocument/2006/relationships/notesSlide" Target="/ppt/notesSlides/notesSlide3.xml" Id="R6099b75dd66a45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4258cd3b3824912" /><Relationship Type="http://schemas.openxmlformats.org/officeDocument/2006/relationships/image" Target="/ppt/media/image5.png" Id="R5b89523c98a64b34" /><Relationship Type="http://schemas.openxmlformats.org/officeDocument/2006/relationships/notesSlide" Target="/ppt/notesSlides/notesSlide4.xml" Id="R81430125295249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845a387a60045ee" /><Relationship Type="http://schemas.openxmlformats.org/officeDocument/2006/relationships/image" Target="/ppt/media/image6.png" Id="R45b0c7e6bce247d8" /><Relationship Type="http://schemas.openxmlformats.org/officeDocument/2006/relationships/image" Target="/ppt/media/image7.png" Id="R26580b5759234009" /><Relationship Type="http://schemas.openxmlformats.org/officeDocument/2006/relationships/image" Target="/ppt/media/image8.png" Id="R6196b55bf969430d" /><Relationship Type="http://schemas.openxmlformats.org/officeDocument/2006/relationships/image" Target="/ppt/media/image9.png" Id="R5f79cbdbee8c4742" /><Relationship Type="http://schemas.openxmlformats.org/officeDocument/2006/relationships/notesSlide" Target="/ppt/notesSlides/notesSlide5.xml" Id="R3e6a08abf0e94e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3755d00d53e4dc5" /><Relationship Type="http://schemas.openxmlformats.org/officeDocument/2006/relationships/image" Target="/ppt/media/image10.png" Id="R1539afdaefe64e19" /><Relationship Type="http://schemas.openxmlformats.org/officeDocument/2006/relationships/image" Target="/ppt/media/image11.png" Id="Rbcc088ff373b4980" /><Relationship Type="http://schemas.openxmlformats.org/officeDocument/2006/relationships/image" Target="/ppt/media/image12.png" Id="Rab7b451869c341f9" /><Relationship Type="http://schemas.openxmlformats.org/officeDocument/2006/relationships/image" Target="/ppt/media/image6.jpeg" Id="Reedf08fe8985494f" /><Relationship Type="http://schemas.openxmlformats.org/officeDocument/2006/relationships/image" Target="/ppt/media/image13.png" Id="R1a298f9a8d874fb3" /><Relationship Type="http://schemas.openxmlformats.org/officeDocument/2006/relationships/notesSlide" Target="/ppt/notesSlides/notesSlide6.xml" Id="R3681fe04b6604f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6f82a91d26b40e4" /><Relationship Type="http://schemas.openxmlformats.org/officeDocument/2006/relationships/image" Target="/ppt/media/image14.png" Id="R9b97f95edc824d47" /><Relationship Type="http://schemas.openxmlformats.org/officeDocument/2006/relationships/image" Target="/ppt/media/image15.png" Id="Rc4cfd41a58f443f6" /><Relationship Type="http://schemas.openxmlformats.org/officeDocument/2006/relationships/image" Target="/ppt/media/image16.png" Id="R4db4c0c541d54f80" /><Relationship Type="http://schemas.openxmlformats.org/officeDocument/2006/relationships/image" Target="/ppt/media/image17.png" Id="R92548a43f2724bc6" /><Relationship Type="http://schemas.openxmlformats.org/officeDocument/2006/relationships/image" Target="/ppt/media/image7.jpeg" Id="Rd8f3d08d548141de" /><Relationship Type="http://schemas.openxmlformats.org/officeDocument/2006/relationships/notesSlide" Target="/ppt/notesSlides/notesSlide7.xml" Id="Reca995d9997249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b59c8aaecd446ba" /><Relationship Type="http://schemas.openxmlformats.org/officeDocument/2006/relationships/image" Target="/ppt/media/image18.png" Id="R265722191e5149fe" /><Relationship Type="http://schemas.openxmlformats.org/officeDocument/2006/relationships/image" Target="/ppt/media/image8.jpeg" Id="R096b9ebd7a664a53" /><Relationship Type="http://schemas.openxmlformats.org/officeDocument/2006/relationships/image" Target="/ppt/media/image9.jpeg" Id="Rdb7f257e38534415" /><Relationship Type="http://schemas.openxmlformats.org/officeDocument/2006/relationships/image" Target="/ppt/media/image19.png" Id="R63c1aa34aa7c4038" /><Relationship Type="http://schemas.openxmlformats.org/officeDocument/2006/relationships/image" Target="/ppt/media/image20.png" Id="R98e2e61116a1418c" /><Relationship Type="http://schemas.openxmlformats.org/officeDocument/2006/relationships/notesSlide" Target="/ppt/notesSlides/notesSlide8.xml" Id="R9bfb1a1c906d45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b1d02d384ca4f0c" /><Relationship Type="http://schemas.openxmlformats.org/officeDocument/2006/relationships/image" Target="/ppt/media/image21.png" Id="R1579dc28541b4b23" /><Relationship Type="http://schemas.openxmlformats.org/officeDocument/2006/relationships/image" Target="/ppt/media/image22.png" Id="Rb25e36828450481b" /><Relationship Type="http://schemas.openxmlformats.org/officeDocument/2006/relationships/notesSlide" Target="/ppt/notesSlides/notesSlide9.xml" Id="R8b231045d29c43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278c385845f46ed" /><Relationship Type="http://schemas.openxmlformats.org/officeDocument/2006/relationships/image" Target="/ppt/media/image23.png" Id="Re899b69afd384bd9" /><Relationship Type="http://schemas.openxmlformats.org/officeDocument/2006/relationships/notesSlide" Target="/ppt/notesSlides/notesSlide10.xml" Id="R44120024b13e4e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af4672a940c4a3f" /><Relationship Type="http://schemas.openxmlformats.org/officeDocument/2006/relationships/image" Target="/ppt/media/image24.png" Id="Re65614ab65aa4663" /><Relationship Type="http://schemas.openxmlformats.org/officeDocument/2006/relationships/image" Target="/ppt/media/image25.png" Id="R8acd338f9aaa4097" /><Relationship Type="http://schemas.openxmlformats.org/officeDocument/2006/relationships/notesSlide" Target="/ppt/notesSlides/notesSlide11.xml" Id="R879eeafe7bd04d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5144fe23f8c4e19" /><Relationship Type="http://schemas.openxmlformats.org/officeDocument/2006/relationships/image" Target="/ppt/media/image10.jpeg" Id="R1f534d247a3542b9" /><Relationship Type="http://schemas.openxmlformats.org/officeDocument/2006/relationships/image" Target="/ppt/media/image26.png" Id="R9aa9173b62c24640" /><Relationship Type="http://schemas.openxmlformats.org/officeDocument/2006/relationships/image" Target="/ppt/media/image11.jpeg" Id="R9f29848f30534da8" /><Relationship Type="http://schemas.openxmlformats.org/officeDocument/2006/relationships/notesSlide" Target="/ppt/notesSlides/notesSlide12.xml" Id="R29476c03b25149a9" /></Relationships>
</file>

<file path=ppt/slides/slide1.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5D288A-2180-425A-970B-30C233F91F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solidFill>
          <a:ln xmlns:a="http://schemas.openxmlformats.org/drawingml/2006/main" w="0">
            <a:solidFill>
              <a:srgbClr val="000000">
                <a:alpha val="0"/>
              </a:srgbClr>
            </a:solidFill>
            <a:prstDash val="solid"/>
          </a:ln>
        </p:spPr>
      </p:sp>
      <p:pic>
        <p:nvPicPr>
          <p:cNvPr id="2" name="" descr="????????????????PPT"/>
          <p:cNvPicPr>
            <a:picLocks xmlns:a="http://schemas.openxmlformats.org/drawingml/2006/main" noChangeAspect="1"/>
          </p:cNvPicPr>
          <p:nvPr/>
        </p:nvPicPr>
        <p:blipFill>
          <a:blip xmlns:r="http://schemas.openxmlformats.org/officeDocument/2006/relationships" xmlns:a="http://schemas.openxmlformats.org/drawingml/2006/main" r:embed="Rde2e2929c99646e1"/>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6363915-6FF4-4D96-8832-66BBAD1B87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alpha val="72157"/>
            </a:srgbClr>
          </a:solidFill>
          <a:ln xmlns:a="http://schemas.openxmlformats.org/drawingml/2006/main" w="0">
            <a:solidFill>
              <a:srgbClr val="000000">
                <a:alpha val="0"/>
              </a:srgbClr>
            </a:solidFill>
            <a:prstDash val="solid"/>
          </a:ln>
        </p:spPr>
      </p:sp>
      <p:pic>
        <p:nvPicPr>
          <p:cNvPr id="4" name="" descr="????????????????PPT"/>
          <p:cNvPicPr>
            <a:picLocks xmlns:a="http://schemas.openxmlformats.org/drawingml/2006/main" noChangeAspect="1"/>
          </p:cNvPicPr>
          <p:nvPr/>
        </p:nvPicPr>
        <p:blipFill>
          <a:blip xmlns:r="http://schemas.openxmlformats.org/officeDocument/2006/relationships" xmlns:a="http://schemas.openxmlformats.org/drawingml/2006/main" r:embed="Rf94acb766041444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5" name="" descr="????????????????PPT"/>
          <p:cNvPicPr>
            <a:picLocks xmlns:a="http://schemas.openxmlformats.org/drawingml/2006/main" noChangeAspect="1"/>
          </p:cNvPicPr>
          <p:nvPr/>
        </p:nvPicPr>
        <p:blipFill>
          <a:blip xmlns:r="http://schemas.openxmlformats.org/officeDocument/2006/relationships" xmlns:a="http://schemas.openxmlformats.org/drawingml/2006/main" r:embed="Rd8bd87084bb94f5d"/>
          <a:srcRect xmlns:a="http://schemas.openxmlformats.org/drawingml/2006/main" l="11808" t="0" r="11808" b="0"/>
          <a:stretch xmlns:a="http://schemas.openxmlformats.org/drawingml/2006/main">
            <a:fillRect l="0" t="0" r="0" b="0"/>
          </a:stretch>
        </p:blipFill>
        <p:spPr>
          <a:xfrm xmlns:a="http://schemas.openxmlformats.org/drawingml/2006/main">
            <a:off x="0" y="0"/>
            <a:ext cx="3762375" cy="685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014B6A3-8F48-4917-B6C0-C09644BA7C76}"/>
              </a:ext>
            </a:extLst>
          </p:cNvPr>
          <p:cNvSpPr>
            <a:spLocks xmlns:a="http://schemas.openxmlformats.org/drawingml/2006/main" noGrp="1"/>
          </p:cNvSpPr>
          <p:nvPr/>
        </p:nvSpPr>
        <p:spPr>
          <a:xfrm xmlns:a="http://schemas.openxmlformats.org/drawingml/2006/main">
            <a:off x="0" y="0"/>
            <a:ext cx="3762375" cy="6858000"/>
          </a:xfrm>
          <a:prstGeom xmlns:a="http://schemas.openxmlformats.org/drawingml/2006/main" prst="rect">
            <a:avLst/>
          </a:prstGeom>
          <a:solidFill xmlns:a="http://schemas.openxmlformats.org/drawingml/2006/main">
            <a:srgbClr val="008AD0">
              <a:alpha val="43922"/>
            </a:srgbClr>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25FD313-BFD6-41DC-BAFE-BB0E39417A89}"/>
              </a:ext>
            </a:extLst>
          </p:cNvPr>
          <p:cNvSpPr>
            <a:spLocks xmlns:a="http://schemas.openxmlformats.org/drawingml/2006/main" noGrp="1"/>
          </p:cNvSpPr>
          <p:nvPr/>
        </p:nvSpPr>
        <p:spPr>
          <a:xfrm xmlns:a="http://schemas.openxmlformats.org/drawingml/2006/main">
            <a:off x="3762375" y="0"/>
            <a:ext cx="47625" cy="685800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pic>
        <p:nvPicPr>
          <p:cNvPr id="8" name="" descr="????????????????PPT"/>
          <p:cNvPicPr>
            <a:picLocks xmlns:a="http://schemas.openxmlformats.org/drawingml/2006/main" noChangeAspect="1"/>
          </p:cNvPicPr>
          <p:nvPr/>
        </p:nvPicPr>
        <p:blipFill>
          <a:blip xmlns:r="http://schemas.openxmlformats.org/officeDocument/2006/relationships" xmlns:a="http://schemas.openxmlformats.org/drawingml/2006/main" r:embed="R05a76bf044ac4362"/>
          <a:stretch xmlns:a="http://schemas.openxmlformats.org/drawingml/2006/main"/>
        </p:blipFill>
        <p:spPr>
          <a:xfrm xmlns:a="http://schemas.openxmlformats.org/drawingml/2006/main">
            <a:off x="590550" y="400822"/>
            <a:ext cx="1571625" cy="3604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3567EE5-BF4D-4890-A08E-A77DD954A634}"/>
              </a:ext>
            </a:extLst>
          </p:cNvPr>
          <p:cNvSpPr>
            <a:spLocks xmlns:a="http://schemas.openxmlformats.org/drawingml/2006/main" noGrp="1"/>
          </p:cNvSpPr>
          <p:nvPr/>
        </p:nvSpPr>
        <p:spPr>
          <a:xfrm xmlns:a="http://schemas.openxmlformats.org/drawingml/2006/main">
            <a:off x="6715125" y="552450"/>
            <a:ext cx="3333750" cy="323850"/>
          </a:xfrm>
          <a:prstGeom xmlns:a="http://schemas.openxmlformats.org/drawingml/2006/main" prst="roundRect">
            <a:avLst>
              <a:gd name="adj" fmla="val 23529"/>
            </a:avLst>
          </a:prstGeom>
          <a:solidFill xmlns:a="http://schemas.openxmlformats.org/drawingml/2006/main">
            <a:srgbClr val="0C1B2C">
              <a:alpha val="60000"/>
            </a:srgbClr>
          </a:solidFill>
          <a:ln xmlns:a="http://schemas.openxmlformats.org/drawingml/2006/main" w="9525">
            <a:solidFill>
              <a:srgbClr val="18BDF2"/>
            </a:solidFill>
            <a:prstDash val="solid"/>
          </a:ln>
        </p:spPr>
      </p:sp>
      <p:sp>
        <p:nvSpPr>
          <p:cNvPr id="10" name="">
            <a:extLst xmlns:a="http://schemas.openxmlformats.org/drawingml/2006/main">
              <a:ext uri="{FF2B5EF4-FFF2-40B4-BE49-F238E27FC236}">
                <a16:creationId xmlns:a16="http://schemas.microsoft.com/office/drawing/2014/main" id="{2293BAC3-987A-4C03-9CEB-3A7E05BBEB15}"/>
              </a:ext>
            </a:extLst>
          </p:cNvPr>
          <p:cNvSpPr>
            <a:spLocks xmlns:a="http://schemas.openxmlformats.org/drawingml/2006/main" noGrp="1"/>
          </p:cNvSpPr>
          <p:nvPr/>
        </p:nvSpPr>
        <p:spPr>
          <a:xfrm xmlns:a="http://schemas.openxmlformats.org/drawingml/2006/main">
            <a:off x="6848475" y="619125"/>
            <a:ext cx="3067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7DE3FF"/>
                </a:solidFill>
                <a:latin typeface="Microsoft YaHei"/>
                <a:ea typeface="Microsoft YaHei"/>
                <a:cs typeface="Microsoft YaHei"/>
              </a:defRPr>
            </a:pPr>
            <a:r>
              <a:rPr sz="1050" b="1">
                <a:solidFill>
                  <a:srgbClr val="7DE3FF"/>
                </a:solidFill>
                <a:latin typeface="Microsoft YaHei"/>
                <a:ea typeface="Microsoft YaHei"/>
                <a:cs typeface="Microsoft YaHei"/>
              </a:rPr>
              <a:t>吴健雄学院 2026 暑期社会实践</a:t>
            </a:r>
          </a:p>
        </p:txBody>
      </p:sp>
      <p:sp>
        <p:nvSpPr>
          <p:cNvPr id="11" name="">
            <a:extLst xmlns:a="http://schemas.openxmlformats.org/drawingml/2006/main">
              <a:ext uri="{FF2B5EF4-FFF2-40B4-BE49-F238E27FC236}">
                <a16:creationId xmlns:a16="http://schemas.microsoft.com/office/drawing/2014/main" id="{2498ED01-D025-4450-876D-4FB5651056C9}"/>
              </a:ext>
            </a:extLst>
          </p:cNvPr>
          <p:cNvSpPr>
            <a:spLocks xmlns:a="http://schemas.openxmlformats.org/drawingml/2006/main" noGrp="1"/>
          </p:cNvSpPr>
          <p:nvPr/>
        </p:nvSpPr>
        <p:spPr>
          <a:xfrm xmlns:a="http://schemas.openxmlformats.org/drawingml/2006/main">
            <a:off x="5857875" y="1447800"/>
            <a:ext cx="3714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7DE3FF"/>
                </a:solidFill>
                <a:latin typeface="Microsoft YaHei UI"/>
                <a:ea typeface="Microsoft YaHei UI"/>
                <a:cs typeface="Microsoft YaHei UI"/>
              </a:defRPr>
            </a:pPr>
            <a:r>
              <a:rPr sz="2250" b="1">
                <a:solidFill>
                  <a:srgbClr val="7DE3FF"/>
                </a:solidFill>
                <a:latin typeface="Microsoft YaHei UI"/>
                <a:ea typeface="Microsoft YaHei UI"/>
                <a:cs typeface="Microsoft YaHei UI"/>
              </a:rPr>
              <a:t>深耕科技创新</a:t>
            </a:r>
          </a:p>
        </p:txBody>
      </p:sp>
      <p:sp>
        <p:nvSpPr>
          <p:cNvPr id="12" name="anim-title-1">
            <a:extLst xmlns:a="http://schemas.openxmlformats.org/drawingml/2006/main">
              <a:ext uri="{FF2B5EF4-FFF2-40B4-BE49-F238E27FC236}">
                <a16:creationId xmlns:a16="http://schemas.microsoft.com/office/drawing/2014/main" id="{A1EF383C-E8C5-44B6-A30E-74DA7A11727C}"/>
              </a:ext>
            </a:extLst>
          </p:cNvPr>
          <p:cNvSpPr>
            <a:spLocks xmlns:a="http://schemas.openxmlformats.org/drawingml/2006/main" noGrp="1"/>
          </p:cNvSpPr>
          <p:nvPr/>
        </p:nvSpPr>
        <p:spPr>
          <a:xfrm xmlns:a="http://schemas.openxmlformats.org/drawingml/2006/main">
            <a:off x="5857875" y="2019300"/>
            <a:ext cx="5429250" cy="1447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200" b="1">
                <a:solidFill>
                  <a:srgbClr val="F8FBFF"/>
                </a:solidFill>
                <a:latin typeface="Microsoft YaHei UI"/>
                <a:ea typeface="Microsoft YaHei UI"/>
                <a:cs typeface="Microsoft YaHei UI"/>
              </a:defRPr>
            </a:pPr>
            <a:r>
              <a:rPr sz="4200" b="1">
                <a:solidFill>
                  <a:srgbClr val="F8FBFF"/>
                </a:solidFill>
                <a:latin typeface="Microsoft YaHei UI"/>
                <a:ea typeface="Microsoft YaHei UI"/>
                <a:cs typeface="Microsoft YaHei UI"/>
              </a:rPr>
              <a:t>双机械臂协作与</a:t>
            </a:r>
          </a:p>
          <a:p xmlns:a="http://schemas.openxmlformats.org/drawingml/2006/main">
            <a:pPr algn="l">
              <a:defRPr sz="4200" b="1">
                <a:solidFill>
                  <a:srgbClr val="F8FBFF"/>
                </a:solidFill>
                <a:latin typeface="Microsoft YaHei UI"/>
                <a:ea typeface="Microsoft YaHei UI"/>
                <a:cs typeface="Microsoft YaHei UI"/>
              </a:defRPr>
            </a:pPr>
            <a:r>
              <a:rPr sz="4200" b="1">
                <a:solidFill>
                  <a:srgbClr val="F8FBFF"/>
                </a:solidFill>
                <a:latin typeface="Microsoft YaHei UI"/>
                <a:ea typeface="Microsoft YaHei UI"/>
                <a:cs typeface="Microsoft YaHei UI"/>
              </a:rPr>
              <a:t>力控制器系统</a:t>
            </a:r>
          </a:p>
        </p:txBody>
      </p:sp>
      <p:sp>
        <p:nvSpPr>
          <p:cNvPr id="13" name="">
            <a:extLst xmlns:a="http://schemas.openxmlformats.org/drawingml/2006/main">
              <a:ext uri="{FF2B5EF4-FFF2-40B4-BE49-F238E27FC236}">
                <a16:creationId xmlns:a16="http://schemas.microsoft.com/office/drawing/2014/main" id="{C07D8748-8BA3-4B54-8256-1D142AB905F3}"/>
              </a:ext>
            </a:extLst>
          </p:cNvPr>
          <p:cNvSpPr>
            <a:spLocks xmlns:a="http://schemas.openxmlformats.org/drawingml/2006/main" noGrp="1"/>
          </p:cNvSpPr>
          <p:nvPr/>
        </p:nvSpPr>
        <p:spPr>
          <a:xfrm xmlns:a="http://schemas.openxmlformats.org/drawingml/2006/main">
            <a:off x="5857875" y="3867150"/>
            <a:ext cx="3714750" cy="28575"/>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C91A4EB-0F22-4D68-B46E-21CD1A110239}"/>
              </a:ext>
            </a:extLst>
          </p:cNvPr>
          <p:cNvSpPr>
            <a:spLocks xmlns:a="http://schemas.openxmlformats.org/drawingml/2006/main" noGrp="1"/>
          </p:cNvSpPr>
          <p:nvPr/>
        </p:nvSpPr>
        <p:spPr>
          <a:xfrm xmlns:a="http://schemas.openxmlformats.org/drawingml/2006/main">
            <a:off x="5857875" y="4114800"/>
            <a:ext cx="5334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A9B6C8"/>
                </a:solidFill>
                <a:latin typeface="Microsoft YaHei"/>
                <a:ea typeface="Microsoft YaHei"/>
                <a:cs typeface="Microsoft YaHei"/>
              </a:defRPr>
            </a:pPr>
            <a:r>
              <a:rPr sz="1350" b="0">
                <a:solidFill>
                  <a:srgbClr val="A9B6C8"/>
                </a:solidFill>
                <a:latin typeface="Microsoft YaHei"/>
                <a:ea typeface="Microsoft YaHei"/>
                <a:cs typeface="Microsoft YaHei"/>
              </a:rPr>
              <a:t>社会实践汇报 | 建功“十五五” · 青春为中国式现代化挺膺担当</a:t>
            </a:r>
          </a:p>
        </p:txBody>
      </p:sp>
      <p:sp>
        <p:nvSpPr>
          <p:cNvPr id="15" name="">
            <a:extLst xmlns:a="http://schemas.openxmlformats.org/drawingml/2006/main">
              <a:ext uri="{FF2B5EF4-FFF2-40B4-BE49-F238E27FC236}">
                <a16:creationId xmlns:a16="http://schemas.microsoft.com/office/drawing/2014/main" id="{71E98F64-B2DF-472A-BCAE-8D0CE36D7EE7}"/>
              </a:ext>
            </a:extLst>
          </p:cNvPr>
          <p:cNvSpPr>
            <a:spLocks xmlns:a="http://schemas.openxmlformats.org/drawingml/2006/main" noGrp="1"/>
          </p:cNvSpPr>
          <p:nvPr/>
        </p:nvSpPr>
        <p:spPr>
          <a:xfrm xmlns:a="http://schemas.openxmlformats.org/drawingml/2006/main">
            <a:off x="5857875" y="5048250"/>
            <a:ext cx="51435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8FBFF"/>
                </a:solidFill>
                <a:latin typeface="Microsoft YaHei"/>
                <a:ea typeface="Microsoft YaHei"/>
                <a:cs typeface="Microsoft YaHei"/>
              </a:defRPr>
            </a:pPr>
            <a:r>
              <a:rPr sz="1350" b="0">
                <a:solidFill>
                  <a:srgbClr val="F8FBFF"/>
                </a:solidFill>
                <a:latin typeface="Microsoft YaHei"/>
                <a:ea typeface="Microsoft YaHei"/>
                <a:cs typeface="Microsoft YaHei"/>
              </a:rPr>
              <a:t>番思琦、王圣博、柴新恬、戚景程、彭嘉钰</a:t>
            </a:r>
          </a:p>
          <a:p xmlns:a="http://schemas.openxmlformats.org/drawingml/2006/main">
            <a:pPr algn="l">
              <a:defRPr sz="1350" b="0">
                <a:solidFill>
                  <a:srgbClr val="F8FBFF"/>
                </a:solidFill>
                <a:latin typeface="Microsoft YaHei"/>
                <a:ea typeface="Microsoft YaHei"/>
                <a:cs typeface="Microsoft YaHei"/>
              </a:defRPr>
            </a:pPr>
            <a:r>
              <a:rPr sz="1350" b="0">
                <a:solidFill>
                  <a:srgbClr val="F8FBFF"/>
                </a:solidFill>
                <a:latin typeface="Microsoft YaHei"/>
                <a:ea typeface="Microsoft YaHei"/>
                <a:cs typeface="Microsoft YaHei"/>
              </a:rPr>
              <a:t>指导老师：王亮</a:t>
            </a:r>
          </a:p>
        </p:txBody>
      </p:sp>
      <p:sp>
        <p:nvSpPr>
          <p:cNvPr id="16" name="">
            <a:extLst xmlns:a="http://schemas.openxmlformats.org/drawingml/2006/main">
              <a:ext uri="{FF2B5EF4-FFF2-40B4-BE49-F238E27FC236}">
                <a16:creationId xmlns:a16="http://schemas.microsoft.com/office/drawing/2014/main" id="{0BC84684-92E0-43FA-96C0-9E3B703CD9AF}"/>
              </a:ext>
            </a:extLst>
          </p:cNvPr>
          <p:cNvSpPr>
            <a:spLocks xmlns:a="http://schemas.openxmlformats.org/drawingml/2006/main" noGrp="1"/>
          </p:cNvSpPr>
          <p:nvPr/>
        </p:nvSpPr>
        <p:spPr>
          <a:xfrm xmlns:a="http://schemas.openxmlformats.org/drawingml/2006/main">
            <a:off x="5857875" y="5905500"/>
            <a:ext cx="3048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7DE3FF"/>
                </a:solidFill>
                <a:latin typeface="Microsoft YaHei"/>
                <a:ea typeface="Microsoft YaHei"/>
                <a:cs typeface="Microsoft YaHei"/>
              </a:defRPr>
            </a:pPr>
            <a:r>
              <a:rPr sz="1350" b="1">
                <a:solidFill>
                  <a:srgbClr val="7DE3FF"/>
                </a:solidFill>
                <a:latin typeface="Microsoft YaHei"/>
                <a:ea typeface="Microsoft YaHei"/>
                <a:cs typeface="Microsoft YaHei"/>
              </a:rPr>
              <a:t>神奇妙妙社会实践队</a:t>
            </a:r>
          </a:p>
        </p:txBody>
      </p:sp>
    </p:spTree>
    <p:extLst>
      <p:ext uri="{BB962C8B-B14F-4D97-AF65-F5344CB8AC3E}">
        <p14:creationId xmlns:p14="http://schemas.microsoft.com/office/powerpoint/2010/main" val="407000761"/>
      </p:ext>
    </p:extLst>
  </p:cSld>
  <p:transition advClick="1">
    <p:fade/>
  </p:transition>
  <p:timing>
    <p:tnLst>
      <p:par>
        <p:cTn id="1" dur="indefinite" restart="never" nodeType="tmRoot">
          <p:childTnLst>
            <p:seq concurrent="1" nextAc="seek">
              <p:cTn id="2" dur="indefinite" nodeType="mainSeq">
                <p:childTnLst>
                  <p:par>
                    <p:cTn id="8"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D7208A-19A5-4618-B4D9-2F2078BF54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solidFill>
          <a:ln xmlns:a="http://schemas.openxmlformats.org/drawingml/2006/main" w="0">
            <a:solidFill>
              <a:srgbClr val="000000">
                <a:alpha val="0"/>
              </a:srgbClr>
            </a:solidFill>
            <a:prstDash val="solid"/>
          </a:ln>
        </p:spPr>
      </p:sp>
      <p:pic>
        <p:nvPicPr>
          <p:cNvPr id="2" name="" descr="????????????????PPT"/>
          <p:cNvPicPr>
            <a:picLocks xmlns:a="http://schemas.openxmlformats.org/drawingml/2006/main" noChangeAspect="1"/>
          </p:cNvPicPr>
          <p:nvPr/>
        </p:nvPicPr>
        <p:blipFill>
          <a:blip xmlns:r="http://schemas.openxmlformats.org/officeDocument/2006/relationships" xmlns:a="http://schemas.openxmlformats.org/drawingml/2006/main" r:embed="R66e1abe751694552"/>
          <a:srcRect xmlns:a="http://schemas.openxmlformats.org/drawingml/2006/main" l="0" t="25382" r="0" b="25382"/>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EE6D1EE-E3C6-4A5B-B3FA-FF8486D3AE4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alpha val="83922"/>
            </a:srgbClr>
          </a:solidFill>
          <a:ln xmlns:a="http://schemas.openxmlformats.org/drawingml/2006/main" w="0">
            <a:solidFill>
              <a:srgbClr val="000000">
                <a:alpha val="0"/>
              </a:srgbClr>
            </a:solidFill>
            <a:prstDash val="solid"/>
          </a:ln>
        </p:spPr>
      </p:sp>
      <p:pic>
        <p:nvPicPr>
          <p:cNvPr id="4" name="" descr="????????????????PPT"/>
          <p:cNvPicPr>
            <a:picLocks xmlns:a="http://schemas.openxmlformats.org/drawingml/2006/main" noChangeAspect="1"/>
          </p:cNvPicPr>
          <p:nvPr/>
        </p:nvPicPr>
        <p:blipFill>
          <a:blip xmlns:r="http://schemas.openxmlformats.org/officeDocument/2006/relationships" xmlns:a="http://schemas.openxmlformats.org/drawingml/2006/main" r:embed="R71913a35e9c44fc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6523A33-D773-4453-A760-EBEA03DA9C5D}"/>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50B13">
              <a:alpha val="90980"/>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7EF4D918-7D66-4879-9574-A06BCE2BE450}"/>
              </a:ext>
            </a:extLst>
          </p:cNvPr>
          <p:cNvSpPr>
            <a:spLocks xmlns:a="http://schemas.openxmlformats.org/drawingml/2006/main" noGrp="1"/>
          </p:cNvSpPr>
          <p:nvPr/>
        </p:nvSpPr>
        <p:spPr>
          <a:xfrm xmlns:a="http://schemas.openxmlformats.org/drawingml/2006/main">
            <a:off x="0" y="6438900"/>
            <a:ext cx="12192000" cy="28575"/>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A47B363-A4AE-4573-9DAE-A02AF44DFCF1}"/>
              </a:ext>
            </a:extLst>
          </p:cNvPr>
          <p:cNvSpPr>
            <a:spLocks xmlns:a="http://schemas.openxmlformats.org/drawingml/2006/main" noGrp="1"/>
          </p:cNvSpPr>
          <p:nvPr/>
        </p:nvSpPr>
        <p:spPr>
          <a:xfrm xmlns:a="http://schemas.openxmlformats.org/drawingml/2006/main">
            <a:off x="533400" y="6562725"/>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双机械臂协作与力控制器系统 | 暑期社会实践汇报</a:t>
            </a:r>
          </a:p>
        </p:txBody>
      </p:sp>
      <p:sp>
        <p:nvSpPr>
          <p:cNvPr id="8" name="">
            <a:extLst xmlns:a="http://schemas.openxmlformats.org/drawingml/2006/main">
              <a:ext uri="{FF2B5EF4-FFF2-40B4-BE49-F238E27FC236}">
                <a16:creationId xmlns:a16="http://schemas.microsoft.com/office/drawing/2014/main" id="{34FE5DC3-076E-407D-94F1-0A1DC2D3835E}"/>
              </a:ext>
            </a:extLst>
          </p:cNvPr>
          <p:cNvSpPr>
            <a:spLocks xmlns:a="http://schemas.openxmlformats.org/drawingml/2006/main" noGrp="1"/>
          </p:cNvSpPr>
          <p:nvPr/>
        </p:nvSpPr>
        <p:spPr>
          <a:xfrm xmlns:a="http://schemas.openxmlformats.org/drawingml/2006/main">
            <a:off x="11239500" y="65627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DE3FF"/>
                </a:solidFill>
                <a:latin typeface="Microsoft YaHei"/>
                <a:ea typeface="Microsoft YaHei"/>
                <a:cs typeface="Microsoft YaHei"/>
              </a:defRPr>
            </a:pPr>
            <a:r>
              <a:rPr sz="900" b="0">
                <a:solidFill>
                  <a:srgbClr val="7DE3FF"/>
                </a:solidFill>
                <a:latin typeface="Microsoft YaHei"/>
                <a:ea typeface="Microsoft YaHei"/>
                <a:cs typeface="Microsoft YaHei"/>
              </a:rPr>
              <a:t>02</a:t>
            </a:r>
          </a:p>
        </p:txBody>
      </p:sp>
      <p:sp>
        <p:nvSpPr>
          <p:cNvPr id="9" name="kicker-2-marker">
            <a:extLst xmlns:a="http://schemas.openxmlformats.org/drawingml/2006/main">
              <a:ext uri="{FF2B5EF4-FFF2-40B4-BE49-F238E27FC236}">
                <a16:creationId xmlns:a16="http://schemas.microsoft.com/office/drawing/2014/main" id="{4BD9200E-FC75-4DA2-B79E-F388D225FE1C}"/>
              </a:ext>
            </a:extLst>
          </p:cNvPr>
          <p:cNvSpPr>
            <a:spLocks xmlns:a="http://schemas.openxmlformats.org/drawingml/2006/main" noGrp="1"/>
          </p:cNvSpPr>
          <p:nvPr/>
        </p:nvSpPr>
        <p:spPr>
          <a:xfrm xmlns:a="http://schemas.openxmlformats.org/drawingml/2006/main">
            <a:off x="552450" y="552450"/>
            <a:ext cx="66675" cy="2857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10" name="kicker-2-label">
            <a:extLst xmlns:a="http://schemas.openxmlformats.org/drawingml/2006/main">
              <a:ext uri="{FF2B5EF4-FFF2-40B4-BE49-F238E27FC236}">
                <a16:creationId xmlns:a16="http://schemas.microsoft.com/office/drawing/2014/main" id="{7ADA78F8-54BC-44C6-9CF8-E0826EF60752}"/>
              </a:ext>
            </a:extLst>
          </p:cNvPr>
          <p:cNvSpPr>
            <a:spLocks xmlns:a="http://schemas.openxmlformats.org/drawingml/2006/main" noGrp="1"/>
          </p:cNvSpPr>
          <p:nvPr/>
        </p:nvSpPr>
        <p:spPr>
          <a:xfrm xmlns:a="http://schemas.openxmlformats.org/drawingml/2006/main">
            <a:off x="742950" y="514350"/>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7DE3FF"/>
                </a:solidFill>
                <a:latin typeface="Microsoft YaHei"/>
                <a:ea typeface="Microsoft YaHei"/>
                <a:cs typeface="Microsoft YaHei"/>
              </a:defRPr>
            </a:pPr>
            <a:r>
              <a:rPr sz="1125" b="1">
                <a:solidFill>
                  <a:srgbClr val="7DE3FF"/>
                </a:solidFill>
                <a:latin typeface="Microsoft YaHei"/>
                <a:ea typeface="Microsoft YaHei"/>
                <a:cs typeface="Microsoft YaHei"/>
              </a:rPr>
              <a:t>PRACTICE POSITIONING</a:t>
            </a:r>
          </a:p>
        </p:txBody>
      </p:sp>
      <p:sp>
        <p:nvSpPr>
          <p:cNvPr id="11" name="anim-title-2">
            <a:extLst xmlns:a="http://schemas.openxmlformats.org/drawingml/2006/main">
              <a:ext uri="{FF2B5EF4-FFF2-40B4-BE49-F238E27FC236}">
                <a16:creationId xmlns:a16="http://schemas.microsoft.com/office/drawing/2014/main" id="{3CD06930-C066-45D0-BE2A-3C51DC07E1B6}"/>
              </a:ext>
            </a:extLst>
          </p:cNvPr>
          <p:cNvSpPr>
            <a:spLocks xmlns:a="http://schemas.openxmlformats.org/drawingml/2006/main" noGrp="1"/>
          </p:cNvSpPr>
          <p:nvPr/>
        </p:nvSpPr>
        <p:spPr>
          <a:xfrm xmlns:a="http://schemas.openxmlformats.org/drawingml/2006/main">
            <a:off x="552450" y="91440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8FBFF"/>
                </a:solidFill>
                <a:latin typeface="Microsoft YaHei UI"/>
                <a:ea typeface="Microsoft YaHei UI"/>
                <a:cs typeface="Microsoft YaHei UI"/>
              </a:defRPr>
            </a:pPr>
            <a:r>
              <a:rPr sz="2700" b="1">
                <a:solidFill>
                  <a:srgbClr val="F8FBFF"/>
                </a:solidFill>
                <a:latin typeface="Microsoft YaHei UI"/>
                <a:ea typeface="Microsoft YaHei UI"/>
                <a:cs typeface="Microsoft YaHei UI"/>
              </a:rPr>
              <a:t>把赛场工程问题，转化为科技创新社会实践。</a:t>
            </a:r>
          </a:p>
        </p:txBody>
      </p:sp>
      <p:sp>
        <p:nvSpPr>
          <p:cNvPr id="12" name="">
            <a:extLst xmlns:a="http://schemas.openxmlformats.org/drawingml/2006/main">
              <a:ext uri="{FF2B5EF4-FFF2-40B4-BE49-F238E27FC236}">
                <a16:creationId xmlns:a16="http://schemas.microsoft.com/office/drawing/2014/main" id="{12196B4E-FCC9-455B-9A55-9C500323CAE2}"/>
              </a:ext>
            </a:extLst>
          </p:cNvPr>
          <p:cNvSpPr>
            <a:spLocks xmlns:a="http://schemas.openxmlformats.org/drawingml/2006/main" noGrp="1"/>
          </p:cNvSpPr>
          <p:nvPr/>
        </p:nvSpPr>
        <p:spPr>
          <a:xfrm xmlns:a="http://schemas.openxmlformats.org/drawingml/2006/main">
            <a:off x="876300" y="22669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活动主题</a:t>
            </a:r>
          </a:p>
        </p:txBody>
      </p:sp>
      <p:sp>
        <p:nvSpPr>
          <p:cNvPr id="13" name="">
            <a:extLst xmlns:a="http://schemas.openxmlformats.org/drawingml/2006/main">
              <a:ext uri="{FF2B5EF4-FFF2-40B4-BE49-F238E27FC236}">
                <a16:creationId xmlns:a16="http://schemas.microsoft.com/office/drawing/2014/main" id="{641C913C-0301-4707-9DDF-543C728D759D}"/>
              </a:ext>
            </a:extLst>
          </p:cNvPr>
          <p:cNvSpPr>
            <a:spLocks xmlns:a="http://schemas.openxmlformats.org/drawingml/2006/main" noGrp="1"/>
          </p:cNvSpPr>
          <p:nvPr/>
        </p:nvSpPr>
        <p:spPr>
          <a:xfrm xmlns:a="http://schemas.openxmlformats.org/drawingml/2006/main">
            <a:off x="876300" y="2667000"/>
            <a:ext cx="704850" cy="190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DF0B073D-5862-40C3-A5E8-234A87874E07}"/>
              </a:ext>
            </a:extLst>
          </p:cNvPr>
          <p:cNvSpPr>
            <a:spLocks xmlns:a="http://schemas.openxmlformats.org/drawingml/2006/main" noGrp="1"/>
          </p:cNvSpPr>
          <p:nvPr/>
        </p:nvSpPr>
        <p:spPr>
          <a:xfrm xmlns:a="http://schemas.openxmlformats.org/drawingml/2006/main">
            <a:off x="876300" y="2819400"/>
            <a:ext cx="34290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9B6C8"/>
                </a:solidFill>
                <a:latin typeface="Microsoft YaHei"/>
                <a:ea typeface="Microsoft YaHei"/>
                <a:cs typeface="Microsoft YaHei"/>
              </a:defRPr>
            </a:pPr>
            <a:r>
              <a:rPr sz="1200" b="0">
                <a:solidFill>
                  <a:srgbClr val="A9B6C8"/>
                </a:solidFill>
                <a:latin typeface="Microsoft YaHei"/>
                <a:ea typeface="Microsoft YaHei"/>
                <a:cs typeface="Microsoft YaHei"/>
              </a:rPr>
              <a:t>建功“十五五” · 青春为中国式现代化挺膺担当</a:t>
            </a:r>
          </a:p>
        </p:txBody>
      </p:sp>
      <p:sp>
        <p:nvSpPr>
          <p:cNvPr id="15" name="">
            <a:extLst xmlns:a="http://schemas.openxmlformats.org/drawingml/2006/main">
              <a:ext uri="{FF2B5EF4-FFF2-40B4-BE49-F238E27FC236}">
                <a16:creationId xmlns:a16="http://schemas.microsoft.com/office/drawing/2014/main" id="{09A9F12D-1E7A-40A3-9430-C7B0498BD1EF}"/>
              </a:ext>
            </a:extLst>
          </p:cNvPr>
          <p:cNvSpPr>
            <a:spLocks xmlns:a="http://schemas.openxmlformats.org/drawingml/2006/main" noGrp="1"/>
          </p:cNvSpPr>
          <p:nvPr/>
        </p:nvSpPr>
        <p:spPr>
          <a:xfrm xmlns:a="http://schemas.openxmlformats.org/drawingml/2006/main">
            <a:off x="4953000" y="2705100"/>
            <a:ext cx="4476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7DE3FF"/>
                </a:solidFill>
                <a:latin typeface="Microsoft YaHei UI"/>
                <a:ea typeface="Microsoft YaHei UI"/>
                <a:cs typeface="Microsoft YaHei UI"/>
              </a:defRPr>
            </a:pPr>
            <a:r>
              <a:rPr sz="1800" b="1">
                <a:solidFill>
                  <a:srgbClr val="7DE3FF"/>
                </a:solidFill>
                <a:latin typeface="Microsoft YaHei UI"/>
                <a:ea typeface="Microsoft YaHei UI"/>
                <a:cs typeface="Microsoft YaHei UI"/>
              </a:rPr>
              <a:t>选题方向</a:t>
            </a:r>
          </a:p>
        </p:txBody>
      </p:sp>
      <p:sp>
        <p:nvSpPr>
          <p:cNvPr id="16" name="">
            <a:extLst xmlns:a="http://schemas.openxmlformats.org/drawingml/2006/main">
              <a:ext uri="{FF2B5EF4-FFF2-40B4-BE49-F238E27FC236}">
                <a16:creationId xmlns:a16="http://schemas.microsoft.com/office/drawing/2014/main" id="{6D12AD5C-6E63-49DD-84AE-ADA765ADFD53}"/>
              </a:ext>
            </a:extLst>
          </p:cNvPr>
          <p:cNvSpPr>
            <a:spLocks xmlns:a="http://schemas.openxmlformats.org/drawingml/2006/main" noGrp="1"/>
          </p:cNvSpPr>
          <p:nvPr/>
        </p:nvSpPr>
        <p:spPr>
          <a:xfrm xmlns:a="http://schemas.openxmlformats.org/drawingml/2006/main">
            <a:off x="4953000" y="3105150"/>
            <a:ext cx="704850" cy="19050"/>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532A66FA-708A-43F7-B36D-4E1C5FF1F249}"/>
              </a:ext>
            </a:extLst>
          </p:cNvPr>
          <p:cNvSpPr>
            <a:spLocks xmlns:a="http://schemas.openxmlformats.org/drawingml/2006/main" noGrp="1"/>
          </p:cNvSpPr>
          <p:nvPr/>
        </p:nvSpPr>
        <p:spPr>
          <a:xfrm xmlns:a="http://schemas.openxmlformats.org/drawingml/2006/main">
            <a:off x="4953000" y="3257550"/>
            <a:ext cx="4476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9B6C8"/>
                </a:solidFill>
                <a:latin typeface="Microsoft YaHei"/>
                <a:ea typeface="Microsoft YaHei"/>
                <a:cs typeface="Microsoft YaHei"/>
              </a:defRPr>
            </a:pPr>
            <a:r>
              <a:rPr sz="1200" b="0">
                <a:solidFill>
                  <a:srgbClr val="A9B6C8"/>
                </a:solidFill>
                <a:latin typeface="Microsoft YaHei"/>
                <a:ea typeface="Microsoft YaHei"/>
                <a:cs typeface="Microsoft YaHei"/>
              </a:rPr>
              <a:t>深耕科技创新，笃行产教融合。面向重点赛事和机器人产业需求开展揭榜攻关式学习实践。</a:t>
            </a:r>
          </a:p>
        </p:txBody>
      </p:sp>
      <p:sp>
        <p:nvSpPr>
          <p:cNvPr id="18" name="">
            <a:extLst xmlns:a="http://schemas.openxmlformats.org/drawingml/2006/main">
              <a:ext uri="{FF2B5EF4-FFF2-40B4-BE49-F238E27FC236}">
                <a16:creationId xmlns:a16="http://schemas.microsoft.com/office/drawing/2014/main" id="{4D1220CC-6824-485E-A153-8F4F8163B435}"/>
              </a:ext>
            </a:extLst>
          </p:cNvPr>
          <p:cNvSpPr>
            <a:spLocks xmlns:a="http://schemas.openxmlformats.org/drawingml/2006/main" noGrp="1"/>
          </p:cNvSpPr>
          <p:nvPr/>
        </p:nvSpPr>
        <p:spPr>
          <a:xfrm xmlns:a="http://schemas.openxmlformats.org/drawingml/2006/main">
            <a:off x="1143000" y="4810125"/>
            <a:ext cx="7239000" cy="781050"/>
          </a:xfrm>
          <a:prstGeom xmlns:a="http://schemas.openxmlformats.org/drawingml/2006/main" prst="roundRect">
            <a:avLst>
              <a:gd name="adj" fmla="val 9756"/>
            </a:avLst>
          </a:prstGeom>
          <a:solidFill xmlns:a="http://schemas.openxmlformats.org/drawingml/2006/main">
            <a:srgbClr val="071522">
              <a:alpha val="80000"/>
            </a:srgbClr>
          </a:solidFill>
          <a:ln xmlns:a="http://schemas.openxmlformats.org/drawingml/2006/main" w="9525">
            <a:solidFill>
              <a:srgbClr val="18BDF2"/>
            </a:solidFill>
            <a:prstDash val="solid"/>
          </a:ln>
        </p:spPr>
      </p:sp>
      <p:sp>
        <p:nvSpPr>
          <p:cNvPr id="19" name="">
            <a:extLst xmlns:a="http://schemas.openxmlformats.org/drawingml/2006/main">
              <a:ext uri="{FF2B5EF4-FFF2-40B4-BE49-F238E27FC236}">
                <a16:creationId xmlns:a16="http://schemas.microsoft.com/office/drawing/2014/main" id="{8CC33759-31EE-434A-8859-55267D157661}"/>
              </a:ext>
            </a:extLst>
          </p:cNvPr>
          <p:cNvSpPr>
            <a:spLocks xmlns:a="http://schemas.openxmlformats.org/drawingml/2006/main" noGrp="1"/>
          </p:cNvSpPr>
          <p:nvPr/>
        </p:nvSpPr>
        <p:spPr>
          <a:xfrm xmlns:a="http://schemas.openxmlformats.org/drawingml/2006/main">
            <a:off x="1447800" y="5010150"/>
            <a:ext cx="1104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7A1A"/>
                </a:solidFill>
                <a:latin typeface="Microsoft YaHei"/>
                <a:ea typeface="Microsoft YaHei"/>
                <a:cs typeface="Microsoft YaHei"/>
              </a:defRPr>
            </a:pPr>
            <a:r>
              <a:rPr sz="1275" b="1">
                <a:solidFill>
                  <a:srgbClr val="FF7A1A"/>
                </a:solidFill>
                <a:latin typeface="Microsoft YaHei"/>
                <a:ea typeface="Microsoft YaHei"/>
                <a:cs typeface="Microsoft YaHei"/>
              </a:rPr>
              <a:t>实践命题</a:t>
            </a:r>
          </a:p>
        </p:txBody>
      </p:sp>
      <p:sp>
        <p:nvSpPr>
          <p:cNvPr id="20" name="anim-proof-2">
            <a:extLst xmlns:a="http://schemas.openxmlformats.org/drawingml/2006/main">
              <a:ext uri="{FF2B5EF4-FFF2-40B4-BE49-F238E27FC236}">
                <a16:creationId xmlns:a16="http://schemas.microsoft.com/office/drawing/2014/main" id="{DF77330F-9254-4AAE-B826-405681DC9E14}"/>
              </a:ext>
            </a:extLst>
          </p:cNvPr>
          <p:cNvSpPr>
            <a:spLocks xmlns:a="http://schemas.openxmlformats.org/drawingml/2006/main" noGrp="1"/>
          </p:cNvSpPr>
          <p:nvPr/>
        </p:nvSpPr>
        <p:spPr>
          <a:xfrm xmlns:a="http://schemas.openxmlformats.org/drawingml/2006/main">
            <a:off x="2667000" y="4972050"/>
            <a:ext cx="5334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8FBFF"/>
                </a:solidFill>
                <a:latin typeface="Microsoft YaHei"/>
                <a:ea typeface="Microsoft YaHei"/>
                <a:cs typeface="Microsoft YaHei"/>
              </a:defRPr>
            </a:pPr>
            <a:r>
              <a:rPr sz="1650" b="1">
                <a:solidFill>
                  <a:srgbClr val="F8FBFF"/>
                </a:solidFill>
                <a:latin typeface="Microsoft YaHei"/>
                <a:ea typeface="Microsoft YaHei"/>
                <a:cs typeface="Microsoft YaHei"/>
              </a:rPr>
              <a:t>验证双机械臂、力反馈控制器与视觉辅助抓取能否形成可落地的工程系统。</a:t>
            </a:r>
          </a:p>
        </p:txBody>
      </p:sp>
      <p:sp>
        <p:nvSpPr>
          <p:cNvPr id="21" name="">
            <a:extLst xmlns:a="http://schemas.openxmlformats.org/drawingml/2006/main">
              <a:ext uri="{FF2B5EF4-FFF2-40B4-BE49-F238E27FC236}">
                <a16:creationId xmlns:a16="http://schemas.microsoft.com/office/drawing/2014/main" id="{055386CC-CE2E-4D30-A789-21108112E3A5}"/>
              </a:ext>
            </a:extLst>
          </p:cNvPr>
          <p:cNvSpPr>
            <a:spLocks xmlns:a="http://schemas.openxmlformats.org/drawingml/2006/main" noGrp="1"/>
          </p:cNvSpPr>
          <p:nvPr/>
        </p:nvSpPr>
        <p:spPr>
          <a:xfrm xmlns:a="http://schemas.openxmlformats.org/drawingml/2006/main">
            <a:off x="8743950" y="5067300"/>
            <a:ext cx="2000250" cy="323850"/>
          </a:xfrm>
          <a:prstGeom xmlns:a="http://schemas.openxmlformats.org/drawingml/2006/main" prst="roundRect">
            <a:avLst>
              <a:gd name="adj" fmla="val 23529"/>
            </a:avLst>
          </a:prstGeom>
          <a:solidFill xmlns:a="http://schemas.openxmlformats.org/drawingml/2006/main">
            <a:srgbClr val="0C1B2C">
              <a:alpha val="80000"/>
            </a:srgbClr>
          </a:solidFill>
          <a:ln xmlns:a="http://schemas.openxmlformats.org/drawingml/2006/main" w="9525">
            <a:solidFill>
              <a:srgbClr val="FF7A1A"/>
            </a:solidFill>
            <a:prstDash val="solid"/>
          </a:ln>
        </p:spPr>
      </p:sp>
      <p:sp>
        <p:nvSpPr>
          <p:cNvPr id="22" name="">
            <a:extLst xmlns:a="http://schemas.openxmlformats.org/drawingml/2006/main">
              <a:ext uri="{FF2B5EF4-FFF2-40B4-BE49-F238E27FC236}">
                <a16:creationId xmlns:a16="http://schemas.microsoft.com/office/drawing/2014/main" id="{DE8ACBD8-E251-4341-8B42-D982B3131FD7}"/>
              </a:ext>
            </a:extLst>
          </p:cNvPr>
          <p:cNvSpPr>
            <a:spLocks xmlns:a="http://schemas.openxmlformats.org/drawingml/2006/main" noGrp="1"/>
          </p:cNvSpPr>
          <p:nvPr/>
        </p:nvSpPr>
        <p:spPr>
          <a:xfrm xmlns:a="http://schemas.openxmlformats.org/drawingml/2006/main">
            <a:off x="8877300" y="5133975"/>
            <a:ext cx="17335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7A1A"/>
                </a:solidFill>
                <a:latin typeface="Microsoft YaHei"/>
                <a:ea typeface="Microsoft YaHei"/>
                <a:cs typeface="Microsoft YaHei"/>
              </a:defRPr>
            </a:pPr>
            <a:r>
              <a:rPr sz="1050" b="1">
                <a:solidFill>
                  <a:srgbClr val="FF7A1A"/>
                </a:solidFill>
                <a:latin typeface="Microsoft YaHei"/>
                <a:ea typeface="Microsoft YaHei"/>
                <a:cs typeface="Microsoft YaHei"/>
              </a:rPr>
              <a:t>校级答辩自陈约 4 分钟</a:t>
            </a:r>
          </a:p>
        </p:txBody>
      </p:sp>
    </p:spTree>
    <p:extLst>
      <p:ext uri="{BB962C8B-B14F-4D97-AF65-F5344CB8AC3E}">
        <p14:creationId xmlns:p14="http://schemas.microsoft.com/office/powerpoint/2010/main" val="368926285"/>
      </p:ext>
    </p:extLst>
  </p:cSld>
  <p:transition advClick="1">
    <p:fade/>
  </p:transition>
  <p:timing>
    <p:tnLst>
      <p:par>
        <p:cTn id="1" dur="indefinite" restart="never" nodeType="tmRoot">
          <p:childTnLst>
            <p:seq concurrent="1" nextAc="seek">
              <p:cTn id="2" dur="indefinite" nodeType="mainSeq">
                <p:childTnLst>
                  <p:par>
                    <p:cTn id="8"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childTnLst>
                          </p:cTn>
                        </p:par>
                      </p:childTnLst>
                    </p:cTn>
                  </p:par>
                  <p:par>
                    <p:cTn id="14" fill="hold">
                      <p:stCondLst>
                        <p:cond delay="0"/>
                      </p:stCondLst>
                      <p:childTnLst>
                        <p:par>
                          <p:cTn id="13" fill="hold">
                            <p:stCondLst>
                              <p:cond delay="0"/>
                            </p:stCondLst>
                            <p:childTnLst>
                              <p:par>
                                <p:cTn id="9" presetID="10" presetClass="entr" presetSubtype="0" fill="hold" grpId="1"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0" grpId="1"/>
    </p:bldLst>
  </p:timing>
</p:sld>
</file>

<file path=ppt/slides/slide3.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79963A-73A5-45D4-B1BD-848BC0760D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solidFill>
          <a:ln xmlns:a="http://schemas.openxmlformats.org/drawingml/2006/main" w="0">
            <a:solidFill>
              <a:srgbClr val="000000">
                <a:alpha val="0"/>
              </a:srgbClr>
            </a:solidFill>
            <a:prstDash val="solid"/>
          </a:ln>
        </p:spPr>
      </p:sp>
      <p:pic>
        <p:nvPicPr>
          <p:cNvPr id="2" name="" descr="????????????????PPT"/>
          <p:cNvPicPr>
            <a:picLocks xmlns:a="http://schemas.openxmlformats.org/drawingml/2006/main" noChangeAspect="1"/>
          </p:cNvPicPr>
          <p:nvPr/>
        </p:nvPicPr>
        <p:blipFill>
          <a:blip xmlns:r="http://schemas.openxmlformats.org/officeDocument/2006/relationships" xmlns:a="http://schemas.openxmlformats.org/drawingml/2006/main" r:embed="Re13329bb48224ab6"/>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FFE7B67-8B2A-4E45-B07A-F610148264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alpha val="78431"/>
            </a:srgbClr>
          </a:solidFill>
          <a:ln xmlns:a="http://schemas.openxmlformats.org/drawingml/2006/main" w="0">
            <a:solidFill>
              <a:srgbClr val="000000">
                <a:alpha val="0"/>
              </a:srgbClr>
            </a:solidFill>
            <a:prstDash val="solid"/>
          </a:ln>
        </p:spPr>
      </p:sp>
      <p:pic>
        <p:nvPicPr>
          <p:cNvPr id="4" name="" descr="????????????????PPT"/>
          <p:cNvPicPr>
            <a:picLocks xmlns:a="http://schemas.openxmlformats.org/drawingml/2006/main" noChangeAspect="1"/>
          </p:cNvPicPr>
          <p:nvPr/>
        </p:nvPicPr>
        <p:blipFill>
          <a:blip xmlns:r="http://schemas.openxmlformats.org/officeDocument/2006/relationships" xmlns:a="http://schemas.openxmlformats.org/drawingml/2006/main" r:embed="R67439bc33648447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AC3761C-445D-4772-ADC7-9A65C960908E}"/>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50B13">
              <a:alpha val="90980"/>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94D1154-9CF3-41E4-9E94-A0959C68CB84}"/>
              </a:ext>
            </a:extLst>
          </p:cNvPr>
          <p:cNvSpPr>
            <a:spLocks xmlns:a="http://schemas.openxmlformats.org/drawingml/2006/main" noGrp="1"/>
          </p:cNvSpPr>
          <p:nvPr/>
        </p:nvSpPr>
        <p:spPr>
          <a:xfrm xmlns:a="http://schemas.openxmlformats.org/drawingml/2006/main">
            <a:off x="0" y="6438900"/>
            <a:ext cx="12192000" cy="28575"/>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E9A2185-F069-4530-AAF7-EFC46B1E7A88}"/>
              </a:ext>
            </a:extLst>
          </p:cNvPr>
          <p:cNvSpPr>
            <a:spLocks xmlns:a="http://schemas.openxmlformats.org/drawingml/2006/main" noGrp="1"/>
          </p:cNvSpPr>
          <p:nvPr/>
        </p:nvSpPr>
        <p:spPr>
          <a:xfrm xmlns:a="http://schemas.openxmlformats.org/drawingml/2006/main">
            <a:off x="533400" y="6562725"/>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双机械臂协作与力控制器系统 | 暑期社会实践汇报</a:t>
            </a:r>
          </a:p>
        </p:txBody>
      </p:sp>
      <p:sp>
        <p:nvSpPr>
          <p:cNvPr id="8" name="">
            <a:extLst xmlns:a="http://schemas.openxmlformats.org/drawingml/2006/main">
              <a:ext uri="{FF2B5EF4-FFF2-40B4-BE49-F238E27FC236}">
                <a16:creationId xmlns:a16="http://schemas.microsoft.com/office/drawing/2014/main" id="{21C7E870-C926-48F3-B9D7-34BCE618D519}"/>
              </a:ext>
            </a:extLst>
          </p:cNvPr>
          <p:cNvSpPr>
            <a:spLocks xmlns:a="http://schemas.openxmlformats.org/drawingml/2006/main" noGrp="1"/>
          </p:cNvSpPr>
          <p:nvPr/>
        </p:nvSpPr>
        <p:spPr>
          <a:xfrm xmlns:a="http://schemas.openxmlformats.org/drawingml/2006/main">
            <a:off x="11239500" y="65627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DE3FF"/>
                </a:solidFill>
                <a:latin typeface="Microsoft YaHei"/>
                <a:ea typeface="Microsoft YaHei"/>
                <a:cs typeface="Microsoft YaHei"/>
              </a:defRPr>
            </a:pPr>
            <a:r>
              <a:rPr sz="900" b="0">
                <a:solidFill>
                  <a:srgbClr val="7DE3FF"/>
                </a:solidFill>
                <a:latin typeface="Microsoft YaHei"/>
                <a:ea typeface="Microsoft YaHei"/>
                <a:cs typeface="Microsoft YaHei"/>
              </a:rPr>
              <a:t>03</a:t>
            </a:r>
          </a:p>
        </p:txBody>
      </p:sp>
      <p:sp>
        <p:nvSpPr>
          <p:cNvPr id="9" name="">
            <a:extLst xmlns:a="http://schemas.openxmlformats.org/drawingml/2006/main">
              <a:ext uri="{FF2B5EF4-FFF2-40B4-BE49-F238E27FC236}">
                <a16:creationId xmlns:a16="http://schemas.microsoft.com/office/drawing/2014/main" id="{95D7F72C-534A-43D6-B94A-A644160955AA}"/>
              </a:ext>
            </a:extLst>
          </p:cNvPr>
          <p:cNvSpPr>
            <a:spLocks xmlns:a="http://schemas.openxmlformats.org/drawingml/2006/main" noGrp="1"/>
          </p:cNvSpPr>
          <p:nvPr/>
        </p:nvSpPr>
        <p:spPr>
          <a:xfrm xmlns:a="http://schemas.openxmlformats.org/drawingml/2006/main">
            <a:off x="6953250" y="0"/>
            <a:ext cx="5238750" cy="6858000"/>
          </a:xfrm>
          <a:prstGeom xmlns:a="http://schemas.openxmlformats.org/drawingml/2006/main" prst="rect">
            <a:avLst/>
          </a:prstGeom>
          <a:solidFill xmlns:a="http://schemas.openxmlformats.org/drawingml/2006/main">
            <a:srgbClr val="050B13">
              <a:alpha val="56471"/>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4046339-3CAE-47CE-9A07-F982FC0E097F}"/>
              </a:ext>
            </a:extLst>
          </p:cNvPr>
          <p:cNvSpPr>
            <a:spLocks xmlns:a="http://schemas.openxmlformats.org/drawingml/2006/main" noGrp="1"/>
          </p:cNvSpPr>
          <p:nvPr/>
        </p:nvSpPr>
        <p:spPr>
          <a:xfrm xmlns:a="http://schemas.openxmlformats.org/drawingml/2006/main">
            <a:off x="7467600" y="990600"/>
            <a:ext cx="3829050" cy="382905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18BDF2"/>
            </a:solidFill>
            <a:prstDash val="solid"/>
          </a:ln>
        </p:spPr>
      </p:sp>
      <p:pic>
        <p:nvPicPr>
          <p:cNvPr id="11" name="" descr="????????????????PPT"/>
          <p:cNvPicPr>
            <a:picLocks xmlns:a="http://schemas.openxmlformats.org/drawingml/2006/main" noChangeAspect="1"/>
          </p:cNvPicPr>
          <p:nvPr/>
        </p:nvPicPr>
        <p:blipFill>
          <a:blip xmlns:r="http://schemas.openxmlformats.org/officeDocument/2006/relationships" xmlns:a="http://schemas.openxmlformats.org/drawingml/2006/main" r:embed="Rb20d503ec52149fe"/>
          <a:srcRect xmlns:a="http://schemas.openxmlformats.org/drawingml/2006/main" l="16667" t="0" r="16667" b="0"/>
          <a:stretch xmlns:a="http://schemas.openxmlformats.org/drawingml/2006/main">
            <a:fillRect l="0" t="0" r="0" b="0"/>
          </a:stretch>
        </p:blipFill>
        <p:spPr>
          <a:xfrm xmlns:a="http://schemas.openxmlformats.org/drawingml/2006/main">
            <a:off x="7524750" y="1047750"/>
            <a:ext cx="3714750" cy="3714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0A93FD4-02C4-49FD-86D5-4EC8E6A93B0F}"/>
              </a:ext>
            </a:extLst>
          </p:cNvPr>
          <p:cNvSpPr>
            <a:spLocks xmlns:a="http://schemas.openxmlformats.org/drawingml/2006/main" noGrp="1"/>
          </p:cNvSpPr>
          <p:nvPr/>
        </p:nvSpPr>
        <p:spPr>
          <a:xfrm xmlns:a="http://schemas.openxmlformats.org/drawingml/2006/main">
            <a:off x="7524750" y="4848225"/>
            <a:ext cx="3714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RoboMaster 高并发装配场景</a:t>
            </a:r>
          </a:p>
        </p:txBody>
      </p:sp>
      <p:sp>
        <p:nvSpPr>
          <p:cNvPr id="13" name="kicker-3-marker">
            <a:extLst xmlns:a="http://schemas.openxmlformats.org/drawingml/2006/main">
              <a:ext uri="{FF2B5EF4-FFF2-40B4-BE49-F238E27FC236}">
                <a16:creationId xmlns:a16="http://schemas.microsoft.com/office/drawing/2014/main" id="{AC2CB5B0-8219-4B7C-85D1-F4E1D9DDD27F}"/>
              </a:ext>
            </a:extLst>
          </p:cNvPr>
          <p:cNvSpPr>
            <a:spLocks xmlns:a="http://schemas.openxmlformats.org/drawingml/2006/main" noGrp="1"/>
          </p:cNvSpPr>
          <p:nvPr/>
        </p:nvSpPr>
        <p:spPr>
          <a:xfrm xmlns:a="http://schemas.openxmlformats.org/drawingml/2006/main">
            <a:off x="552450" y="590550"/>
            <a:ext cx="66675" cy="2857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14" name="kicker-3-label">
            <a:extLst xmlns:a="http://schemas.openxmlformats.org/drawingml/2006/main">
              <a:ext uri="{FF2B5EF4-FFF2-40B4-BE49-F238E27FC236}">
                <a16:creationId xmlns:a16="http://schemas.microsoft.com/office/drawing/2014/main" id="{D6E4FECF-1224-4BEF-8ACF-A309E0BBC5DE}"/>
              </a:ext>
            </a:extLst>
          </p:cNvPr>
          <p:cNvSpPr>
            <a:spLocks xmlns:a="http://schemas.openxmlformats.org/drawingml/2006/main" noGrp="1"/>
          </p:cNvSpPr>
          <p:nvPr/>
        </p:nvSpPr>
        <p:spPr>
          <a:xfrm xmlns:a="http://schemas.openxmlformats.org/drawingml/2006/main">
            <a:off x="742950" y="552450"/>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7DE3FF"/>
                </a:solidFill>
                <a:latin typeface="Microsoft YaHei"/>
                <a:ea typeface="Microsoft YaHei"/>
                <a:cs typeface="Microsoft YaHei"/>
              </a:defRPr>
            </a:pPr>
            <a:r>
              <a:rPr sz="1125" b="1">
                <a:solidFill>
                  <a:srgbClr val="7DE3FF"/>
                </a:solidFill>
                <a:latin typeface="Microsoft YaHei"/>
                <a:ea typeface="Microsoft YaHei"/>
                <a:cs typeface="Microsoft YaHei"/>
              </a:rPr>
              <a:t>WHY IT MATTERS</a:t>
            </a:r>
          </a:p>
        </p:txBody>
      </p:sp>
      <p:sp>
        <p:nvSpPr>
          <p:cNvPr id="15" name="anim-title-3">
            <a:extLst xmlns:a="http://schemas.openxmlformats.org/drawingml/2006/main">
              <a:ext uri="{FF2B5EF4-FFF2-40B4-BE49-F238E27FC236}">
                <a16:creationId xmlns:a16="http://schemas.microsoft.com/office/drawing/2014/main" id="{1973A5F0-5076-422D-A9CB-E4008C5016AF}"/>
              </a:ext>
            </a:extLst>
          </p:cNvPr>
          <p:cNvSpPr>
            <a:spLocks xmlns:a="http://schemas.openxmlformats.org/drawingml/2006/main" noGrp="1"/>
          </p:cNvSpPr>
          <p:nvPr/>
        </p:nvSpPr>
        <p:spPr>
          <a:xfrm xmlns:a="http://schemas.openxmlformats.org/drawingml/2006/main">
            <a:off x="552450" y="952500"/>
            <a:ext cx="6286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8FBFF"/>
                </a:solidFill>
                <a:latin typeface="Microsoft YaHei UI"/>
                <a:ea typeface="Microsoft YaHei UI"/>
                <a:cs typeface="Microsoft YaHei UI"/>
              </a:defRPr>
            </a:pPr>
            <a:r>
              <a:rPr sz="3000" b="1">
                <a:solidFill>
                  <a:srgbClr val="F8FBFF"/>
                </a:solidFill>
                <a:latin typeface="Microsoft YaHei UI"/>
                <a:ea typeface="Microsoft YaHei UI"/>
                <a:cs typeface="Microsoft YaHei UI"/>
              </a:rPr>
              <a:t>任务升级后，单臂方案触到上限。</a:t>
            </a:r>
          </a:p>
        </p:txBody>
      </p:sp>
      <p:sp>
        <p:nvSpPr>
          <p:cNvPr id="16" name="">
            <a:extLst xmlns:a="http://schemas.openxmlformats.org/drawingml/2006/main">
              <a:ext uri="{FF2B5EF4-FFF2-40B4-BE49-F238E27FC236}">
                <a16:creationId xmlns:a16="http://schemas.microsoft.com/office/drawing/2014/main" id="{EA20792D-7590-4BC0-B3BD-11EDEDABDF09}"/>
              </a:ext>
            </a:extLst>
          </p:cNvPr>
          <p:cNvSpPr>
            <a:spLocks xmlns:a="http://schemas.openxmlformats.org/drawingml/2006/main" noGrp="1"/>
          </p:cNvSpPr>
          <p:nvPr/>
        </p:nvSpPr>
        <p:spPr>
          <a:xfrm xmlns:a="http://schemas.openxmlformats.org/drawingml/2006/main">
            <a:off x="762000" y="2247900"/>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赛事升级</a:t>
            </a:r>
          </a:p>
        </p:txBody>
      </p:sp>
      <p:sp>
        <p:nvSpPr>
          <p:cNvPr id="17" name="">
            <a:extLst xmlns:a="http://schemas.openxmlformats.org/drawingml/2006/main">
              <a:ext uri="{FF2B5EF4-FFF2-40B4-BE49-F238E27FC236}">
                <a16:creationId xmlns:a16="http://schemas.microsoft.com/office/drawing/2014/main" id="{214C2A0A-4FC6-40B4-B2F7-572DCF18B2F1}"/>
              </a:ext>
            </a:extLst>
          </p:cNvPr>
          <p:cNvSpPr>
            <a:spLocks xmlns:a="http://schemas.openxmlformats.org/drawingml/2006/main" noGrp="1"/>
          </p:cNvSpPr>
          <p:nvPr/>
        </p:nvSpPr>
        <p:spPr>
          <a:xfrm xmlns:a="http://schemas.openxmlformats.org/drawingml/2006/main">
            <a:off x="762000" y="2647950"/>
            <a:ext cx="704850" cy="19050"/>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F22FDBF-773C-41B0-92AF-C50486B97AD1}"/>
              </a:ext>
            </a:extLst>
          </p:cNvPr>
          <p:cNvSpPr>
            <a:spLocks xmlns:a="http://schemas.openxmlformats.org/drawingml/2006/main" noGrp="1"/>
          </p:cNvSpPr>
          <p:nvPr/>
        </p:nvSpPr>
        <p:spPr>
          <a:xfrm xmlns:a="http://schemas.openxmlformats.org/drawingml/2006/main">
            <a:off x="762000" y="2800350"/>
            <a:ext cx="40957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A9B6C8"/>
                </a:solidFill>
                <a:latin typeface="Microsoft YaHei"/>
                <a:ea typeface="Microsoft YaHei"/>
                <a:cs typeface="Microsoft YaHei"/>
              </a:defRPr>
            </a:pPr>
            <a:r>
              <a:rPr sz="1275" b="0">
                <a:solidFill>
                  <a:srgbClr val="A9B6C8"/>
                </a:solidFill>
                <a:latin typeface="Microsoft YaHei"/>
                <a:ea typeface="Microsoft YaHei"/>
                <a:cs typeface="Microsoft YaHei"/>
              </a:rPr>
              <a:t>最高级任务要求同时装配两个能量单元，多线程与高并发成为硬约束。</a:t>
            </a:r>
          </a:p>
        </p:txBody>
      </p:sp>
      <p:sp>
        <p:nvSpPr>
          <p:cNvPr id="19" name="">
            <a:extLst xmlns:a="http://schemas.openxmlformats.org/drawingml/2006/main">
              <a:ext uri="{FF2B5EF4-FFF2-40B4-BE49-F238E27FC236}">
                <a16:creationId xmlns:a16="http://schemas.microsoft.com/office/drawing/2014/main" id="{8B32F4D0-8937-4FC0-B810-BA7B268BA04E}"/>
              </a:ext>
            </a:extLst>
          </p:cNvPr>
          <p:cNvSpPr>
            <a:spLocks xmlns:a="http://schemas.openxmlformats.org/drawingml/2006/main" noGrp="1"/>
          </p:cNvSpPr>
          <p:nvPr/>
        </p:nvSpPr>
        <p:spPr>
          <a:xfrm xmlns:a="http://schemas.openxmlformats.org/drawingml/2006/main">
            <a:off x="2000250" y="36766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7DE3FF"/>
                </a:solidFill>
                <a:latin typeface="Microsoft YaHei UI"/>
                <a:ea typeface="Microsoft YaHei UI"/>
                <a:cs typeface="Microsoft YaHei UI"/>
              </a:defRPr>
            </a:pPr>
            <a:r>
              <a:rPr sz="1800" b="1">
                <a:solidFill>
                  <a:srgbClr val="7DE3FF"/>
                </a:solidFill>
                <a:latin typeface="Microsoft YaHei UI"/>
                <a:ea typeface="Microsoft YaHei UI"/>
                <a:cs typeface="Microsoft YaHei UI"/>
              </a:rPr>
              <a:t>双臂空白</a:t>
            </a:r>
          </a:p>
        </p:txBody>
      </p:sp>
      <p:sp>
        <p:nvSpPr>
          <p:cNvPr id="20" name="">
            <a:extLst xmlns:a="http://schemas.openxmlformats.org/drawingml/2006/main">
              <a:ext uri="{FF2B5EF4-FFF2-40B4-BE49-F238E27FC236}">
                <a16:creationId xmlns:a16="http://schemas.microsoft.com/office/drawing/2014/main" id="{B48E7539-6ABD-491A-9934-B861B9305BC6}"/>
              </a:ext>
            </a:extLst>
          </p:cNvPr>
          <p:cNvSpPr>
            <a:spLocks xmlns:a="http://schemas.openxmlformats.org/drawingml/2006/main" noGrp="1"/>
          </p:cNvSpPr>
          <p:nvPr/>
        </p:nvSpPr>
        <p:spPr>
          <a:xfrm xmlns:a="http://schemas.openxmlformats.org/drawingml/2006/main">
            <a:off x="2000250" y="4076700"/>
            <a:ext cx="704850" cy="190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0F6063C-0BD1-4E3E-B066-7417D6C148B6}"/>
              </a:ext>
            </a:extLst>
          </p:cNvPr>
          <p:cNvSpPr>
            <a:spLocks xmlns:a="http://schemas.openxmlformats.org/drawingml/2006/main" noGrp="1"/>
          </p:cNvSpPr>
          <p:nvPr/>
        </p:nvSpPr>
        <p:spPr>
          <a:xfrm xmlns:a="http://schemas.openxmlformats.org/drawingml/2006/main">
            <a:off x="2000250" y="4229100"/>
            <a:ext cx="34290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9B6C8"/>
                </a:solidFill>
                <a:latin typeface="Microsoft YaHei"/>
                <a:ea typeface="Microsoft YaHei"/>
                <a:cs typeface="Microsoft YaHei"/>
              </a:defRPr>
            </a:pPr>
            <a:r>
              <a:rPr sz="1200" b="0">
                <a:solidFill>
                  <a:srgbClr val="A9B6C8"/>
                </a:solidFill>
                <a:latin typeface="Microsoft YaHei"/>
                <a:ea typeface="Microsoft YaHei"/>
                <a:cs typeface="Microsoft YaHei"/>
              </a:rPr>
              <a:t>高自由度双臂对等协同仍缺少成熟落地路径。</a:t>
            </a:r>
          </a:p>
        </p:txBody>
      </p:sp>
      <p:sp>
        <p:nvSpPr>
          <p:cNvPr id="22" name="">
            <a:extLst xmlns:a="http://schemas.openxmlformats.org/drawingml/2006/main">
              <a:ext uri="{FF2B5EF4-FFF2-40B4-BE49-F238E27FC236}">
                <a16:creationId xmlns:a16="http://schemas.microsoft.com/office/drawing/2014/main" id="{59E2B248-1B8A-4D3D-BADA-089A113A0CA3}"/>
              </a:ext>
            </a:extLst>
          </p:cNvPr>
          <p:cNvSpPr>
            <a:spLocks xmlns:a="http://schemas.openxmlformats.org/drawingml/2006/main" noGrp="1"/>
          </p:cNvSpPr>
          <p:nvPr/>
        </p:nvSpPr>
        <p:spPr>
          <a:xfrm xmlns:a="http://schemas.openxmlformats.org/drawingml/2006/main">
            <a:off x="666750" y="49339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感知盲区</a:t>
            </a:r>
          </a:p>
        </p:txBody>
      </p:sp>
      <p:sp>
        <p:nvSpPr>
          <p:cNvPr id="23" name="">
            <a:extLst xmlns:a="http://schemas.openxmlformats.org/drawingml/2006/main">
              <a:ext uri="{FF2B5EF4-FFF2-40B4-BE49-F238E27FC236}">
                <a16:creationId xmlns:a16="http://schemas.microsoft.com/office/drawing/2014/main" id="{2DA4E98E-EC93-4D4B-9DEF-21634638A689}"/>
              </a:ext>
            </a:extLst>
          </p:cNvPr>
          <p:cNvSpPr>
            <a:spLocks xmlns:a="http://schemas.openxmlformats.org/drawingml/2006/main" noGrp="1"/>
          </p:cNvSpPr>
          <p:nvPr/>
        </p:nvSpPr>
        <p:spPr>
          <a:xfrm xmlns:a="http://schemas.openxmlformats.org/drawingml/2006/main">
            <a:off x="666750" y="5334000"/>
            <a:ext cx="704850" cy="19050"/>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B9D70302-A2EF-44FC-8AE5-292275426F2D}"/>
              </a:ext>
            </a:extLst>
          </p:cNvPr>
          <p:cNvSpPr>
            <a:spLocks xmlns:a="http://schemas.openxmlformats.org/drawingml/2006/main" noGrp="1"/>
          </p:cNvSpPr>
          <p:nvPr/>
        </p:nvSpPr>
        <p:spPr>
          <a:xfrm xmlns:a="http://schemas.openxmlformats.org/drawingml/2006/main">
            <a:off x="666750" y="5486400"/>
            <a:ext cx="49530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9B6C8"/>
                </a:solidFill>
                <a:latin typeface="Microsoft YaHei"/>
                <a:ea typeface="Microsoft YaHei"/>
                <a:cs typeface="Microsoft YaHei"/>
              </a:defRPr>
            </a:pPr>
            <a:r>
              <a:rPr sz="1200" b="0">
                <a:solidFill>
                  <a:srgbClr val="A9B6C8"/>
                </a:solidFill>
                <a:latin typeface="Microsoft YaHei"/>
                <a:ea typeface="Microsoft YaHei"/>
                <a:cs typeface="Microsoft YaHei"/>
              </a:rPr>
              <a:t>单向控制缺少末端接触力与装配状态反馈，容易盲操、掉矿或损伤结构。</a:t>
            </a:r>
          </a:p>
        </p:txBody>
      </p:sp>
      <p:sp>
        <p:nvSpPr>
          <p:cNvPr id="25" name="">
            <a:extLst xmlns:a="http://schemas.openxmlformats.org/drawingml/2006/main">
              <a:ext uri="{FF2B5EF4-FFF2-40B4-BE49-F238E27FC236}">
                <a16:creationId xmlns:a16="http://schemas.microsoft.com/office/drawing/2014/main" id="{2EDC7892-ED80-4DB6-9973-1313ECF19621}"/>
              </a:ext>
            </a:extLst>
          </p:cNvPr>
          <p:cNvSpPr>
            <a:spLocks xmlns:a="http://schemas.openxmlformats.org/drawingml/2006/main" noGrp="1"/>
          </p:cNvSpPr>
          <p:nvPr/>
        </p:nvSpPr>
        <p:spPr>
          <a:xfrm xmlns:a="http://schemas.openxmlformats.org/drawingml/2006/main">
            <a:off x="7143750" y="5334000"/>
            <a:ext cx="4000500" cy="838200"/>
          </a:xfrm>
          <a:prstGeom xmlns:a="http://schemas.openxmlformats.org/drawingml/2006/main" prst="roundRect">
            <a:avLst>
              <a:gd name="adj" fmla="val 9091"/>
            </a:avLst>
          </a:prstGeom>
          <a:solidFill xmlns:a="http://schemas.openxmlformats.org/drawingml/2006/main">
            <a:srgbClr val="101C30">
              <a:alpha val="86667"/>
            </a:srgbClr>
          </a:solidFill>
          <a:ln xmlns:a="http://schemas.openxmlformats.org/drawingml/2006/main" w="9525">
            <a:solidFill>
              <a:srgbClr val="FF7A1A"/>
            </a:solidFill>
            <a:prstDash val="solid"/>
          </a:ln>
        </p:spPr>
      </p:sp>
      <p:sp>
        <p:nvSpPr>
          <p:cNvPr id="26" name="">
            <a:extLst xmlns:a="http://schemas.openxmlformats.org/drawingml/2006/main">
              <a:ext uri="{FF2B5EF4-FFF2-40B4-BE49-F238E27FC236}">
                <a16:creationId xmlns:a16="http://schemas.microsoft.com/office/drawing/2014/main" id="{0BD95C2F-1853-469A-9831-7CB873513182}"/>
              </a:ext>
            </a:extLst>
          </p:cNvPr>
          <p:cNvSpPr>
            <a:spLocks xmlns:a="http://schemas.openxmlformats.org/drawingml/2006/main" noGrp="1"/>
          </p:cNvSpPr>
          <p:nvPr/>
        </p:nvSpPr>
        <p:spPr>
          <a:xfrm xmlns:a="http://schemas.openxmlformats.org/drawingml/2006/main">
            <a:off x="7429500" y="5505450"/>
            <a:ext cx="1047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7A1A"/>
                </a:solidFill>
                <a:latin typeface="Microsoft YaHei"/>
                <a:ea typeface="Microsoft YaHei"/>
                <a:cs typeface="Microsoft YaHei"/>
              </a:defRPr>
            </a:pPr>
            <a:r>
              <a:rPr sz="1125" b="1">
                <a:solidFill>
                  <a:srgbClr val="FF7A1A"/>
                </a:solidFill>
                <a:latin typeface="Microsoft YaHei"/>
                <a:ea typeface="Microsoft YaHei"/>
                <a:cs typeface="Microsoft YaHei"/>
              </a:rPr>
              <a:t>核心判断</a:t>
            </a:r>
          </a:p>
        </p:txBody>
      </p:sp>
      <p:sp>
        <p:nvSpPr>
          <p:cNvPr id="27" name="anim-proof-3">
            <a:extLst xmlns:a="http://schemas.openxmlformats.org/drawingml/2006/main">
              <a:ext uri="{FF2B5EF4-FFF2-40B4-BE49-F238E27FC236}">
                <a16:creationId xmlns:a16="http://schemas.microsoft.com/office/drawing/2014/main" id="{C6005CF0-9E2D-43CA-B523-38B7E4DED1FF}"/>
              </a:ext>
            </a:extLst>
          </p:cNvPr>
          <p:cNvSpPr>
            <a:spLocks xmlns:a="http://schemas.openxmlformats.org/drawingml/2006/main" noGrp="1"/>
          </p:cNvSpPr>
          <p:nvPr/>
        </p:nvSpPr>
        <p:spPr>
          <a:xfrm xmlns:a="http://schemas.openxmlformats.org/drawingml/2006/main">
            <a:off x="7429500" y="5753100"/>
            <a:ext cx="3333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8FBFF"/>
                </a:solidFill>
                <a:latin typeface="Microsoft YaHei"/>
                <a:ea typeface="Microsoft YaHei"/>
                <a:cs typeface="Microsoft YaHei"/>
              </a:defRPr>
            </a:pPr>
            <a:r>
              <a:rPr sz="1200" b="1">
                <a:solidFill>
                  <a:srgbClr val="F8FBFF"/>
                </a:solidFill>
                <a:latin typeface="Microsoft YaHei"/>
                <a:ea typeface="Microsoft YaHei"/>
                <a:cs typeface="Microsoft YaHei"/>
              </a:rPr>
              <a:t>突破任务上限，要把机械结构、控制手感、视觉感知三线同步推进。</a:t>
            </a:r>
          </a:p>
        </p:txBody>
      </p:sp>
    </p:spTree>
    <p:extLst>
      <p:ext uri="{BB962C8B-B14F-4D97-AF65-F5344CB8AC3E}">
        <p14:creationId xmlns:p14="http://schemas.microsoft.com/office/powerpoint/2010/main" val="1051533925"/>
      </p:ext>
    </p:extLst>
  </p:cSld>
  <p:transition advClick="1">
    <p:fade/>
  </p:transition>
  <p:timing>
    <p:tnLst>
      <p:par>
        <p:cTn id="1" dur="indefinite" restart="never" nodeType="tmRoot">
          <p:childTnLst>
            <p:seq concurrent="1" nextAc="seek">
              <p:cTn id="2" dur="indefinite" nodeType="mainSeq">
                <p:childTnLst>
                  <p:par>
                    <p:cTn id="8"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00"/>
                                        <p:tgtEl>
                                          <p:spTgt spid="15"/>
                                        </p:tgtEl>
                                      </p:cBhvr>
                                    </p:animEffect>
                                  </p:childTnLst>
                                </p:cTn>
                              </p:par>
                            </p:childTnLst>
                          </p:cTn>
                        </p:par>
                      </p:childTnLst>
                    </p:cTn>
                  </p:par>
                  <p:par>
                    <p:cTn id="14" fill="hold">
                      <p:stCondLst>
                        <p:cond delay="0"/>
                      </p:stCondLst>
                      <p:childTnLst>
                        <p:par>
                          <p:cTn id="13" fill="hold">
                            <p:stCondLst>
                              <p:cond delay="0"/>
                            </p:stCondLst>
                            <p:childTnLst>
                              <p:par>
                                <p:cTn id="9" presetID="10" presetClass="entr" presetSubtype="0" fill="hold" grpId="1"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7" grpId="1"/>
    </p:bldLst>
  </p:timing>
</p:sld>
</file>

<file path=ppt/slides/slide4.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DB9CEAC-0709-455B-9FAB-3A8273CC50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793BBC9-A26B-4832-9C9D-9CAFAEE6BF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alpha val="94902"/>
            </a:srgbClr>
          </a:solidFill>
          <a:ln xmlns:a="http://schemas.openxmlformats.org/drawingml/2006/main" w="0">
            <a:solidFill>
              <a:srgbClr val="000000">
                <a:alpha val="0"/>
              </a:srgbClr>
            </a:solidFill>
            <a:prstDash val="solid"/>
          </a:ln>
        </p:spPr>
      </p:sp>
      <p:pic>
        <p:nvPicPr>
          <p:cNvPr id="3" name="" descr="????????????????PPT"/>
          <p:cNvPicPr>
            <a:picLocks xmlns:a="http://schemas.openxmlformats.org/drawingml/2006/main" noChangeAspect="1"/>
          </p:cNvPicPr>
          <p:nvPr/>
        </p:nvPicPr>
        <p:blipFill>
          <a:blip xmlns:r="http://schemas.openxmlformats.org/officeDocument/2006/relationships" xmlns:a="http://schemas.openxmlformats.org/drawingml/2006/main" r:embed="R5b89523c98a64b3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EA1142-8046-453A-BB20-5845BEDAF60A}"/>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50B13">
              <a:alpha val="90980"/>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6929EDE-6623-4766-AE70-92D09C42C6A5}"/>
              </a:ext>
            </a:extLst>
          </p:cNvPr>
          <p:cNvSpPr>
            <a:spLocks xmlns:a="http://schemas.openxmlformats.org/drawingml/2006/main" noGrp="1"/>
          </p:cNvSpPr>
          <p:nvPr/>
        </p:nvSpPr>
        <p:spPr>
          <a:xfrm xmlns:a="http://schemas.openxmlformats.org/drawingml/2006/main">
            <a:off x="0" y="6438900"/>
            <a:ext cx="12192000" cy="28575"/>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5F22DEE-8894-40DE-A5D2-AE6DDC4A7A9F}"/>
              </a:ext>
            </a:extLst>
          </p:cNvPr>
          <p:cNvSpPr>
            <a:spLocks xmlns:a="http://schemas.openxmlformats.org/drawingml/2006/main" noGrp="1"/>
          </p:cNvSpPr>
          <p:nvPr/>
        </p:nvSpPr>
        <p:spPr>
          <a:xfrm xmlns:a="http://schemas.openxmlformats.org/drawingml/2006/main">
            <a:off x="533400" y="6562725"/>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双机械臂协作与力控制器系统 | 暑期社会实践汇报</a:t>
            </a:r>
          </a:p>
        </p:txBody>
      </p:sp>
      <p:sp>
        <p:nvSpPr>
          <p:cNvPr id="7" name="">
            <a:extLst xmlns:a="http://schemas.openxmlformats.org/drawingml/2006/main">
              <a:ext uri="{FF2B5EF4-FFF2-40B4-BE49-F238E27FC236}">
                <a16:creationId xmlns:a16="http://schemas.microsoft.com/office/drawing/2014/main" id="{8CF08915-8A0A-4F47-AEF1-60F79183C60D}"/>
              </a:ext>
            </a:extLst>
          </p:cNvPr>
          <p:cNvSpPr>
            <a:spLocks xmlns:a="http://schemas.openxmlformats.org/drawingml/2006/main" noGrp="1"/>
          </p:cNvSpPr>
          <p:nvPr/>
        </p:nvSpPr>
        <p:spPr>
          <a:xfrm xmlns:a="http://schemas.openxmlformats.org/drawingml/2006/main">
            <a:off x="11239500" y="65627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DE3FF"/>
                </a:solidFill>
                <a:latin typeface="Microsoft YaHei"/>
                <a:ea typeface="Microsoft YaHei"/>
                <a:cs typeface="Microsoft YaHei"/>
              </a:defRPr>
            </a:pPr>
            <a:r>
              <a:rPr sz="900" b="0">
                <a:solidFill>
                  <a:srgbClr val="7DE3FF"/>
                </a:solidFill>
                <a:latin typeface="Microsoft YaHei"/>
                <a:ea typeface="Microsoft YaHei"/>
                <a:cs typeface="Microsoft YaHei"/>
              </a:rPr>
              <a:t>04</a:t>
            </a:r>
          </a:p>
        </p:txBody>
      </p:sp>
      <p:sp>
        <p:nvSpPr>
          <p:cNvPr id="8" name="kicker-4-marker">
            <a:extLst xmlns:a="http://schemas.openxmlformats.org/drawingml/2006/main">
              <a:ext uri="{FF2B5EF4-FFF2-40B4-BE49-F238E27FC236}">
                <a16:creationId xmlns:a16="http://schemas.microsoft.com/office/drawing/2014/main" id="{A80B747A-EB61-4D31-ABBE-A4A9ACA8D60F}"/>
              </a:ext>
            </a:extLst>
          </p:cNvPr>
          <p:cNvSpPr>
            <a:spLocks xmlns:a="http://schemas.openxmlformats.org/drawingml/2006/main" noGrp="1"/>
          </p:cNvSpPr>
          <p:nvPr/>
        </p:nvSpPr>
        <p:spPr>
          <a:xfrm xmlns:a="http://schemas.openxmlformats.org/drawingml/2006/main">
            <a:off x="552450" y="571500"/>
            <a:ext cx="66675" cy="2857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9" name="kicker-4-label">
            <a:extLst xmlns:a="http://schemas.openxmlformats.org/drawingml/2006/main">
              <a:ext uri="{FF2B5EF4-FFF2-40B4-BE49-F238E27FC236}">
                <a16:creationId xmlns:a16="http://schemas.microsoft.com/office/drawing/2014/main" id="{5B523424-2321-4F9D-AF91-9D60AB960F86}"/>
              </a:ext>
            </a:extLst>
          </p:cNvPr>
          <p:cNvSpPr>
            <a:spLocks xmlns:a="http://schemas.openxmlformats.org/drawingml/2006/main" noGrp="1"/>
          </p:cNvSpPr>
          <p:nvPr/>
        </p:nvSpPr>
        <p:spPr>
          <a:xfrm xmlns:a="http://schemas.openxmlformats.org/drawingml/2006/main">
            <a:off x="742950" y="533400"/>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7DE3FF"/>
                </a:solidFill>
                <a:latin typeface="Microsoft YaHei"/>
                <a:ea typeface="Microsoft YaHei"/>
                <a:cs typeface="Microsoft YaHei"/>
              </a:defRPr>
            </a:pPr>
            <a:r>
              <a:rPr sz="1125" b="1">
                <a:solidFill>
                  <a:srgbClr val="7DE3FF"/>
                </a:solidFill>
                <a:latin typeface="Microsoft YaHei"/>
                <a:ea typeface="Microsoft YaHei"/>
                <a:cs typeface="Microsoft YaHei"/>
              </a:rPr>
              <a:t>PRACTICE ARC</a:t>
            </a:r>
          </a:p>
        </p:txBody>
      </p:sp>
      <p:sp>
        <p:nvSpPr>
          <p:cNvPr id="10" name="anim-title-4">
            <a:extLst xmlns:a="http://schemas.openxmlformats.org/drawingml/2006/main">
              <a:ext uri="{FF2B5EF4-FFF2-40B4-BE49-F238E27FC236}">
                <a16:creationId xmlns:a16="http://schemas.microsoft.com/office/drawing/2014/main" id="{B8C8F601-0EFB-453B-88AF-59397AD57A6F}"/>
              </a:ext>
            </a:extLst>
          </p:cNvPr>
          <p:cNvSpPr>
            <a:spLocks xmlns:a="http://schemas.openxmlformats.org/drawingml/2006/main" noGrp="1"/>
          </p:cNvSpPr>
          <p:nvPr/>
        </p:nvSpPr>
        <p:spPr>
          <a:xfrm xmlns:a="http://schemas.openxmlformats.org/drawingml/2006/main">
            <a:off x="552450" y="933450"/>
            <a:ext cx="8001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8FBFF"/>
                </a:solidFill>
                <a:latin typeface="Microsoft YaHei UI"/>
                <a:ea typeface="Microsoft YaHei UI"/>
                <a:cs typeface="Microsoft YaHei UI"/>
              </a:defRPr>
            </a:pPr>
            <a:r>
              <a:rPr sz="2850" b="1">
                <a:solidFill>
                  <a:srgbClr val="F8FBFF"/>
                </a:solidFill>
                <a:latin typeface="Microsoft YaHei UI"/>
                <a:ea typeface="Microsoft YaHei UI"/>
                <a:cs typeface="Microsoft YaHei UI"/>
              </a:rPr>
              <a:t>实践是一条流动的工程闭环，而不是单点制作。</a:t>
            </a:r>
          </a:p>
        </p:txBody>
      </p:sp>
      <p:sp>
        <p:nvSpPr>
          <p:cNvPr id="11" name="anim-proof-4">
            <a:extLst xmlns:a="http://schemas.openxmlformats.org/drawingml/2006/main">
              <a:ext uri="{FF2B5EF4-FFF2-40B4-BE49-F238E27FC236}">
                <a16:creationId xmlns:a16="http://schemas.microsoft.com/office/drawing/2014/main" id="{7BB67E57-8DBE-4333-875A-13C0B11F7465}"/>
              </a:ext>
            </a:extLst>
          </p:cNvPr>
          <p:cNvSpPr>
            <a:spLocks xmlns:a="http://schemas.openxmlformats.org/drawingml/2006/main" noGrp="1"/>
          </p:cNvSpPr>
          <p:nvPr/>
        </p:nvSpPr>
        <p:spPr>
          <a:xfrm xmlns:a="http://schemas.openxmlformats.org/drawingml/2006/main">
            <a:off x="1009650" y="3314700"/>
            <a:ext cx="552450" cy="552450"/>
          </a:xfrm>
          <a:prstGeom xmlns:a="http://schemas.openxmlformats.org/drawingml/2006/main" prst="ellipse">
            <a:avLst/>
          </a:prstGeom>
          <a:solidFill xmlns:a="http://schemas.openxmlformats.org/drawingml/2006/main">
            <a:srgbClr val="18BDF2"/>
          </a:solidFill>
          <a:ln xmlns:a="http://schemas.openxmlformats.org/drawingml/2006/main" w="9525">
            <a:solidFill>
              <a:srgbClr val="FFFFFF">
                <a:alpha val="40000"/>
              </a:srgbClr>
            </a:solidFill>
            <a:prstDash val="solid"/>
          </a:ln>
        </p:spPr>
      </p:sp>
      <p:sp>
        <p:nvSpPr>
          <p:cNvPr id="12" name="">
            <a:extLst xmlns:a="http://schemas.openxmlformats.org/drawingml/2006/main">
              <a:ext uri="{FF2B5EF4-FFF2-40B4-BE49-F238E27FC236}">
                <a16:creationId xmlns:a16="http://schemas.microsoft.com/office/drawing/2014/main" id="{C00EAA81-8BFA-488C-9DF6-88BCFF2CF039}"/>
              </a:ext>
            </a:extLst>
          </p:cNvPr>
          <p:cNvSpPr>
            <a:spLocks xmlns:a="http://schemas.openxmlformats.org/drawingml/2006/main" noGrp="1"/>
          </p:cNvSpPr>
          <p:nvPr/>
        </p:nvSpPr>
        <p:spPr>
          <a:xfrm xmlns:a="http://schemas.openxmlformats.org/drawingml/2006/main">
            <a:off x="1009650" y="3438525"/>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050B13"/>
                </a:solidFill>
                <a:latin typeface="Microsoft YaHei UI"/>
                <a:ea typeface="Microsoft YaHei UI"/>
                <a:cs typeface="Microsoft YaHei UI"/>
              </a:defRPr>
            </a:pPr>
            <a:r>
              <a:rPr sz="1425" b="1">
                <a:solidFill>
                  <a:srgbClr val="050B13"/>
                </a:solidFill>
                <a:latin typeface="Microsoft YaHei UI"/>
                <a:ea typeface="Microsoft YaHei UI"/>
                <a:cs typeface="Microsoft YaHei UI"/>
              </a:rPr>
              <a:t>01</a:t>
            </a:r>
          </a:p>
        </p:txBody>
      </p:sp>
      <p:sp>
        <p:nvSpPr>
          <p:cNvPr id="13" name="">
            <a:extLst xmlns:a="http://schemas.openxmlformats.org/drawingml/2006/main">
              <a:ext uri="{FF2B5EF4-FFF2-40B4-BE49-F238E27FC236}">
                <a16:creationId xmlns:a16="http://schemas.microsoft.com/office/drawing/2014/main" id="{52C599E9-DB13-424B-AC98-470DE3A61CA8}"/>
              </a:ext>
            </a:extLst>
          </p:cNvPr>
          <p:cNvSpPr>
            <a:spLocks xmlns:a="http://schemas.openxmlformats.org/drawingml/2006/main" noGrp="1"/>
          </p:cNvSpPr>
          <p:nvPr/>
        </p:nvSpPr>
        <p:spPr>
          <a:xfrm xmlns:a="http://schemas.openxmlformats.org/drawingml/2006/main">
            <a:off x="476250" y="4019550"/>
            <a:ext cx="1619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8FBFF"/>
                </a:solidFill>
                <a:latin typeface="Microsoft YaHei"/>
                <a:ea typeface="Microsoft YaHei"/>
                <a:cs typeface="Microsoft YaHei"/>
              </a:defRPr>
            </a:pPr>
            <a:r>
              <a:rPr sz="1200" b="1">
                <a:solidFill>
                  <a:srgbClr val="F8FBFF"/>
                </a:solidFill>
                <a:latin typeface="Microsoft YaHei"/>
                <a:ea typeface="Microsoft YaHei"/>
                <a:cs typeface="Microsoft YaHei"/>
              </a:rPr>
              <a:t>需求拆解</a:t>
            </a:r>
          </a:p>
        </p:txBody>
      </p:sp>
      <p:sp>
        <p:nvSpPr>
          <p:cNvPr id="14" name="">
            <a:extLst xmlns:a="http://schemas.openxmlformats.org/drawingml/2006/main">
              <a:ext uri="{FF2B5EF4-FFF2-40B4-BE49-F238E27FC236}">
                <a16:creationId xmlns:a16="http://schemas.microsoft.com/office/drawing/2014/main" id="{A3997470-16C0-458E-97BE-44D6C6307C64}"/>
              </a:ext>
            </a:extLst>
          </p:cNvPr>
          <p:cNvSpPr>
            <a:spLocks xmlns:a="http://schemas.openxmlformats.org/drawingml/2006/main" noGrp="1"/>
          </p:cNvSpPr>
          <p:nvPr/>
        </p:nvSpPr>
        <p:spPr>
          <a:xfrm xmlns:a="http://schemas.openxmlformats.org/drawingml/2006/main">
            <a:off x="2724150" y="2724150"/>
            <a:ext cx="552450" cy="552450"/>
          </a:xfrm>
          <a:prstGeom xmlns:a="http://schemas.openxmlformats.org/drawingml/2006/main" prst="ellipse">
            <a:avLst/>
          </a:prstGeom>
          <a:solidFill xmlns:a="http://schemas.openxmlformats.org/drawingml/2006/main">
            <a:srgbClr val="FF7A1A"/>
          </a:solidFill>
          <a:ln xmlns:a="http://schemas.openxmlformats.org/drawingml/2006/main" w="9525">
            <a:solidFill>
              <a:srgbClr val="FFFFFF">
                <a:alpha val="40000"/>
              </a:srgbClr>
            </a:solidFill>
            <a:prstDash val="solid"/>
          </a:ln>
        </p:spPr>
      </p:sp>
      <p:sp>
        <p:nvSpPr>
          <p:cNvPr id="15" name="">
            <a:extLst xmlns:a="http://schemas.openxmlformats.org/drawingml/2006/main">
              <a:ext uri="{FF2B5EF4-FFF2-40B4-BE49-F238E27FC236}">
                <a16:creationId xmlns:a16="http://schemas.microsoft.com/office/drawing/2014/main" id="{5F4D7375-8BD4-4F9F-8C67-3269BDC0DA67}"/>
              </a:ext>
            </a:extLst>
          </p:cNvPr>
          <p:cNvSpPr>
            <a:spLocks xmlns:a="http://schemas.openxmlformats.org/drawingml/2006/main" noGrp="1"/>
          </p:cNvSpPr>
          <p:nvPr/>
        </p:nvSpPr>
        <p:spPr>
          <a:xfrm xmlns:a="http://schemas.openxmlformats.org/drawingml/2006/main">
            <a:off x="2724150" y="2847975"/>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050B13"/>
                </a:solidFill>
                <a:latin typeface="Microsoft YaHei UI"/>
                <a:ea typeface="Microsoft YaHei UI"/>
                <a:cs typeface="Microsoft YaHei UI"/>
              </a:defRPr>
            </a:pPr>
            <a:r>
              <a:rPr sz="1425" b="1">
                <a:solidFill>
                  <a:srgbClr val="050B13"/>
                </a:solidFill>
                <a:latin typeface="Microsoft YaHei UI"/>
                <a:ea typeface="Microsoft YaHei UI"/>
                <a:cs typeface="Microsoft YaHei UI"/>
              </a:rPr>
              <a:t>02</a:t>
            </a:r>
          </a:p>
        </p:txBody>
      </p:sp>
      <p:sp>
        <p:nvSpPr>
          <p:cNvPr id="16" name="">
            <a:extLst xmlns:a="http://schemas.openxmlformats.org/drawingml/2006/main">
              <a:ext uri="{FF2B5EF4-FFF2-40B4-BE49-F238E27FC236}">
                <a16:creationId xmlns:a16="http://schemas.microsoft.com/office/drawing/2014/main" id="{6AEA00A1-2B97-4139-8D25-4C40AC648D31}"/>
              </a:ext>
            </a:extLst>
          </p:cNvPr>
          <p:cNvSpPr>
            <a:spLocks xmlns:a="http://schemas.openxmlformats.org/drawingml/2006/main" noGrp="1"/>
          </p:cNvSpPr>
          <p:nvPr/>
        </p:nvSpPr>
        <p:spPr>
          <a:xfrm xmlns:a="http://schemas.openxmlformats.org/drawingml/2006/main">
            <a:off x="2190750" y="3429000"/>
            <a:ext cx="1619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8FBFF"/>
                </a:solidFill>
                <a:latin typeface="Microsoft YaHei"/>
                <a:ea typeface="Microsoft YaHei"/>
                <a:cs typeface="Microsoft YaHei"/>
              </a:defRPr>
            </a:pPr>
            <a:r>
              <a:rPr sz="1200" b="1">
                <a:solidFill>
                  <a:srgbClr val="F8FBFF"/>
                </a:solidFill>
                <a:latin typeface="Microsoft YaHei"/>
                <a:ea typeface="Microsoft YaHei"/>
                <a:cs typeface="Microsoft YaHei"/>
              </a:rPr>
              <a:t>单臂闭环</a:t>
            </a:r>
          </a:p>
        </p:txBody>
      </p:sp>
      <p:sp>
        <p:nvSpPr>
          <p:cNvPr id="17" name="">
            <a:extLst xmlns:a="http://schemas.openxmlformats.org/drawingml/2006/main">
              <a:ext uri="{FF2B5EF4-FFF2-40B4-BE49-F238E27FC236}">
                <a16:creationId xmlns:a16="http://schemas.microsoft.com/office/drawing/2014/main" id="{EA338F8E-267D-457B-8B6F-71807FB77A71}"/>
              </a:ext>
            </a:extLst>
          </p:cNvPr>
          <p:cNvSpPr>
            <a:spLocks xmlns:a="http://schemas.openxmlformats.org/drawingml/2006/main" noGrp="1"/>
          </p:cNvSpPr>
          <p:nvPr/>
        </p:nvSpPr>
        <p:spPr>
          <a:xfrm xmlns:a="http://schemas.openxmlformats.org/drawingml/2006/main">
            <a:off x="4524375" y="3238500"/>
            <a:ext cx="552450" cy="552450"/>
          </a:xfrm>
          <a:prstGeom xmlns:a="http://schemas.openxmlformats.org/drawingml/2006/main" prst="ellipse">
            <a:avLst/>
          </a:prstGeom>
          <a:solidFill xmlns:a="http://schemas.openxmlformats.org/drawingml/2006/main">
            <a:srgbClr val="18BDF2"/>
          </a:solidFill>
          <a:ln xmlns:a="http://schemas.openxmlformats.org/drawingml/2006/main" w="9525">
            <a:solidFill>
              <a:srgbClr val="FFFFFF">
                <a:alpha val="40000"/>
              </a:srgbClr>
            </a:solidFill>
            <a:prstDash val="solid"/>
          </a:ln>
        </p:spPr>
      </p:sp>
      <p:sp>
        <p:nvSpPr>
          <p:cNvPr id="18" name="">
            <a:extLst xmlns:a="http://schemas.openxmlformats.org/drawingml/2006/main">
              <a:ext uri="{FF2B5EF4-FFF2-40B4-BE49-F238E27FC236}">
                <a16:creationId xmlns:a16="http://schemas.microsoft.com/office/drawing/2014/main" id="{382A633A-0664-45CE-85A4-CEB32AEB8EAB}"/>
              </a:ext>
            </a:extLst>
          </p:cNvPr>
          <p:cNvSpPr>
            <a:spLocks xmlns:a="http://schemas.openxmlformats.org/drawingml/2006/main" noGrp="1"/>
          </p:cNvSpPr>
          <p:nvPr/>
        </p:nvSpPr>
        <p:spPr>
          <a:xfrm xmlns:a="http://schemas.openxmlformats.org/drawingml/2006/main">
            <a:off x="4524375" y="3362325"/>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050B13"/>
                </a:solidFill>
                <a:latin typeface="Microsoft YaHei UI"/>
                <a:ea typeface="Microsoft YaHei UI"/>
                <a:cs typeface="Microsoft YaHei UI"/>
              </a:defRPr>
            </a:pPr>
            <a:r>
              <a:rPr sz="1425" b="1">
                <a:solidFill>
                  <a:srgbClr val="050B13"/>
                </a:solidFill>
                <a:latin typeface="Microsoft YaHei UI"/>
                <a:ea typeface="Microsoft YaHei UI"/>
                <a:cs typeface="Microsoft YaHei UI"/>
              </a:rPr>
              <a:t>03</a:t>
            </a:r>
          </a:p>
        </p:txBody>
      </p:sp>
      <p:sp>
        <p:nvSpPr>
          <p:cNvPr id="19" name="">
            <a:extLst xmlns:a="http://schemas.openxmlformats.org/drawingml/2006/main">
              <a:ext uri="{FF2B5EF4-FFF2-40B4-BE49-F238E27FC236}">
                <a16:creationId xmlns:a16="http://schemas.microsoft.com/office/drawing/2014/main" id="{646AC009-DCD3-4E2B-B40B-9F93441ABDA1}"/>
              </a:ext>
            </a:extLst>
          </p:cNvPr>
          <p:cNvSpPr>
            <a:spLocks xmlns:a="http://schemas.openxmlformats.org/drawingml/2006/main" noGrp="1"/>
          </p:cNvSpPr>
          <p:nvPr/>
        </p:nvSpPr>
        <p:spPr>
          <a:xfrm xmlns:a="http://schemas.openxmlformats.org/drawingml/2006/main">
            <a:off x="3990975" y="3943350"/>
            <a:ext cx="1619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8FBFF"/>
                </a:solidFill>
                <a:latin typeface="Microsoft YaHei"/>
                <a:ea typeface="Microsoft YaHei"/>
                <a:cs typeface="Microsoft YaHei"/>
              </a:defRPr>
            </a:pPr>
            <a:r>
              <a:rPr sz="1200" b="1">
                <a:solidFill>
                  <a:srgbClr val="F8FBFF"/>
                </a:solidFill>
                <a:latin typeface="Microsoft YaHei"/>
                <a:ea typeface="Microsoft YaHei"/>
                <a:cs typeface="Microsoft YaHei"/>
              </a:rPr>
              <a:t>双臂构型</a:t>
            </a:r>
          </a:p>
        </p:txBody>
      </p:sp>
      <p:sp>
        <p:nvSpPr>
          <p:cNvPr id="20" name="">
            <a:extLst xmlns:a="http://schemas.openxmlformats.org/drawingml/2006/main">
              <a:ext uri="{FF2B5EF4-FFF2-40B4-BE49-F238E27FC236}">
                <a16:creationId xmlns:a16="http://schemas.microsoft.com/office/drawing/2014/main" id="{C06A394C-7764-4128-B7E9-05883D7DC21E}"/>
              </a:ext>
            </a:extLst>
          </p:cNvPr>
          <p:cNvSpPr>
            <a:spLocks xmlns:a="http://schemas.openxmlformats.org/drawingml/2006/main" noGrp="1"/>
          </p:cNvSpPr>
          <p:nvPr/>
        </p:nvSpPr>
        <p:spPr>
          <a:xfrm xmlns:a="http://schemas.openxmlformats.org/drawingml/2006/main">
            <a:off x="6286500" y="2571750"/>
            <a:ext cx="552450" cy="552450"/>
          </a:xfrm>
          <a:prstGeom xmlns:a="http://schemas.openxmlformats.org/drawingml/2006/main" prst="ellipse">
            <a:avLst/>
          </a:prstGeom>
          <a:solidFill xmlns:a="http://schemas.openxmlformats.org/drawingml/2006/main">
            <a:srgbClr val="FF7A1A"/>
          </a:solidFill>
          <a:ln xmlns:a="http://schemas.openxmlformats.org/drawingml/2006/main" w="9525">
            <a:solidFill>
              <a:srgbClr val="FFFFFF">
                <a:alpha val="40000"/>
              </a:srgbClr>
            </a:solidFill>
            <a:prstDash val="solid"/>
          </a:ln>
        </p:spPr>
      </p:sp>
      <p:sp>
        <p:nvSpPr>
          <p:cNvPr id="21" name="">
            <a:extLst xmlns:a="http://schemas.openxmlformats.org/drawingml/2006/main">
              <a:ext uri="{FF2B5EF4-FFF2-40B4-BE49-F238E27FC236}">
                <a16:creationId xmlns:a16="http://schemas.microsoft.com/office/drawing/2014/main" id="{D4F21D13-1FF0-4CE7-9C3A-C30446EFE906}"/>
              </a:ext>
            </a:extLst>
          </p:cNvPr>
          <p:cNvSpPr>
            <a:spLocks xmlns:a="http://schemas.openxmlformats.org/drawingml/2006/main" noGrp="1"/>
          </p:cNvSpPr>
          <p:nvPr/>
        </p:nvSpPr>
        <p:spPr>
          <a:xfrm xmlns:a="http://schemas.openxmlformats.org/drawingml/2006/main">
            <a:off x="6286500" y="2695575"/>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050B13"/>
                </a:solidFill>
                <a:latin typeface="Microsoft YaHei UI"/>
                <a:ea typeface="Microsoft YaHei UI"/>
                <a:cs typeface="Microsoft YaHei UI"/>
              </a:defRPr>
            </a:pPr>
            <a:r>
              <a:rPr sz="1425" b="1">
                <a:solidFill>
                  <a:srgbClr val="050B13"/>
                </a:solidFill>
                <a:latin typeface="Microsoft YaHei UI"/>
                <a:ea typeface="Microsoft YaHei UI"/>
                <a:cs typeface="Microsoft YaHei UI"/>
              </a:rPr>
              <a:t>04</a:t>
            </a:r>
          </a:p>
        </p:txBody>
      </p:sp>
      <p:sp>
        <p:nvSpPr>
          <p:cNvPr id="22" name="">
            <a:extLst xmlns:a="http://schemas.openxmlformats.org/drawingml/2006/main">
              <a:ext uri="{FF2B5EF4-FFF2-40B4-BE49-F238E27FC236}">
                <a16:creationId xmlns:a16="http://schemas.microsoft.com/office/drawing/2014/main" id="{E5A0C107-1093-4ACB-9A57-B14BCEF2BF9C}"/>
              </a:ext>
            </a:extLst>
          </p:cNvPr>
          <p:cNvSpPr>
            <a:spLocks xmlns:a="http://schemas.openxmlformats.org/drawingml/2006/main" noGrp="1"/>
          </p:cNvSpPr>
          <p:nvPr/>
        </p:nvSpPr>
        <p:spPr>
          <a:xfrm xmlns:a="http://schemas.openxmlformats.org/drawingml/2006/main">
            <a:off x="5753100" y="3276600"/>
            <a:ext cx="1619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8FBFF"/>
                </a:solidFill>
                <a:latin typeface="Microsoft YaHei"/>
                <a:ea typeface="Microsoft YaHei"/>
                <a:cs typeface="Microsoft YaHei"/>
              </a:defRPr>
            </a:pPr>
            <a:r>
              <a:rPr sz="1200" b="1">
                <a:solidFill>
                  <a:srgbClr val="F8FBFF"/>
                </a:solidFill>
                <a:latin typeface="Microsoft YaHei"/>
                <a:ea typeface="Microsoft YaHei"/>
                <a:cs typeface="Microsoft YaHei"/>
              </a:rPr>
              <a:t>夹爪迭代</a:t>
            </a:r>
          </a:p>
        </p:txBody>
      </p:sp>
      <p:sp>
        <p:nvSpPr>
          <p:cNvPr id="23" name="">
            <a:extLst xmlns:a="http://schemas.openxmlformats.org/drawingml/2006/main">
              <a:ext uri="{FF2B5EF4-FFF2-40B4-BE49-F238E27FC236}">
                <a16:creationId xmlns:a16="http://schemas.microsoft.com/office/drawing/2014/main" id="{76CFED7C-3A40-4035-A3FA-1CFD4DC7EB94}"/>
              </a:ext>
            </a:extLst>
          </p:cNvPr>
          <p:cNvSpPr>
            <a:spLocks xmlns:a="http://schemas.openxmlformats.org/drawingml/2006/main" noGrp="1"/>
          </p:cNvSpPr>
          <p:nvPr/>
        </p:nvSpPr>
        <p:spPr>
          <a:xfrm xmlns:a="http://schemas.openxmlformats.org/drawingml/2006/main">
            <a:off x="8058150" y="3257550"/>
            <a:ext cx="552450" cy="552450"/>
          </a:xfrm>
          <a:prstGeom xmlns:a="http://schemas.openxmlformats.org/drawingml/2006/main" prst="ellipse">
            <a:avLst/>
          </a:prstGeom>
          <a:solidFill xmlns:a="http://schemas.openxmlformats.org/drawingml/2006/main">
            <a:srgbClr val="18BDF2"/>
          </a:solidFill>
          <a:ln xmlns:a="http://schemas.openxmlformats.org/drawingml/2006/main" w="9525">
            <a:solidFill>
              <a:srgbClr val="FFFFFF">
                <a:alpha val="40000"/>
              </a:srgbClr>
            </a:solidFill>
            <a:prstDash val="solid"/>
          </a:ln>
        </p:spPr>
      </p:sp>
      <p:sp>
        <p:nvSpPr>
          <p:cNvPr id="24" name="">
            <a:extLst xmlns:a="http://schemas.openxmlformats.org/drawingml/2006/main">
              <a:ext uri="{FF2B5EF4-FFF2-40B4-BE49-F238E27FC236}">
                <a16:creationId xmlns:a16="http://schemas.microsoft.com/office/drawing/2014/main" id="{2EA8B003-697F-4523-8598-64692A0403B2}"/>
              </a:ext>
            </a:extLst>
          </p:cNvPr>
          <p:cNvSpPr>
            <a:spLocks xmlns:a="http://schemas.openxmlformats.org/drawingml/2006/main" noGrp="1"/>
          </p:cNvSpPr>
          <p:nvPr/>
        </p:nvSpPr>
        <p:spPr>
          <a:xfrm xmlns:a="http://schemas.openxmlformats.org/drawingml/2006/main">
            <a:off x="8058150" y="3381375"/>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050B13"/>
                </a:solidFill>
                <a:latin typeface="Microsoft YaHei UI"/>
                <a:ea typeface="Microsoft YaHei UI"/>
                <a:cs typeface="Microsoft YaHei UI"/>
              </a:defRPr>
            </a:pPr>
            <a:r>
              <a:rPr sz="1425" b="1">
                <a:solidFill>
                  <a:srgbClr val="050B13"/>
                </a:solidFill>
                <a:latin typeface="Microsoft YaHei UI"/>
                <a:ea typeface="Microsoft YaHei UI"/>
                <a:cs typeface="Microsoft YaHei UI"/>
              </a:rPr>
              <a:t>05</a:t>
            </a:r>
          </a:p>
        </p:txBody>
      </p:sp>
      <p:sp>
        <p:nvSpPr>
          <p:cNvPr id="25" name="">
            <a:extLst xmlns:a="http://schemas.openxmlformats.org/drawingml/2006/main">
              <a:ext uri="{FF2B5EF4-FFF2-40B4-BE49-F238E27FC236}">
                <a16:creationId xmlns:a16="http://schemas.microsoft.com/office/drawing/2014/main" id="{D8B1D23B-1AFA-4A28-B1F0-B2EE2CDC2873}"/>
              </a:ext>
            </a:extLst>
          </p:cNvPr>
          <p:cNvSpPr>
            <a:spLocks xmlns:a="http://schemas.openxmlformats.org/drawingml/2006/main" noGrp="1"/>
          </p:cNvSpPr>
          <p:nvPr/>
        </p:nvSpPr>
        <p:spPr>
          <a:xfrm xmlns:a="http://schemas.openxmlformats.org/drawingml/2006/main">
            <a:off x="7524750" y="3962400"/>
            <a:ext cx="1619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8FBFF"/>
                </a:solidFill>
                <a:latin typeface="Microsoft YaHei"/>
                <a:ea typeface="Microsoft YaHei"/>
                <a:cs typeface="Microsoft YaHei"/>
              </a:defRPr>
            </a:pPr>
            <a:r>
              <a:rPr sz="1200" b="1">
                <a:solidFill>
                  <a:srgbClr val="F8FBFF"/>
                </a:solidFill>
                <a:latin typeface="Microsoft YaHei"/>
                <a:ea typeface="Microsoft YaHei"/>
                <a:cs typeface="Microsoft YaHei"/>
              </a:rPr>
              <a:t>力控交互</a:t>
            </a:r>
          </a:p>
        </p:txBody>
      </p:sp>
      <p:sp>
        <p:nvSpPr>
          <p:cNvPr id="26" name="">
            <a:extLst xmlns:a="http://schemas.openxmlformats.org/drawingml/2006/main">
              <a:ext uri="{FF2B5EF4-FFF2-40B4-BE49-F238E27FC236}">
                <a16:creationId xmlns:a16="http://schemas.microsoft.com/office/drawing/2014/main" id="{17E24274-60B5-4029-BD52-E831F7695F8E}"/>
              </a:ext>
            </a:extLst>
          </p:cNvPr>
          <p:cNvSpPr>
            <a:spLocks xmlns:a="http://schemas.openxmlformats.org/drawingml/2006/main" noGrp="1"/>
          </p:cNvSpPr>
          <p:nvPr/>
        </p:nvSpPr>
        <p:spPr>
          <a:xfrm xmlns:a="http://schemas.openxmlformats.org/drawingml/2006/main">
            <a:off x="9848850" y="2724150"/>
            <a:ext cx="552450" cy="552450"/>
          </a:xfrm>
          <a:prstGeom xmlns:a="http://schemas.openxmlformats.org/drawingml/2006/main" prst="ellipse">
            <a:avLst/>
          </a:prstGeom>
          <a:solidFill xmlns:a="http://schemas.openxmlformats.org/drawingml/2006/main">
            <a:srgbClr val="FF7A1A"/>
          </a:solidFill>
          <a:ln xmlns:a="http://schemas.openxmlformats.org/drawingml/2006/main" w="9525">
            <a:solidFill>
              <a:srgbClr val="FFFFFF">
                <a:alpha val="40000"/>
              </a:srgbClr>
            </a:solidFill>
            <a:prstDash val="solid"/>
          </a:ln>
        </p:spPr>
      </p:sp>
      <p:sp>
        <p:nvSpPr>
          <p:cNvPr id="27" name="">
            <a:extLst xmlns:a="http://schemas.openxmlformats.org/drawingml/2006/main">
              <a:ext uri="{FF2B5EF4-FFF2-40B4-BE49-F238E27FC236}">
                <a16:creationId xmlns:a16="http://schemas.microsoft.com/office/drawing/2014/main" id="{A571A4D4-D4F7-4294-869F-9A382016C8F0}"/>
              </a:ext>
            </a:extLst>
          </p:cNvPr>
          <p:cNvSpPr>
            <a:spLocks xmlns:a="http://schemas.openxmlformats.org/drawingml/2006/main" noGrp="1"/>
          </p:cNvSpPr>
          <p:nvPr/>
        </p:nvSpPr>
        <p:spPr>
          <a:xfrm xmlns:a="http://schemas.openxmlformats.org/drawingml/2006/main">
            <a:off x="9848850" y="2847975"/>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050B13"/>
                </a:solidFill>
                <a:latin typeface="Microsoft YaHei UI"/>
                <a:ea typeface="Microsoft YaHei UI"/>
                <a:cs typeface="Microsoft YaHei UI"/>
              </a:defRPr>
            </a:pPr>
            <a:r>
              <a:rPr sz="1425" b="1">
                <a:solidFill>
                  <a:srgbClr val="050B13"/>
                </a:solidFill>
                <a:latin typeface="Microsoft YaHei UI"/>
                <a:ea typeface="Microsoft YaHei UI"/>
                <a:cs typeface="Microsoft YaHei UI"/>
              </a:rPr>
              <a:t>06</a:t>
            </a:r>
          </a:p>
        </p:txBody>
      </p:sp>
      <p:sp>
        <p:nvSpPr>
          <p:cNvPr id="28" name="">
            <a:extLst xmlns:a="http://schemas.openxmlformats.org/drawingml/2006/main">
              <a:ext uri="{FF2B5EF4-FFF2-40B4-BE49-F238E27FC236}">
                <a16:creationId xmlns:a16="http://schemas.microsoft.com/office/drawing/2014/main" id="{7406EB35-5E8B-4C20-A73F-711E8E873F50}"/>
              </a:ext>
            </a:extLst>
          </p:cNvPr>
          <p:cNvSpPr>
            <a:spLocks xmlns:a="http://schemas.openxmlformats.org/drawingml/2006/main" noGrp="1"/>
          </p:cNvSpPr>
          <p:nvPr/>
        </p:nvSpPr>
        <p:spPr>
          <a:xfrm xmlns:a="http://schemas.openxmlformats.org/drawingml/2006/main">
            <a:off x="9315450" y="3429000"/>
            <a:ext cx="1619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8FBFF"/>
                </a:solidFill>
                <a:latin typeface="Microsoft YaHei"/>
                <a:ea typeface="Microsoft YaHei"/>
                <a:cs typeface="Microsoft YaHei"/>
              </a:defRPr>
            </a:pPr>
            <a:r>
              <a:rPr sz="1200" b="1">
                <a:solidFill>
                  <a:srgbClr val="F8FBFF"/>
                </a:solidFill>
                <a:latin typeface="Microsoft YaHei"/>
                <a:ea typeface="Microsoft YaHei"/>
                <a:cs typeface="Microsoft YaHei"/>
              </a:rPr>
              <a:t>视觉智能</a:t>
            </a:r>
          </a:p>
        </p:txBody>
      </p:sp>
      <p:sp>
        <p:nvSpPr>
          <p:cNvPr id="29" name="">
            <a:extLst xmlns:a="http://schemas.openxmlformats.org/drawingml/2006/main">
              <a:ext uri="{FF2B5EF4-FFF2-40B4-BE49-F238E27FC236}">
                <a16:creationId xmlns:a16="http://schemas.microsoft.com/office/drawing/2014/main" id="{0CDF2224-6157-4B07-BA38-DF79EDED53DD}"/>
              </a:ext>
            </a:extLst>
          </p:cNvPr>
          <p:cNvSpPr>
            <a:spLocks xmlns:a="http://schemas.openxmlformats.org/drawingml/2006/main" noGrp="1"/>
          </p:cNvSpPr>
          <p:nvPr/>
        </p:nvSpPr>
        <p:spPr>
          <a:xfrm xmlns:a="http://schemas.openxmlformats.org/drawingml/2006/main">
            <a:off x="1485900" y="5353050"/>
            <a:ext cx="8572500" cy="552450"/>
          </a:xfrm>
          <a:prstGeom xmlns:a="http://schemas.openxmlformats.org/drawingml/2006/main" prst="roundRect">
            <a:avLst>
              <a:gd name="adj" fmla="val 13793"/>
            </a:avLst>
          </a:prstGeom>
          <a:solidFill xmlns:a="http://schemas.openxmlformats.org/drawingml/2006/main">
            <a:srgbClr val="101C30">
              <a:alpha val="83922"/>
            </a:srgbClr>
          </a:solidFill>
          <a:ln xmlns:a="http://schemas.openxmlformats.org/drawingml/2006/main" w="9525">
            <a:solidFill>
              <a:srgbClr val="2B4768"/>
            </a:solidFill>
            <a:prstDash val="solid"/>
          </a:ln>
        </p:spPr>
      </p:sp>
      <p:sp>
        <p:nvSpPr>
          <p:cNvPr id="30" name="">
            <a:extLst xmlns:a="http://schemas.openxmlformats.org/drawingml/2006/main">
              <a:ext uri="{FF2B5EF4-FFF2-40B4-BE49-F238E27FC236}">
                <a16:creationId xmlns:a16="http://schemas.microsoft.com/office/drawing/2014/main" id="{F2E1E0E3-F8E2-46BD-A0C8-67B07844ABF1}"/>
              </a:ext>
            </a:extLst>
          </p:cNvPr>
          <p:cNvSpPr>
            <a:spLocks xmlns:a="http://schemas.openxmlformats.org/drawingml/2006/main" noGrp="1"/>
          </p:cNvSpPr>
          <p:nvPr/>
        </p:nvSpPr>
        <p:spPr>
          <a:xfrm xmlns:a="http://schemas.openxmlformats.org/drawingml/2006/main">
            <a:off x="1809750" y="5524500"/>
            <a:ext cx="7924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0">
                <a:solidFill>
                  <a:srgbClr val="F8FBFF"/>
                </a:solidFill>
                <a:latin typeface="Microsoft YaHei"/>
                <a:ea typeface="Microsoft YaHei"/>
                <a:cs typeface="Microsoft YaHei"/>
              </a:defRPr>
            </a:pPr>
            <a:r>
              <a:rPr sz="1275" b="0">
                <a:solidFill>
                  <a:srgbClr val="F8FBFF"/>
                </a:solidFill>
                <a:latin typeface="Microsoft YaHei"/>
                <a:ea typeface="Microsoft YaHei"/>
                <a:cs typeface="Microsoft YaHei"/>
              </a:rPr>
              <a:t>复用原答辩材料中的实物照片、仿真图、夹爪方案与控制器路线，重组为“调研-验证-迭代-转化”的汇报逻辑。</a:t>
            </a:r>
          </a:p>
        </p:txBody>
      </p:sp>
    </p:spTree>
    <p:extLst>
      <p:ext uri="{BB962C8B-B14F-4D97-AF65-F5344CB8AC3E}">
        <p14:creationId xmlns:p14="http://schemas.microsoft.com/office/powerpoint/2010/main" val="1392635119"/>
      </p:ext>
    </p:extLst>
  </p:cSld>
  <p:transition advClick="1">
    <p:fade/>
  </p:transition>
  <p:timing>
    <p:tnLst>
      <p:par>
        <p:cTn id="1" dur="indefinite" restart="never" nodeType="tmRoot">
          <p:childTnLst>
            <p:seq concurrent="1" nextAc="seek">
              <p:cTn id="2" dur="indefinite" nodeType="mainSeq">
                <p:childTnLst>
                  <p:par>
                    <p:cTn id="8"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par>
                    <p:cTn id="14" fill="hold">
                      <p:stCondLst>
                        <p:cond delay="0"/>
                      </p:stCondLst>
                      <p:childTnLst>
                        <p:par>
                          <p:cTn id="13" fill="hold">
                            <p:stCondLst>
                              <p:cond delay="0"/>
                            </p:stCondLst>
                            <p:childTnLst>
                              <p:par>
                                <p:cTn id="9" presetID="10" presetClass="entr" presetSubtype="0" fill="hold" grpId="1"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1"/>
    </p:bldLst>
  </p:timing>
</p:sld>
</file>

<file path=ppt/slides/slide5.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818DB35-CF5D-4E39-AFB2-225CC72E8A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4E0F6D2-3C9A-4F80-A4FB-5898779A78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alpha val="93725"/>
            </a:srgbClr>
          </a:solidFill>
          <a:ln xmlns:a="http://schemas.openxmlformats.org/drawingml/2006/main" w="0">
            <a:solidFill>
              <a:srgbClr val="000000">
                <a:alpha val="0"/>
              </a:srgbClr>
            </a:solidFill>
            <a:prstDash val="solid"/>
          </a:ln>
        </p:spPr>
      </p:sp>
      <p:pic>
        <p:nvPicPr>
          <p:cNvPr id="3" name="" descr="????????????????PPT"/>
          <p:cNvPicPr>
            <a:picLocks xmlns:a="http://schemas.openxmlformats.org/drawingml/2006/main" noChangeAspect="1"/>
          </p:cNvPicPr>
          <p:nvPr/>
        </p:nvPicPr>
        <p:blipFill>
          <a:blip xmlns:r="http://schemas.openxmlformats.org/officeDocument/2006/relationships" xmlns:a="http://schemas.openxmlformats.org/drawingml/2006/main" r:embed="R45b0c7e6bce247d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EB62426-76CA-4A59-90CD-374761FC6185}"/>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50B13">
              <a:alpha val="90980"/>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86AFE82-65B5-42E5-A752-3AE7F0BD1495}"/>
              </a:ext>
            </a:extLst>
          </p:cNvPr>
          <p:cNvSpPr>
            <a:spLocks xmlns:a="http://schemas.openxmlformats.org/drawingml/2006/main" noGrp="1"/>
          </p:cNvSpPr>
          <p:nvPr/>
        </p:nvSpPr>
        <p:spPr>
          <a:xfrm xmlns:a="http://schemas.openxmlformats.org/drawingml/2006/main">
            <a:off x="0" y="6438900"/>
            <a:ext cx="12192000" cy="28575"/>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FEF3592-DC99-4392-86D9-E5E4D05BFCDE}"/>
              </a:ext>
            </a:extLst>
          </p:cNvPr>
          <p:cNvSpPr>
            <a:spLocks xmlns:a="http://schemas.openxmlformats.org/drawingml/2006/main" noGrp="1"/>
          </p:cNvSpPr>
          <p:nvPr/>
        </p:nvSpPr>
        <p:spPr>
          <a:xfrm xmlns:a="http://schemas.openxmlformats.org/drawingml/2006/main">
            <a:off x="533400" y="6562725"/>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双机械臂协作与力控制器系统 | 暑期社会实践汇报</a:t>
            </a:r>
          </a:p>
        </p:txBody>
      </p:sp>
      <p:sp>
        <p:nvSpPr>
          <p:cNvPr id="7" name="">
            <a:extLst xmlns:a="http://schemas.openxmlformats.org/drawingml/2006/main">
              <a:ext uri="{FF2B5EF4-FFF2-40B4-BE49-F238E27FC236}">
                <a16:creationId xmlns:a16="http://schemas.microsoft.com/office/drawing/2014/main" id="{5F64EA46-F536-4D95-B0AA-79A1DDB2442E}"/>
              </a:ext>
            </a:extLst>
          </p:cNvPr>
          <p:cNvSpPr>
            <a:spLocks xmlns:a="http://schemas.openxmlformats.org/drawingml/2006/main" noGrp="1"/>
          </p:cNvSpPr>
          <p:nvPr/>
        </p:nvSpPr>
        <p:spPr>
          <a:xfrm xmlns:a="http://schemas.openxmlformats.org/drawingml/2006/main">
            <a:off x="11239500" y="65627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DE3FF"/>
                </a:solidFill>
                <a:latin typeface="Microsoft YaHei"/>
                <a:ea typeface="Microsoft YaHei"/>
                <a:cs typeface="Microsoft YaHei"/>
              </a:defRPr>
            </a:pPr>
            <a:r>
              <a:rPr sz="900" b="0">
                <a:solidFill>
                  <a:srgbClr val="7DE3FF"/>
                </a:solidFill>
                <a:latin typeface="Microsoft YaHei"/>
                <a:ea typeface="Microsoft YaHei"/>
                <a:cs typeface="Microsoft YaHei"/>
              </a:rPr>
              <a:t>05</a:t>
            </a:r>
          </a:p>
        </p:txBody>
      </p:sp>
      <p:sp>
        <p:nvSpPr>
          <p:cNvPr id="8" name="kicker-5-marker">
            <a:extLst xmlns:a="http://schemas.openxmlformats.org/drawingml/2006/main">
              <a:ext uri="{FF2B5EF4-FFF2-40B4-BE49-F238E27FC236}">
                <a16:creationId xmlns:a16="http://schemas.microsoft.com/office/drawing/2014/main" id="{ED00038B-FDC3-4DC8-A5C5-C1C23E2DBA07}"/>
              </a:ext>
            </a:extLst>
          </p:cNvPr>
          <p:cNvSpPr>
            <a:spLocks xmlns:a="http://schemas.openxmlformats.org/drawingml/2006/main" noGrp="1"/>
          </p:cNvSpPr>
          <p:nvPr/>
        </p:nvSpPr>
        <p:spPr>
          <a:xfrm xmlns:a="http://schemas.openxmlformats.org/drawingml/2006/main">
            <a:off x="552450" y="533400"/>
            <a:ext cx="66675" cy="2857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9" name="kicker-5-label">
            <a:extLst xmlns:a="http://schemas.openxmlformats.org/drawingml/2006/main">
              <a:ext uri="{FF2B5EF4-FFF2-40B4-BE49-F238E27FC236}">
                <a16:creationId xmlns:a16="http://schemas.microsoft.com/office/drawing/2014/main" id="{BBD5E23E-A53E-4BE7-A1AD-CBED18EE44AF}"/>
              </a:ext>
            </a:extLst>
          </p:cNvPr>
          <p:cNvSpPr>
            <a:spLocks xmlns:a="http://schemas.openxmlformats.org/drawingml/2006/main" noGrp="1"/>
          </p:cNvSpPr>
          <p:nvPr/>
        </p:nvSpPr>
        <p:spPr>
          <a:xfrm xmlns:a="http://schemas.openxmlformats.org/drawingml/2006/main">
            <a:off x="742950" y="495300"/>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7DE3FF"/>
                </a:solidFill>
                <a:latin typeface="Microsoft YaHei"/>
                <a:ea typeface="Microsoft YaHei"/>
                <a:cs typeface="Microsoft YaHei"/>
              </a:defRPr>
            </a:pPr>
            <a:r>
              <a:rPr sz="1125" b="1">
                <a:solidFill>
                  <a:srgbClr val="7DE3FF"/>
                </a:solidFill>
                <a:latin typeface="Microsoft YaHei"/>
                <a:ea typeface="Microsoft YaHei"/>
                <a:cs typeface="Microsoft YaHei"/>
              </a:rPr>
              <a:t>PROOF OF BUILD</a:t>
            </a:r>
          </a:p>
        </p:txBody>
      </p:sp>
      <p:sp>
        <p:nvSpPr>
          <p:cNvPr id="10" name="anim-title-5">
            <a:extLst xmlns:a="http://schemas.openxmlformats.org/drawingml/2006/main">
              <a:ext uri="{FF2B5EF4-FFF2-40B4-BE49-F238E27FC236}">
                <a16:creationId xmlns:a16="http://schemas.microsoft.com/office/drawing/2014/main" id="{3CC57CC3-E618-41D5-A323-1C501B1BC5D0}"/>
              </a:ext>
            </a:extLst>
          </p:cNvPr>
          <p:cNvSpPr>
            <a:spLocks xmlns:a="http://schemas.openxmlformats.org/drawingml/2006/main" noGrp="1"/>
          </p:cNvSpPr>
          <p:nvPr/>
        </p:nvSpPr>
        <p:spPr>
          <a:xfrm xmlns:a="http://schemas.openxmlformats.org/drawingml/2006/main">
            <a:off x="552450" y="895350"/>
            <a:ext cx="6477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8FBFF"/>
                </a:solidFill>
                <a:latin typeface="Microsoft YaHei UI"/>
                <a:ea typeface="Microsoft YaHei UI"/>
                <a:cs typeface="Microsoft YaHei UI"/>
              </a:defRPr>
            </a:pPr>
            <a:r>
              <a:rPr sz="2850" b="1">
                <a:solidFill>
                  <a:srgbClr val="F8FBFF"/>
                </a:solidFill>
                <a:latin typeface="Microsoft YaHei UI"/>
                <a:ea typeface="Microsoft YaHei UI"/>
                <a:cs typeface="Microsoft YaHei UI"/>
              </a:rPr>
              <a:t>单臂闭环先跑通，双臂实践才有可信起点。</a:t>
            </a:r>
          </a:p>
        </p:txBody>
      </p:sp>
      <p:sp>
        <p:nvSpPr>
          <p:cNvPr id="11" name="">
            <a:extLst xmlns:a="http://schemas.openxmlformats.org/drawingml/2006/main">
              <a:ext uri="{FF2B5EF4-FFF2-40B4-BE49-F238E27FC236}">
                <a16:creationId xmlns:a16="http://schemas.microsoft.com/office/drawing/2014/main" id="{44AF5C91-56CA-42C8-B45C-7687FB50FFE7}"/>
              </a:ext>
            </a:extLst>
          </p:cNvPr>
          <p:cNvSpPr>
            <a:spLocks xmlns:a="http://schemas.openxmlformats.org/drawingml/2006/main" noGrp="1"/>
          </p:cNvSpPr>
          <p:nvPr/>
        </p:nvSpPr>
        <p:spPr>
          <a:xfrm xmlns:a="http://schemas.openxmlformats.org/drawingml/2006/main">
            <a:off x="6991350" y="990600"/>
            <a:ext cx="3829050" cy="220980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18BDF2"/>
            </a:solidFill>
            <a:prstDash val="solid"/>
          </a:ln>
        </p:spPr>
      </p:sp>
      <p:pic>
        <p:nvPicPr>
          <p:cNvPr id="12" name="" descr="????????????????PPT"/>
          <p:cNvPicPr>
            <a:picLocks xmlns:a="http://schemas.openxmlformats.org/drawingml/2006/main" noChangeAspect="1"/>
          </p:cNvPicPr>
          <p:nvPr/>
        </p:nvPicPr>
        <p:blipFill>
          <a:blip xmlns:r="http://schemas.openxmlformats.org/officeDocument/2006/relationships" xmlns:a="http://schemas.openxmlformats.org/drawingml/2006/main" r:embed="R26580b5759234009"/>
          <a:srcRect xmlns:a="http://schemas.openxmlformats.org/drawingml/2006/main" l="181" t="0" r="181" b="0"/>
          <a:stretch xmlns:a="http://schemas.openxmlformats.org/drawingml/2006/main">
            <a:fillRect l="0" t="0" r="0" b="0"/>
          </a:stretch>
        </p:blipFill>
        <p:spPr>
          <a:xfrm xmlns:a="http://schemas.openxmlformats.org/drawingml/2006/main">
            <a:off x="7048500" y="1047750"/>
            <a:ext cx="3714750" cy="20955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29EC0605-9298-4063-96A5-B3CA5B15297C}"/>
              </a:ext>
            </a:extLst>
          </p:cNvPr>
          <p:cNvSpPr>
            <a:spLocks xmlns:a="http://schemas.openxmlformats.org/drawingml/2006/main" noGrp="1"/>
          </p:cNvSpPr>
          <p:nvPr/>
        </p:nvSpPr>
        <p:spPr>
          <a:xfrm xmlns:a="http://schemas.openxmlformats.org/drawingml/2006/main">
            <a:off x="7048500" y="3228975"/>
            <a:ext cx="3714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一级兑换实测</a:t>
            </a:r>
          </a:p>
        </p:txBody>
      </p:sp>
      <p:sp>
        <p:nvSpPr>
          <p:cNvPr id="14" name="">
            <a:extLst xmlns:a="http://schemas.openxmlformats.org/drawingml/2006/main">
              <a:ext uri="{FF2B5EF4-FFF2-40B4-BE49-F238E27FC236}">
                <a16:creationId xmlns:a16="http://schemas.microsoft.com/office/drawing/2014/main" id="{0B668422-2601-4D6D-9463-AF38FB3C3C7B}"/>
              </a:ext>
            </a:extLst>
          </p:cNvPr>
          <p:cNvSpPr>
            <a:spLocks xmlns:a="http://schemas.openxmlformats.org/drawingml/2006/main" noGrp="1"/>
          </p:cNvSpPr>
          <p:nvPr/>
        </p:nvSpPr>
        <p:spPr>
          <a:xfrm xmlns:a="http://schemas.openxmlformats.org/drawingml/2006/main">
            <a:off x="8229600" y="3581400"/>
            <a:ext cx="2781300" cy="161925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FF7A1A"/>
            </a:solidFill>
            <a:prstDash val="solid"/>
          </a:ln>
        </p:spPr>
      </p:sp>
      <p:pic>
        <p:nvPicPr>
          <p:cNvPr id="15" name="" descr="????????????????PPT"/>
          <p:cNvPicPr>
            <a:picLocks xmlns:a="http://schemas.openxmlformats.org/drawingml/2006/main" noChangeAspect="1"/>
          </p:cNvPicPr>
          <p:nvPr/>
        </p:nvPicPr>
        <p:blipFill>
          <a:blip xmlns:r="http://schemas.openxmlformats.org/officeDocument/2006/relationships" xmlns:a="http://schemas.openxmlformats.org/drawingml/2006/main" r:embed="R6196b55bf969430d"/>
          <a:srcRect xmlns:a="http://schemas.openxmlformats.org/drawingml/2006/main" l="197" t="0" r="197" b="0"/>
          <a:stretch xmlns:a="http://schemas.openxmlformats.org/drawingml/2006/main">
            <a:fillRect l="0" t="0" r="0" b="0"/>
          </a:stretch>
        </p:blipFill>
        <p:spPr>
          <a:xfrm xmlns:a="http://schemas.openxmlformats.org/drawingml/2006/main">
            <a:off x="8286750" y="3638550"/>
            <a:ext cx="2667000" cy="15049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2C79AD7E-3484-4976-A6B7-D8522CEE8EDC}"/>
              </a:ext>
            </a:extLst>
          </p:cNvPr>
          <p:cNvSpPr>
            <a:spLocks xmlns:a="http://schemas.openxmlformats.org/drawingml/2006/main" noGrp="1"/>
          </p:cNvSpPr>
          <p:nvPr/>
        </p:nvSpPr>
        <p:spPr>
          <a:xfrm xmlns:a="http://schemas.openxmlformats.org/drawingml/2006/main">
            <a:off x="8286750" y="5229225"/>
            <a:ext cx="2667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二级兑换实测</a:t>
            </a:r>
          </a:p>
        </p:txBody>
      </p:sp>
      <p:sp>
        <p:nvSpPr>
          <p:cNvPr id="17" name="">
            <a:extLst xmlns:a="http://schemas.openxmlformats.org/drawingml/2006/main">
              <a:ext uri="{FF2B5EF4-FFF2-40B4-BE49-F238E27FC236}">
                <a16:creationId xmlns:a16="http://schemas.microsoft.com/office/drawing/2014/main" id="{0014B878-9F10-4B80-B579-FD4A2268A3BD}"/>
              </a:ext>
            </a:extLst>
          </p:cNvPr>
          <p:cNvSpPr>
            <a:spLocks xmlns:a="http://schemas.openxmlformats.org/drawingml/2006/main" noGrp="1"/>
          </p:cNvSpPr>
          <p:nvPr/>
        </p:nvSpPr>
        <p:spPr>
          <a:xfrm xmlns:a="http://schemas.openxmlformats.org/drawingml/2006/main">
            <a:off x="5695950" y="3676650"/>
            <a:ext cx="2381250" cy="154305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2B4768"/>
            </a:solidFill>
            <a:prstDash val="solid"/>
          </a:ln>
        </p:spPr>
      </p:sp>
      <p:pic>
        <p:nvPicPr>
          <p:cNvPr id="18" name="" descr="????????????????PPT"/>
          <p:cNvPicPr>
            <a:picLocks xmlns:a="http://schemas.openxmlformats.org/drawingml/2006/main" noChangeAspect="1"/>
          </p:cNvPicPr>
          <p:nvPr/>
        </p:nvPicPr>
        <p:blipFill>
          <a:blip xmlns:r="http://schemas.openxmlformats.org/officeDocument/2006/relationships" xmlns:a="http://schemas.openxmlformats.org/drawingml/2006/main" r:embed="R5f79cbdbee8c4742"/>
          <a:srcRect xmlns:a="http://schemas.openxmlformats.org/drawingml/2006/main" l="5410" t="0" r="5410" b="0"/>
          <a:stretch xmlns:a="http://schemas.openxmlformats.org/drawingml/2006/main">
            <a:fillRect l="0" t="0" r="0" b="0"/>
          </a:stretch>
        </p:blipFill>
        <p:spPr>
          <a:xfrm xmlns:a="http://schemas.openxmlformats.org/drawingml/2006/main">
            <a:off x="5753100" y="3733800"/>
            <a:ext cx="2266950" cy="14287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5A99BB63-AF6E-4DE2-A695-796C96872F6F}"/>
              </a:ext>
            </a:extLst>
          </p:cNvPr>
          <p:cNvSpPr>
            <a:spLocks xmlns:a="http://schemas.openxmlformats.org/drawingml/2006/main" noGrp="1"/>
          </p:cNvSpPr>
          <p:nvPr/>
        </p:nvSpPr>
        <p:spPr>
          <a:xfrm xmlns:a="http://schemas.openxmlformats.org/drawingml/2006/main">
            <a:off x="5753100" y="5248275"/>
            <a:ext cx="22669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三级兑换实测</a:t>
            </a:r>
          </a:p>
        </p:txBody>
      </p:sp>
      <p:sp>
        <p:nvSpPr>
          <p:cNvPr id="20" name="anim-proof-5">
            <a:extLst xmlns:a="http://schemas.openxmlformats.org/drawingml/2006/main">
              <a:ext uri="{FF2B5EF4-FFF2-40B4-BE49-F238E27FC236}">
                <a16:creationId xmlns:a16="http://schemas.microsoft.com/office/drawing/2014/main" id="{51AA93F9-6B05-47D5-8F56-9591EF9E9D28}"/>
              </a:ext>
            </a:extLst>
          </p:cNvPr>
          <p:cNvSpPr>
            <a:spLocks xmlns:a="http://schemas.openxmlformats.org/drawingml/2006/main" noGrp="1"/>
          </p:cNvSpPr>
          <p:nvPr/>
        </p:nvSpPr>
        <p:spPr>
          <a:xfrm xmlns:a="http://schemas.openxmlformats.org/drawingml/2006/main">
            <a:off x="685800" y="2476500"/>
            <a:ext cx="1428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7DE3FF"/>
                </a:solidFill>
                <a:latin typeface="Microsoft YaHei UI"/>
                <a:ea typeface="Microsoft YaHei UI"/>
                <a:cs typeface="Microsoft YaHei UI"/>
              </a:defRPr>
            </a:pPr>
            <a:r>
              <a:rPr sz="3150" b="1">
                <a:solidFill>
                  <a:srgbClr val="7DE3FF"/>
                </a:solidFill>
                <a:latin typeface="Microsoft YaHei UI"/>
                <a:ea typeface="Microsoft YaHei UI"/>
                <a:cs typeface="Microsoft YaHei UI"/>
              </a:rPr>
              <a:t>32s</a:t>
            </a:r>
          </a:p>
        </p:txBody>
      </p:sp>
      <p:sp>
        <p:nvSpPr>
          <p:cNvPr id="21" name="">
            <a:extLst xmlns:a="http://schemas.openxmlformats.org/drawingml/2006/main">
              <a:ext uri="{FF2B5EF4-FFF2-40B4-BE49-F238E27FC236}">
                <a16:creationId xmlns:a16="http://schemas.microsoft.com/office/drawing/2014/main" id="{4B73E218-32F0-4B6C-A571-199693CBA523}"/>
              </a:ext>
            </a:extLst>
          </p:cNvPr>
          <p:cNvSpPr>
            <a:spLocks xmlns:a="http://schemas.openxmlformats.org/drawingml/2006/main" noGrp="1"/>
          </p:cNvSpPr>
          <p:nvPr/>
        </p:nvSpPr>
        <p:spPr>
          <a:xfrm xmlns:a="http://schemas.openxmlformats.org/drawingml/2006/main">
            <a:off x="685800" y="302895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8FBFF"/>
                </a:solidFill>
                <a:latin typeface="Microsoft YaHei"/>
                <a:ea typeface="Microsoft YaHei"/>
                <a:cs typeface="Microsoft YaHei"/>
              </a:defRPr>
            </a:pPr>
            <a:r>
              <a:rPr sz="1125" b="1">
                <a:solidFill>
                  <a:srgbClr val="F8FBFF"/>
                </a:solidFill>
                <a:latin typeface="Microsoft YaHei"/>
                <a:ea typeface="Microsoft YaHei"/>
                <a:cs typeface="Microsoft YaHei"/>
              </a:rPr>
              <a:t>一级兑换</a:t>
            </a:r>
          </a:p>
        </p:txBody>
      </p:sp>
      <p:sp>
        <p:nvSpPr>
          <p:cNvPr id="22" name="">
            <a:extLst xmlns:a="http://schemas.openxmlformats.org/drawingml/2006/main">
              <a:ext uri="{FF2B5EF4-FFF2-40B4-BE49-F238E27FC236}">
                <a16:creationId xmlns:a16="http://schemas.microsoft.com/office/drawing/2014/main" id="{DBBB9D7A-0A29-48B0-AC62-0F193CD1D7FB}"/>
              </a:ext>
            </a:extLst>
          </p:cNvPr>
          <p:cNvSpPr>
            <a:spLocks xmlns:a="http://schemas.openxmlformats.org/drawingml/2006/main" noGrp="1"/>
          </p:cNvSpPr>
          <p:nvPr/>
        </p:nvSpPr>
        <p:spPr>
          <a:xfrm xmlns:a="http://schemas.openxmlformats.org/drawingml/2006/main">
            <a:off x="952500" y="3352800"/>
            <a:ext cx="895350" cy="190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F56487EB-2A7E-4E7A-A841-8E43B88BB78D}"/>
              </a:ext>
            </a:extLst>
          </p:cNvPr>
          <p:cNvSpPr>
            <a:spLocks xmlns:a="http://schemas.openxmlformats.org/drawingml/2006/main" noGrp="1"/>
          </p:cNvSpPr>
          <p:nvPr/>
        </p:nvSpPr>
        <p:spPr>
          <a:xfrm xmlns:a="http://schemas.openxmlformats.org/drawingml/2006/main">
            <a:off x="2476500" y="2476500"/>
            <a:ext cx="1428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FF7A1A"/>
                </a:solidFill>
                <a:latin typeface="Microsoft YaHei UI"/>
                <a:ea typeface="Microsoft YaHei UI"/>
                <a:cs typeface="Microsoft YaHei UI"/>
              </a:defRPr>
            </a:pPr>
            <a:r>
              <a:rPr sz="3150" b="1">
                <a:solidFill>
                  <a:srgbClr val="FF7A1A"/>
                </a:solidFill>
                <a:latin typeface="Microsoft YaHei UI"/>
                <a:ea typeface="Microsoft YaHei UI"/>
                <a:cs typeface="Microsoft YaHei UI"/>
              </a:rPr>
              <a:t>23s</a:t>
            </a:r>
          </a:p>
        </p:txBody>
      </p:sp>
      <p:sp>
        <p:nvSpPr>
          <p:cNvPr id="24" name="">
            <a:extLst xmlns:a="http://schemas.openxmlformats.org/drawingml/2006/main">
              <a:ext uri="{FF2B5EF4-FFF2-40B4-BE49-F238E27FC236}">
                <a16:creationId xmlns:a16="http://schemas.microsoft.com/office/drawing/2014/main" id="{3963A39F-AA3A-4AD6-AE4A-949E171C7741}"/>
              </a:ext>
            </a:extLst>
          </p:cNvPr>
          <p:cNvSpPr>
            <a:spLocks xmlns:a="http://schemas.openxmlformats.org/drawingml/2006/main" noGrp="1"/>
          </p:cNvSpPr>
          <p:nvPr/>
        </p:nvSpPr>
        <p:spPr>
          <a:xfrm xmlns:a="http://schemas.openxmlformats.org/drawingml/2006/main">
            <a:off x="2476500" y="302895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8FBFF"/>
                </a:solidFill>
                <a:latin typeface="Microsoft YaHei"/>
                <a:ea typeface="Microsoft YaHei"/>
                <a:cs typeface="Microsoft YaHei"/>
              </a:defRPr>
            </a:pPr>
            <a:r>
              <a:rPr sz="1125" b="1">
                <a:solidFill>
                  <a:srgbClr val="F8FBFF"/>
                </a:solidFill>
                <a:latin typeface="Microsoft YaHei"/>
                <a:ea typeface="Microsoft YaHei"/>
                <a:cs typeface="Microsoft YaHei"/>
              </a:rPr>
              <a:t>二级兑换</a:t>
            </a:r>
          </a:p>
        </p:txBody>
      </p:sp>
      <p:sp>
        <p:nvSpPr>
          <p:cNvPr id="25" name="">
            <a:extLst xmlns:a="http://schemas.openxmlformats.org/drawingml/2006/main">
              <a:ext uri="{FF2B5EF4-FFF2-40B4-BE49-F238E27FC236}">
                <a16:creationId xmlns:a16="http://schemas.microsoft.com/office/drawing/2014/main" id="{E7A9A36D-A49C-4B21-87D5-B6D4991B2F61}"/>
              </a:ext>
            </a:extLst>
          </p:cNvPr>
          <p:cNvSpPr>
            <a:spLocks xmlns:a="http://schemas.openxmlformats.org/drawingml/2006/main" noGrp="1"/>
          </p:cNvSpPr>
          <p:nvPr/>
        </p:nvSpPr>
        <p:spPr>
          <a:xfrm xmlns:a="http://schemas.openxmlformats.org/drawingml/2006/main">
            <a:off x="2743200" y="3352800"/>
            <a:ext cx="895350" cy="19050"/>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1C3F0D42-913F-486C-A8B7-185237F24887}"/>
              </a:ext>
            </a:extLst>
          </p:cNvPr>
          <p:cNvSpPr>
            <a:spLocks xmlns:a="http://schemas.openxmlformats.org/drawingml/2006/main" noGrp="1"/>
          </p:cNvSpPr>
          <p:nvPr/>
        </p:nvSpPr>
        <p:spPr>
          <a:xfrm xmlns:a="http://schemas.openxmlformats.org/drawingml/2006/main">
            <a:off x="4267200" y="2476500"/>
            <a:ext cx="1428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7DE3FF"/>
                </a:solidFill>
                <a:latin typeface="Microsoft YaHei UI"/>
                <a:ea typeface="Microsoft YaHei UI"/>
                <a:cs typeface="Microsoft YaHei UI"/>
              </a:defRPr>
            </a:pPr>
            <a:r>
              <a:rPr sz="3150" b="1">
                <a:solidFill>
                  <a:srgbClr val="7DE3FF"/>
                </a:solidFill>
                <a:latin typeface="Microsoft YaHei UI"/>
                <a:ea typeface="Microsoft YaHei UI"/>
                <a:cs typeface="Microsoft YaHei UI"/>
              </a:rPr>
              <a:t>32s</a:t>
            </a:r>
          </a:p>
        </p:txBody>
      </p:sp>
      <p:sp>
        <p:nvSpPr>
          <p:cNvPr id="27" name="">
            <a:extLst xmlns:a="http://schemas.openxmlformats.org/drawingml/2006/main">
              <a:ext uri="{FF2B5EF4-FFF2-40B4-BE49-F238E27FC236}">
                <a16:creationId xmlns:a16="http://schemas.microsoft.com/office/drawing/2014/main" id="{D090EA9F-2EEA-4B72-814F-B1A88A258D48}"/>
              </a:ext>
            </a:extLst>
          </p:cNvPr>
          <p:cNvSpPr>
            <a:spLocks xmlns:a="http://schemas.openxmlformats.org/drawingml/2006/main" noGrp="1"/>
          </p:cNvSpPr>
          <p:nvPr/>
        </p:nvSpPr>
        <p:spPr>
          <a:xfrm xmlns:a="http://schemas.openxmlformats.org/drawingml/2006/main">
            <a:off x="4267200" y="302895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8FBFF"/>
                </a:solidFill>
                <a:latin typeface="Microsoft YaHei"/>
                <a:ea typeface="Microsoft YaHei"/>
                <a:cs typeface="Microsoft YaHei"/>
              </a:defRPr>
            </a:pPr>
            <a:r>
              <a:rPr sz="1125" b="1">
                <a:solidFill>
                  <a:srgbClr val="F8FBFF"/>
                </a:solidFill>
                <a:latin typeface="Microsoft YaHei"/>
                <a:ea typeface="Microsoft YaHei"/>
                <a:cs typeface="Microsoft YaHei"/>
              </a:rPr>
              <a:t>三级兑换</a:t>
            </a:r>
          </a:p>
        </p:txBody>
      </p:sp>
      <p:sp>
        <p:nvSpPr>
          <p:cNvPr id="28" name="">
            <a:extLst xmlns:a="http://schemas.openxmlformats.org/drawingml/2006/main">
              <a:ext uri="{FF2B5EF4-FFF2-40B4-BE49-F238E27FC236}">
                <a16:creationId xmlns:a16="http://schemas.microsoft.com/office/drawing/2014/main" id="{1E9E6A89-586B-4542-BCEB-80C5BD2EA418}"/>
              </a:ext>
            </a:extLst>
          </p:cNvPr>
          <p:cNvSpPr>
            <a:spLocks xmlns:a="http://schemas.openxmlformats.org/drawingml/2006/main" noGrp="1"/>
          </p:cNvSpPr>
          <p:nvPr/>
        </p:nvSpPr>
        <p:spPr>
          <a:xfrm xmlns:a="http://schemas.openxmlformats.org/drawingml/2006/main">
            <a:off x="4533900" y="3352800"/>
            <a:ext cx="895350" cy="190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F7DC7501-AFD7-4546-9AEA-F44FD91C2076}"/>
              </a:ext>
            </a:extLst>
          </p:cNvPr>
          <p:cNvSpPr>
            <a:spLocks xmlns:a="http://schemas.openxmlformats.org/drawingml/2006/main" noGrp="1"/>
          </p:cNvSpPr>
          <p:nvPr/>
        </p:nvSpPr>
        <p:spPr>
          <a:xfrm xmlns:a="http://schemas.openxmlformats.org/drawingml/2006/main">
            <a:off x="742950" y="417195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实物基础</a:t>
            </a:r>
          </a:p>
        </p:txBody>
      </p:sp>
      <p:sp>
        <p:nvSpPr>
          <p:cNvPr id="30" name="">
            <a:extLst xmlns:a="http://schemas.openxmlformats.org/drawingml/2006/main">
              <a:ext uri="{FF2B5EF4-FFF2-40B4-BE49-F238E27FC236}">
                <a16:creationId xmlns:a16="http://schemas.microsoft.com/office/drawing/2014/main" id="{3CF6BB18-D5A3-47DF-9CB0-990D69167C61}"/>
              </a:ext>
            </a:extLst>
          </p:cNvPr>
          <p:cNvSpPr>
            <a:spLocks xmlns:a="http://schemas.openxmlformats.org/drawingml/2006/main" noGrp="1"/>
          </p:cNvSpPr>
          <p:nvPr/>
        </p:nvSpPr>
        <p:spPr>
          <a:xfrm xmlns:a="http://schemas.openxmlformats.org/drawingml/2006/main">
            <a:off x="742950" y="4572000"/>
            <a:ext cx="704850" cy="19050"/>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C4F2F793-E631-4217-BE62-1E4B3D430C15}"/>
              </a:ext>
            </a:extLst>
          </p:cNvPr>
          <p:cNvSpPr>
            <a:spLocks xmlns:a="http://schemas.openxmlformats.org/drawingml/2006/main" noGrp="1"/>
          </p:cNvSpPr>
          <p:nvPr/>
        </p:nvSpPr>
        <p:spPr>
          <a:xfrm xmlns:a="http://schemas.openxmlformats.org/drawingml/2006/main">
            <a:off x="742950" y="4724400"/>
            <a:ext cx="4286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A9B6C8"/>
                </a:solidFill>
                <a:latin typeface="Microsoft YaHei"/>
                <a:ea typeface="Microsoft YaHei"/>
                <a:cs typeface="Microsoft YaHei"/>
              </a:defRPr>
            </a:pPr>
            <a:r>
              <a:rPr sz="1425" b="0">
                <a:solidFill>
                  <a:srgbClr val="A9B6C8"/>
                </a:solidFill>
                <a:latin typeface="Microsoft YaHei"/>
                <a:ea typeface="Microsoft YaHei"/>
                <a:cs typeface="Microsoft YaHei"/>
              </a:rPr>
              <a:t>单臂系统已完成实物搭建与算法闭环，并具备赛场三级难度装配任务能力。</a:t>
            </a:r>
          </a:p>
        </p:txBody>
      </p:sp>
    </p:spTree>
    <p:extLst>
      <p:ext uri="{BB962C8B-B14F-4D97-AF65-F5344CB8AC3E}">
        <p14:creationId xmlns:p14="http://schemas.microsoft.com/office/powerpoint/2010/main" val="368966128"/>
      </p:ext>
    </p:extLst>
  </p:cSld>
  <p:transition advClick="1">
    <p:fade/>
  </p:transition>
  <p:timing>
    <p:tnLst>
      <p:par>
        <p:cTn id="1" dur="indefinite" restart="never" nodeType="tmRoot">
          <p:childTnLst>
            <p:seq concurrent="1" nextAc="seek">
              <p:cTn id="2" dur="indefinite" nodeType="mainSeq">
                <p:childTnLst>
                  <p:par>
                    <p:cTn id="8"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par>
                    <p:cTn id="14" fill="hold">
                      <p:stCondLst>
                        <p:cond delay="0"/>
                      </p:stCondLst>
                      <p:childTnLst>
                        <p:par>
                          <p:cTn id="13" fill="hold">
                            <p:stCondLst>
                              <p:cond delay="0"/>
                            </p:stCondLst>
                            <p:childTnLst>
                              <p:par>
                                <p:cTn id="9" presetID="10" presetClass="entr" presetSubtype="0" fill="hold" grpId="1"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1"/>
    </p:bldLst>
  </p:timing>
</p:sld>
</file>

<file path=ppt/slides/slide6.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5CD35DC-CAC3-4CCB-8AEC-30EE4E03DF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F9DCA6B-2EFB-4933-B129-822CC45254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alpha val="94902"/>
            </a:srgbClr>
          </a:solidFill>
          <a:ln xmlns:a="http://schemas.openxmlformats.org/drawingml/2006/main" w="0">
            <a:solidFill>
              <a:srgbClr val="000000">
                <a:alpha val="0"/>
              </a:srgbClr>
            </a:solidFill>
            <a:prstDash val="solid"/>
          </a:ln>
        </p:spPr>
      </p:sp>
      <p:pic>
        <p:nvPicPr>
          <p:cNvPr id="3" name="" descr="????????????????PPT"/>
          <p:cNvPicPr>
            <a:picLocks xmlns:a="http://schemas.openxmlformats.org/drawingml/2006/main" noChangeAspect="1"/>
          </p:cNvPicPr>
          <p:nvPr/>
        </p:nvPicPr>
        <p:blipFill>
          <a:blip xmlns:r="http://schemas.openxmlformats.org/officeDocument/2006/relationships" xmlns:a="http://schemas.openxmlformats.org/drawingml/2006/main" r:embed="R1539afdaefe64e1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02BB652-EFD2-4256-A4C1-0B1C8AA3790B}"/>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50B13">
              <a:alpha val="90980"/>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359F2A7-746E-4EE3-A152-615C1095D409}"/>
              </a:ext>
            </a:extLst>
          </p:cNvPr>
          <p:cNvSpPr>
            <a:spLocks xmlns:a="http://schemas.openxmlformats.org/drawingml/2006/main" noGrp="1"/>
          </p:cNvSpPr>
          <p:nvPr/>
        </p:nvSpPr>
        <p:spPr>
          <a:xfrm xmlns:a="http://schemas.openxmlformats.org/drawingml/2006/main">
            <a:off x="0" y="6438900"/>
            <a:ext cx="12192000" cy="28575"/>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7450A0C0-5323-4B09-81EF-E8902EFAB451}"/>
              </a:ext>
            </a:extLst>
          </p:cNvPr>
          <p:cNvSpPr>
            <a:spLocks xmlns:a="http://schemas.openxmlformats.org/drawingml/2006/main" noGrp="1"/>
          </p:cNvSpPr>
          <p:nvPr/>
        </p:nvSpPr>
        <p:spPr>
          <a:xfrm xmlns:a="http://schemas.openxmlformats.org/drawingml/2006/main">
            <a:off x="533400" y="6562725"/>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双机械臂协作与力控制器系统 | 暑期社会实践汇报</a:t>
            </a:r>
          </a:p>
        </p:txBody>
      </p:sp>
      <p:sp>
        <p:nvSpPr>
          <p:cNvPr id="7" name="">
            <a:extLst xmlns:a="http://schemas.openxmlformats.org/drawingml/2006/main">
              <a:ext uri="{FF2B5EF4-FFF2-40B4-BE49-F238E27FC236}">
                <a16:creationId xmlns:a16="http://schemas.microsoft.com/office/drawing/2014/main" id="{BDC38222-BD77-458A-BD5A-BD9BA9B6C4CD}"/>
              </a:ext>
            </a:extLst>
          </p:cNvPr>
          <p:cNvSpPr>
            <a:spLocks xmlns:a="http://schemas.openxmlformats.org/drawingml/2006/main" noGrp="1"/>
          </p:cNvSpPr>
          <p:nvPr/>
        </p:nvSpPr>
        <p:spPr>
          <a:xfrm xmlns:a="http://schemas.openxmlformats.org/drawingml/2006/main">
            <a:off x="11239500" y="65627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DE3FF"/>
                </a:solidFill>
                <a:latin typeface="Microsoft YaHei"/>
                <a:ea typeface="Microsoft YaHei"/>
                <a:cs typeface="Microsoft YaHei"/>
              </a:defRPr>
            </a:pPr>
            <a:r>
              <a:rPr sz="900" b="0">
                <a:solidFill>
                  <a:srgbClr val="7DE3FF"/>
                </a:solidFill>
                <a:latin typeface="Microsoft YaHei"/>
                <a:ea typeface="Microsoft YaHei"/>
                <a:cs typeface="Microsoft YaHei"/>
              </a:rPr>
              <a:t>06</a:t>
            </a:r>
          </a:p>
        </p:txBody>
      </p:sp>
      <p:sp>
        <p:nvSpPr>
          <p:cNvPr id="8" name="kicker-6-marker">
            <a:extLst xmlns:a="http://schemas.openxmlformats.org/drawingml/2006/main">
              <a:ext uri="{FF2B5EF4-FFF2-40B4-BE49-F238E27FC236}">
                <a16:creationId xmlns:a16="http://schemas.microsoft.com/office/drawing/2014/main" id="{1E9CC15A-8882-4F80-9D7B-F643F54CBC53}"/>
              </a:ext>
            </a:extLst>
          </p:cNvPr>
          <p:cNvSpPr>
            <a:spLocks xmlns:a="http://schemas.openxmlformats.org/drawingml/2006/main" noGrp="1"/>
          </p:cNvSpPr>
          <p:nvPr/>
        </p:nvSpPr>
        <p:spPr>
          <a:xfrm xmlns:a="http://schemas.openxmlformats.org/drawingml/2006/main">
            <a:off x="552450" y="552450"/>
            <a:ext cx="66675" cy="2857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9" name="kicker-6-label">
            <a:extLst xmlns:a="http://schemas.openxmlformats.org/drawingml/2006/main">
              <a:ext uri="{FF2B5EF4-FFF2-40B4-BE49-F238E27FC236}">
                <a16:creationId xmlns:a16="http://schemas.microsoft.com/office/drawing/2014/main" id="{E42F95E6-285E-4C4D-9660-2E324FD86413}"/>
              </a:ext>
            </a:extLst>
          </p:cNvPr>
          <p:cNvSpPr>
            <a:spLocks xmlns:a="http://schemas.openxmlformats.org/drawingml/2006/main" noGrp="1"/>
          </p:cNvSpPr>
          <p:nvPr/>
        </p:nvSpPr>
        <p:spPr>
          <a:xfrm xmlns:a="http://schemas.openxmlformats.org/drawingml/2006/main">
            <a:off x="742950" y="514350"/>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7DE3FF"/>
                </a:solidFill>
                <a:latin typeface="Microsoft YaHei"/>
                <a:ea typeface="Microsoft YaHei"/>
                <a:cs typeface="Microsoft YaHei"/>
              </a:defRPr>
            </a:pPr>
            <a:r>
              <a:rPr sz="1125" b="1">
                <a:solidFill>
                  <a:srgbClr val="7DE3FF"/>
                </a:solidFill>
                <a:latin typeface="Microsoft YaHei"/>
                <a:ea typeface="Microsoft YaHei"/>
                <a:cs typeface="Microsoft YaHei"/>
              </a:rPr>
              <a:t>DUAL-ARM ARCHITECTURE</a:t>
            </a:r>
          </a:p>
        </p:txBody>
      </p:sp>
      <p:sp>
        <p:nvSpPr>
          <p:cNvPr id="10" name="anim-title-6">
            <a:extLst xmlns:a="http://schemas.openxmlformats.org/drawingml/2006/main">
              <a:ext uri="{FF2B5EF4-FFF2-40B4-BE49-F238E27FC236}">
                <a16:creationId xmlns:a16="http://schemas.microsoft.com/office/drawing/2014/main" id="{10003A53-9BA5-4DC0-A700-62D7BBC1C9B4}"/>
              </a:ext>
            </a:extLst>
          </p:cNvPr>
          <p:cNvSpPr>
            <a:spLocks xmlns:a="http://schemas.openxmlformats.org/drawingml/2006/main" noGrp="1"/>
          </p:cNvSpPr>
          <p:nvPr/>
        </p:nvSpPr>
        <p:spPr>
          <a:xfrm xmlns:a="http://schemas.openxmlformats.org/drawingml/2006/main">
            <a:off x="552450" y="91440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8FBFF"/>
                </a:solidFill>
                <a:latin typeface="Microsoft YaHei UI"/>
                <a:ea typeface="Microsoft YaHei UI"/>
                <a:cs typeface="Microsoft YaHei UI"/>
              </a:defRPr>
            </a:pPr>
            <a:r>
              <a:rPr sz="2850" b="1">
                <a:solidFill>
                  <a:srgbClr val="F8FBFF"/>
                </a:solidFill>
                <a:latin typeface="Microsoft YaHei UI"/>
                <a:ea typeface="Microsoft YaHei UI"/>
                <a:cs typeface="Microsoft YaHei UI"/>
              </a:rPr>
              <a:t>对称同构与仿真验证，让落地先有确定性。</a:t>
            </a:r>
          </a:p>
        </p:txBody>
      </p:sp>
      <p:sp>
        <p:nvSpPr>
          <p:cNvPr id="11" name="">
            <a:extLst xmlns:a="http://schemas.openxmlformats.org/drawingml/2006/main">
              <a:ext uri="{FF2B5EF4-FFF2-40B4-BE49-F238E27FC236}">
                <a16:creationId xmlns:a16="http://schemas.microsoft.com/office/drawing/2014/main" id="{433139BE-AA35-42C9-91F3-F947845E5C4D}"/>
              </a:ext>
            </a:extLst>
          </p:cNvPr>
          <p:cNvSpPr>
            <a:spLocks xmlns:a="http://schemas.openxmlformats.org/drawingml/2006/main" noGrp="1"/>
          </p:cNvSpPr>
          <p:nvPr/>
        </p:nvSpPr>
        <p:spPr>
          <a:xfrm xmlns:a="http://schemas.openxmlformats.org/drawingml/2006/main">
            <a:off x="590550" y="2133600"/>
            <a:ext cx="2971800" cy="230505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18BDF2"/>
            </a:solidFill>
            <a:prstDash val="solid"/>
          </a:ln>
        </p:spPr>
      </p:sp>
      <p:pic>
        <p:nvPicPr>
          <p:cNvPr id="12" name="" descr="????????????????PPT"/>
          <p:cNvPicPr>
            <a:picLocks xmlns:a="http://schemas.openxmlformats.org/drawingml/2006/main" noChangeAspect="1"/>
          </p:cNvPicPr>
          <p:nvPr/>
        </p:nvPicPr>
        <p:blipFill>
          <a:blip xmlns:r="http://schemas.openxmlformats.org/officeDocument/2006/relationships" xmlns:a="http://schemas.openxmlformats.org/drawingml/2006/main" r:embed="Rbcc088ff373b4980"/>
          <a:stretch xmlns:a="http://schemas.openxmlformats.org/drawingml/2006/main"/>
        </p:blipFill>
        <p:spPr>
          <a:xfrm xmlns:a="http://schemas.openxmlformats.org/drawingml/2006/main">
            <a:off x="647700" y="2191195"/>
            <a:ext cx="2857500" cy="218986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4128740-C364-4385-97A7-DE4395DEB191}"/>
              </a:ext>
            </a:extLst>
          </p:cNvPr>
          <p:cNvSpPr>
            <a:spLocks xmlns:a="http://schemas.openxmlformats.org/drawingml/2006/main" noGrp="1"/>
          </p:cNvSpPr>
          <p:nvPr/>
        </p:nvSpPr>
        <p:spPr>
          <a:xfrm xmlns:a="http://schemas.openxmlformats.org/drawingml/2006/main">
            <a:off x="647700" y="446722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空间布局</a:t>
            </a:r>
          </a:p>
        </p:txBody>
      </p:sp>
      <p:sp>
        <p:nvSpPr>
          <p:cNvPr id="14" name="">
            <a:extLst xmlns:a="http://schemas.openxmlformats.org/drawingml/2006/main">
              <a:ext uri="{FF2B5EF4-FFF2-40B4-BE49-F238E27FC236}">
                <a16:creationId xmlns:a16="http://schemas.microsoft.com/office/drawing/2014/main" id="{723DE57E-88F2-4A1C-96BC-2BBC9AD2FF61}"/>
              </a:ext>
            </a:extLst>
          </p:cNvPr>
          <p:cNvSpPr>
            <a:spLocks xmlns:a="http://schemas.openxmlformats.org/drawingml/2006/main" noGrp="1"/>
          </p:cNvSpPr>
          <p:nvPr/>
        </p:nvSpPr>
        <p:spPr>
          <a:xfrm xmlns:a="http://schemas.openxmlformats.org/drawingml/2006/main">
            <a:off x="3848100" y="1600200"/>
            <a:ext cx="3162300" cy="268605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FF7A1A"/>
            </a:solidFill>
            <a:prstDash val="solid"/>
          </a:ln>
        </p:spPr>
      </p:sp>
      <p:pic>
        <p:nvPicPr>
          <p:cNvPr id="15" name="" descr="????????????????PPT"/>
          <p:cNvPicPr>
            <a:picLocks xmlns:a="http://schemas.openxmlformats.org/drawingml/2006/main" noChangeAspect="1"/>
          </p:cNvPicPr>
          <p:nvPr/>
        </p:nvPicPr>
        <p:blipFill>
          <a:blip xmlns:r="http://schemas.openxmlformats.org/officeDocument/2006/relationships" xmlns:a="http://schemas.openxmlformats.org/drawingml/2006/main" r:embed="Rab7b451869c341f9"/>
          <a:stretch xmlns:a="http://schemas.openxmlformats.org/drawingml/2006/main"/>
        </p:blipFill>
        <p:spPr>
          <a:xfrm xmlns:a="http://schemas.openxmlformats.org/drawingml/2006/main">
            <a:off x="4011351" y="1657350"/>
            <a:ext cx="2835797" cy="25717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F852939-8522-4C07-895A-5AA9E5014BF3}"/>
              </a:ext>
            </a:extLst>
          </p:cNvPr>
          <p:cNvSpPr>
            <a:spLocks xmlns:a="http://schemas.openxmlformats.org/drawingml/2006/main" noGrp="1"/>
          </p:cNvSpPr>
          <p:nvPr/>
        </p:nvSpPr>
        <p:spPr>
          <a:xfrm xmlns:a="http://schemas.openxmlformats.org/drawingml/2006/main">
            <a:off x="3905250" y="4314825"/>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双臂整体</a:t>
            </a:r>
          </a:p>
        </p:txBody>
      </p:sp>
      <p:sp>
        <p:nvSpPr>
          <p:cNvPr id="17" name="">
            <a:extLst xmlns:a="http://schemas.openxmlformats.org/drawingml/2006/main">
              <a:ext uri="{FF2B5EF4-FFF2-40B4-BE49-F238E27FC236}">
                <a16:creationId xmlns:a16="http://schemas.microsoft.com/office/drawing/2014/main" id="{5BA53C86-FBC2-4A69-9D12-CE0382E12874}"/>
              </a:ext>
            </a:extLst>
          </p:cNvPr>
          <p:cNvSpPr>
            <a:spLocks xmlns:a="http://schemas.openxmlformats.org/drawingml/2006/main" noGrp="1"/>
          </p:cNvSpPr>
          <p:nvPr/>
        </p:nvSpPr>
        <p:spPr>
          <a:xfrm xmlns:a="http://schemas.openxmlformats.org/drawingml/2006/main">
            <a:off x="7277100" y="2324100"/>
            <a:ext cx="2019300" cy="211455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2B4768"/>
            </a:solidFill>
            <a:prstDash val="solid"/>
          </a:ln>
        </p:spPr>
      </p:sp>
      <p:pic>
        <p:nvPicPr>
          <p:cNvPr id="18" name="" descr="????????????????PPT"/>
          <p:cNvPicPr>
            <a:picLocks xmlns:a="http://schemas.openxmlformats.org/drawingml/2006/main" noChangeAspect="1"/>
          </p:cNvPicPr>
          <p:nvPr/>
        </p:nvPicPr>
        <p:blipFill>
          <a:blip xmlns:r="http://schemas.openxmlformats.org/officeDocument/2006/relationships" xmlns:a="http://schemas.openxmlformats.org/drawingml/2006/main" r:embed="Reedf08fe8985494f"/>
          <a:stretch xmlns:a="http://schemas.openxmlformats.org/drawingml/2006/main"/>
        </p:blipFill>
        <p:spPr>
          <a:xfrm xmlns:a="http://schemas.openxmlformats.org/drawingml/2006/main">
            <a:off x="7334250" y="2435983"/>
            <a:ext cx="1905000" cy="1890784"/>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80F0C65D-E6B8-4AA8-917C-F303CFCDF269}"/>
              </a:ext>
            </a:extLst>
          </p:cNvPr>
          <p:cNvSpPr>
            <a:spLocks xmlns:a="http://schemas.openxmlformats.org/drawingml/2006/main" noGrp="1"/>
          </p:cNvSpPr>
          <p:nvPr/>
        </p:nvSpPr>
        <p:spPr>
          <a:xfrm xmlns:a="http://schemas.openxmlformats.org/drawingml/2006/main">
            <a:off x="7334250" y="4467225"/>
            <a:ext cx="1905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关节标注</a:t>
            </a:r>
          </a:p>
        </p:txBody>
      </p:sp>
      <p:sp>
        <p:nvSpPr>
          <p:cNvPr id="20" name="">
            <a:extLst xmlns:a="http://schemas.openxmlformats.org/drawingml/2006/main">
              <a:ext uri="{FF2B5EF4-FFF2-40B4-BE49-F238E27FC236}">
                <a16:creationId xmlns:a16="http://schemas.microsoft.com/office/drawing/2014/main" id="{F57EC07E-88FB-4F5E-8914-AE6F6D8B5BBB}"/>
              </a:ext>
            </a:extLst>
          </p:cNvPr>
          <p:cNvSpPr>
            <a:spLocks xmlns:a="http://schemas.openxmlformats.org/drawingml/2006/main" noGrp="1"/>
          </p:cNvSpPr>
          <p:nvPr/>
        </p:nvSpPr>
        <p:spPr>
          <a:xfrm xmlns:a="http://schemas.openxmlformats.org/drawingml/2006/main">
            <a:off x="9467850" y="1466850"/>
            <a:ext cx="1924050" cy="211455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18BDF2"/>
            </a:solidFill>
            <a:prstDash val="solid"/>
          </a:ln>
        </p:spPr>
      </p:sp>
      <p:pic>
        <p:nvPicPr>
          <p:cNvPr id="21" name="" descr="????????????????PPT"/>
          <p:cNvPicPr>
            <a:picLocks xmlns:a="http://schemas.openxmlformats.org/drawingml/2006/main" noChangeAspect="1"/>
          </p:cNvPicPr>
          <p:nvPr/>
        </p:nvPicPr>
        <p:blipFill>
          <a:blip xmlns:r="http://schemas.openxmlformats.org/officeDocument/2006/relationships" xmlns:a="http://schemas.openxmlformats.org/drawingml/2006/main" r:embed="R1a298f9a8d874fb3"/>
          <a:stretch xmlns:a="http://schemas.openxmlformats.org/drawingml/2006/main"/>
        </p:blipFill>
        <p:spPr>
          <a:xfrm xmlns:a="http://schemas.openxmlformats.org/drawingml/2006/main">
            <a:off x="9525000" y="1619250"/>
            <a:ext cx="1809750" cy="18097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6D8B61C-C11C-4117-B3D5-24A4B51EB9A2}"/>
              </a:ext>
            </a:extLst>
          </p:cNvPr>
          <p:cNvSpPr>
            <a:spLocks xmlns:a="http://schemas.openxmlformats.org/drawingml/2006/main" noGrp="1"/>
          </p:cNvSpPr>
          <p:nvPr/>
        </p:nvSpPr>
        <p:spPr>
          <a:xfrm xmlns:a="http://schemas.openxmlformats.org/drawingml/2006/main">
            <a:off x="9525000" y="3609975"/>
            <a:ext cx="1809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MATLAB轨迹</a:t>
            </a:r>
          </a:p>
        </p:txBody>
      </p:sp>
      <p:sp>
        <p:nvSpPr>
          <p:cNvPr id="23" name="">
            <a:extLst xmlns:a="http://schemas.openxmlformats.org/drawingml/2006/main">
              <a:ext uri="{FF2B5EF4-FFF2-40B4-BE49-F238E27FC236}">
                <a16:creationId xmlns:a16="http://schemas.microsoft.com/office/drawing/2014/main" id="{0F6F7BFF-730C-47FD-BEB3-A9494EACC44B}"/>
              </a:ext>
            </a:extLst>
          </p:cNvPr>
          <p:cNvSpPr>
            <a:spLocks xmlns:a="http://schemas.openxmlformats.org/drawingml/2006/main" noGrp="1"/>
          </p:cNvSpPr>
          <p:nvPr/>
        </p:nvSpPr>
        <p:spPr>
          <a:xfrm xmlns:a="http://schemas.openxmlformats.org/drawingml/2006/main">
            <a:off x="1238250" y="4953000"/>
            <a:ext cx="2762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构型</a:t>
            </a:r>
          </a:p>
        </p:txBody>
      </p:sp>
      <p:sp>
        <p:nvSpPr>
          <p:cNvPr id="24" name="">
            <a:extLst xmlns:a="http://schemas.openxmlformats.org/drawingml/2006/main">
              <a:ext uri="{FF2B5EF4-FFF2-40B4-BE49-F238E27FC236}">
                <a16:creationId xmlns:a16="http://schemas.microsoft.com/office/drawing/2014/main" id="{5AFD1DD1-E1D3-47BD-B228-AB2A01FD94F8}"/>
              </a:ext>
            </a:extLst>
          </p:cNvPr>
          <p:cNvSpPr>
            <a:spLocks xmlns:a="http://schemas.openxmlformats.org/drawingml/2006/main" noGrp="1"/>
          </p:cNvSpPr>
          <p:nvPr/>
        </p:nvSpPr>
        <p:spPr>
          <a:xfrm xmlns:a="http://schemas.openxmlformats.org/drawingml/2006/main">
            <a:off x="1238250" y="5353050"/>
            <a:ext cx="704850" cy="19050"/>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6BF999D7-7DAD-414F-BA06-5621AC9925EE}"/>
              </a:ext>
            </a:extLst>
          </p:cNvPr>
          <p:cNvSpPr>
            <a:spLocks xmlns:a="http://schemas.openxmlformats.org/drawingml/2006/main" noGrp="1"/>
          </p:cNvSpPr>
          <p:nvPr/>
        </p:nvSpPr>
        <p:spPr>
          <a:xfrm xmlns:a="http://schemas.openxmlformats.org/drawingml/2006/main">
            <a:off x="1238250" y="5505450"/>
            <a:ext cx="27622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9B6C8"/>
                </a:solidFill>
                <a:latin typeface="Microsoft YaHei"/>
                <a:ea typeface="Microsoft YaHei"/>
                <a:cs typeface="Microsoft YaHei"/>
              </a:defRPr>
            </a:pPr>
            <a:r>
              <a:rPr sz="1125" b="0">
                <a:solidFill>
                  <a:srgbClr val="A9B6C8"/>
                </a:solidFill>
                <a:latin typeface="Microsoft YaHei"/>
                <a:ea typeface="Microsoft YaHei"/>
                <a:cs typeface="Microsoft YaHei"/>
              </a:rPr>
              <a:t>尺寸约束下完成双臂空间布局优化与图纸绘制。</a:t>
            </a:r>
          </a:p>
        </p:txBody>
      </p:sp>
      <p:sp>
        <p:nvSpPr>
          <p:cNvPr id="26" name="">
            <a:extLst xmlns:a="http://schemas.openxmlformats.org/drawingml/2006/main">
              <a:ext uri="{FF2B5EF4-FFF2-40B4-BE49-F238E27FC236}">
                <a16:creationId xmlns:a16="http://schemas.microsoft.com/office/drawing/2014/main" id="{0D3E79C0-F3E1-4DA9-A899-59E20B4A29AA}"/>
              </a:ext>
            </a:extLst>
          </p:cNvPr>
          <p:cNvSpPr>
            <a:spLocks xmlns:a="http://schemas.openxmlformats.org/drawingml/2006/main" noGrp="1"/>
          </p:cNvSpPr>
          <p:nvPr/>
        </p:nvSpPr>
        <p:spPr>
          <a:xfrm xmlns:a="http://schemas.openxmlformats.org/drawingml/2006/main">
            <a:off x="4762500" y="5048250"/>
            <a:ext cx="3143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轨迹</a:t>
            </a:r>
          </a:p>
        </p:txBody>
      </p:sp>
      <p:sp>
        <p:nvSpPr>
          <p:cNvPr id="27" name="">
            <a:extLst xmlns:a="http://schemas.openxmlformats.org/drawingml/2006/main">
              <a:ext uri="{FF2B5EF4-FFF2-40B4-BE49-F238E27FC236}">
                <a16:creationId xmlns:a16="http://schemas.microsoft.com/office/drawing/2014/main" id="{F7E4C65B-4179-4284-B54E-F36A9E4D2164}"/>
              </a:ext>
            </a:extLst>
          </p:cNvPr>
          <p:cNvSpPr>
            <a:spLocks xmlns:a="http://schemas.openxmlformats.org/drawingml/2006/main" noGrp="1"/>
          </p:cNvSpPr>
          <p:nvPr/>
        </p:nvSpPr>
        <p:spPr>
          <a:xfrm xmlns:a="http://schemas.openxmlformats.org/drawingml/2006/main">
            <a:off x="4762500" y="5448300"/>
            <a:ext cx="704850" cy="190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A970C829-0C8E-42C2-A003-F78D150AFD94}"/>
              </a:ext>
            </a:extLst>
          </p:cNvPr>
          <p:cNvSpPr>
            <a:spLocks xmlns:a="http://schemas.openxmlformats.org/drawingml/2006/main" noGrp="1"/>
          </p:cNvSpPr>
          <p:nvPr/>
        </p:nvSpPr>
        <p:spPr>
          <a:xfrm xmlns:a="http://schemas.openxmlformats.org/drawingml/2006/main">
            <a:off x="4762500" y="5600700"/>
            <a:ext cx="31432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9B6C8"/>
                </a:solidFill>
                <a:latin typeface="Microsoft YaHei"/>
                <a:ea typeface="Microsoft YaHei"/>
                <a:cs typeface="Microsoft YaHei"/>
              </a:defRPr>
            </a:pPr>
            <a:r>
              <a:rPr sz="1125" b="0">
                <a:solidFill>
                  <a:srgbClr val="A9B6C8"/>
                </a:solidFill>
                <a:latin typeface="Microsoft YaHei"/>
                <a:ea typeface="Microsoft YaHei"/>
                <a:cs typeface="Microsoft YaHei"/>
              </a:rPr>
              <a:t>完成核心装配动作连续轨迹规划与平滑性验证。</a:t>
            </a:r>
          </a:p>
        </p:txBody>
      </p:sp>
      <p:sp>
        <p:nvSpPr>
          <p:cNvPr id="29" name="">
            <a:extLst xmlns:a="http://schemas.openxmlformats.org/drawingml/2006/main">
              <a:ext uri="{FF2B5EF4-FFF2-40B4-BE49-F238E27FC236}">
                <a16:creationId xmlns:a16="http://schemas.microsoft.com/office/drawing/2014/main" id="{1216E347-ED9C-454A-925B-1720849C2663}"/>
              </a:ext>
            </a:extLst>
          </p:cNvPr>
          <p:cNvSpPr>
            <a:spLocks xmlns:a="http://schemas.openxmlformats.org/drawingml/2006/main" noGrp="1"/>
          </p:cNvSpPr>
          <p:nvPr/>
        </p:nvSpPr>
        <p:spPr>
          <a:xfrm xmlns:a="http://schemas.openxmlformats.org/drawingml/2006/main">
            <a:off x="8572500" y="4857750"/>
            <a:ext cx="238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落地</a:t>
            </a:r>
          </a:p>
        </p:txBody>
      </p:sp>
      <p:sp>
        <p:nvSpPr>
          <p:cNvPr id="30" name="">
            <a:extLst xmlns:a="http://schemas.openxmlformats.org/drawingml/2006/main">
              <a:ext uri="{FF2B5EF4-FFF2-40B4-BE49-F238E27FC236}">
                <a16:creationId xmlns:a16="http://schemas.microsoft.com/office/drawing/2014/main" id="{E11E5ACA-734E-4BD7-8318-A53C8A7B7557}"/>
              </a:ext>
            </a:extLst>
          </p:cNvPr>
          <p:cNvSpPr>
            <a:spLocks xmlns:a="http://schemas.openxmlformats.org/drawingml/2006/main" noGrp="1"/>
          </p:cNvSpPr>
          <p:nvPr/>
        </p:nvSpPr>
        <p:spPr>
          <a:xfrm xmlns:a="http://schemas.openxmlformats.org/drawingml/2006/main">
            <a:off x="8572500" y="5257800"/>
            <a:ext cx="704850" cy="19050"/>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26F95F1A-0982-4ED3-BC48-B907706EA350}"/>
              </a:ext>
            </a:extLst>
          </p:cNvPr>
          <p:cNvSpPr>
            <a:spLocks xmlns:a="http://schemas.openxmlformats.org/drawingml/2006/main" noGrp="1"/>
          </p:cNvSpPr>
          <p:nvPr/>
        </p:nvSpPr>
        <p:spPr>
          <a:xfrm xmlns:a="http://schemas.openxmlformats.org/drawingml/2006/main">
            <a:off x="8572500" y="5410200"/>
            <a:ext cx="23812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9B6C8"/>
                </a:solidFill>
                <a:latin typeface="Microsoft YaHei"/>
                <a:ea typeface="Microsoft YaHei"/>
                <a:cs typeface="Microsoft YaHei"/>
              </a:defRPr>
            </a:pPr>
            <a:r>
              <a:rPr sz="1125" b="0">
                <a:solidFill>
                  <a:srgbClr val="A9B6C8"/>
                </a:solidFill>
                <a:latin typeface="Microsoft YaHei"/>
                <a:ea typeface="Microsoft YaHei"/>
                <a:cs typeface="Microsoft YaHei"/>
              </a:rPr>
              <a:t>为实车双臂联调扫清理论障碍。</a:t>
            </a:r>
          </a:p>
        </p:txBody>
      </p:sp>
    </p:spTree>
    <p:extLst>
      <p:ext uri="{BB962C8B-B14F-4D97-AF65-F5344CB8AC3E}">
        <p14:creationId xmlns:p14="http://schemas.microsoft.com/office/powerpoint/2010/main" val="1697239878"/>
      </p:ext>
    </p:extLst>
  </p:cSld>
  <p:transition advClick="1">
    <p:fade/>
  </p:transition>
  <p:timing>
    <p:tnLst>
      <p:par>
        <p:cTn id="1" dur="indefinite" restart="never" nodeType="tmRoot">
          <p:childTnLst>
            <p:seq concurrent="1" nextAc="seek">
              <p:cTn id="2" dur="indefinite" nodeType="mainSeq">
                <p:childTnLst>
                  <p:par>
                    <p:cTn id="8"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FC0060-B10A-4BA8-9F09-303FBCE1C65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EA39F7E-10AB-407A-9AE8-E49B47FF51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alpha val="94118"/>
            </a:srgbClr>
          </a:solidFill>
          <a:ln xmlns:a="http://schemas.openxmlformats.org/drawingml/2006/main" w="0">
            <a:solidFill>
              <a:srgbClr val="000000">
                <a:alpha val="0"/>
              </a:srgbClr>
            </a:solidFill>
            <a:prstDash val="solid"/>
          </a:ln>
        </p:spPr>
      </p:sp>
      <p:pic>
        <p:nvPicPr>
          <p:cNvPr id="3" name="" descr="????????????????PPT"/>
          <p:cNvPicPr>
            <a:picLocks xmlns:a="http://schemas.openxmlformats.org/drawingml/2006/main" noChangeAspect="1"/>
          </p:cNvPicPr>
          <p:nvPr/>
        </p:nvPicPr>
        <p:blipFill>
          <a:blip xmlns:r="http://schemas.openxmlformats.org/officeDocument/2006/relationships" xmlns:a="http://schemas.openxmlformats.org/drawingml/2006/main" r:embed="R9b97f95edc824d4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DE12744-124E-4998-816F-DD66B4136B2A}"/>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50B13">
              <a:alpha val="90980"/>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68DAEA7-0175-40C3-B988-3CCB978C0B99}"/>
              </a:ext>
            </a:extLst>
          </p:cNvPr>
          <p:cNvSpPr>
            <a:spLocks xmlns:a="http://schemas.openxmlformats.org/drawingml/2006/main" noGrp="1"/>
          </p:cNvSpPr>
          <p:nvPr/>
        </p:nvSpPr>
        <p:spPr>
          <a:xfrm xmlns:a="http://schemas.openxmlformats.org/drawingml/2006/main">
            <a:off x="0" y="6438900"/>
            <a:ext cx="12192000" cy="28575"/>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CAF3A62-9C48-4101-80B3-5713BDEEB855}"/>
              </a:ext>
            </a:extLst>
          </p:cNvPr>
          <p:cNvSpPr>
            <a:spLocks xmlns:a="http://schemas.openxmlformats.org/drawingml/2006/main" noGrp="1"/>
          </p:cNvSpPr>
          <p:nvPr/>
        </p:nvSpPr>
        <p:spPr>
          <a:xfrm xmlns:a="http://schemas.openxmlformats.org/drawingml/2006/main">
            <a:off x="533400" y="6562725"/>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双机械臂协作与力控制器系统 | 暑期社会实践汇报</a:t>
            </a:r>
          </a:p>
        </p:txBody>
      </p:sp>
      <p:sp>
        <p:nvSpPr>
          <p:cNvPr id="7" name="">
            <a:extLst xmlns:a="http://schemas.openxmlformats.org/drawingml/2006/main">
              <a:ext uri="{FF2B5EF4-FFF2-40B4-BE49-F238E27FC236}">
                <a16:creationId xmlns:a16="http://schemas.microsoft.com/office/drawing/2014/main" id="{F9E16B54-C67C-4A45-9335-ADC2DF89338E}"/>
              </a:ext>
            </a:extLst>
          </p:cNvPr>
          <p:cNvSpPr>
            <a:spLocks xmlns:a="http://schemas.openxmlformats.org/drawingml/2006/main" noGrp="1"/>
          </p:cNvSpPr>
          <p:nvPr/>
        </p:nvSpPr>
        <p:spPr>
          <a:xfrm xmlns:a="http://schemas.openxmlformats.org/drawingml/2006/main">
            <a:off x="11239500" y="65627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DE3FF"/>
                </a:solidFill>
                <a:latin typeface="Microsoft YaHei"/>
                <a:ea typeface="Microsoft YaHei"/>
                <a:cs typeface="Microsoft YaHei"/>
              </a:defRPr>
            </a:pPr>
            <a:r>
              <a:rPr sz="900" b="0">
                <a:solidFill>
                  <a:srgbClr val="7DE3FF"/>
                </a:solidFill>
                <a:latin typeface="Microsoft YaHei"/>
                <a:ea typeface="Microsoft YaHei"/>
                <a:cs typeface="Microsoft YaHei"/>
              </a:rPr>
              <a:t>07</a:t>
            </a:r>
          </a:p>
        </p:txBody>
      </p:sp>
      <p:sp>
        <p:nvSpPr>
          <p:cNvPr id="8" name="kicker-7-marker">
            <a:extLst xmlns:a="http://schemas.openxmlformats.org/drawingml/2006/main">
              <a:ext uri="{FF2B5EF4-FFF2-40B4-BE49-F238E27FC236}">
                <a16:creationId xmlns:a16="http://schemas.microsoft.com/office/drawing/2014/main" id="{F86054F2-35A7-4346-B354-CD807E7EE1B7}"/>
              </a:ext>
            </a:extLst>
          </p:cNvPr>
          <p:cNvSpPr>
            <a:spLocks xmlns:a="http://schemas.openxmlformats.org/drawingml/2006/main" noGrp="1"/>
          </p:cNvSpPr>
          <p:nvPr/>
        </p:nvSpPr>
        <p:spPr>
          <a:xfrm xmlns:a="http://schemas.openxmlformats.org/drawingml/2006/main">
            <a:off x="552450" y="552450"/>
            <a:ext cx="66675" cy="2857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9" name="kicker-7-label">
            <a:extLst xmlns:a="http://schemas.openxmlformats.org/drawingml/2006/main">
              <a:ext uri="{FF2B5EF4-FFF2-40B4-BE49-F238E27FC236}">
                <a16:creationId xmlns:a16="http://schemas.microsoft.com/office/drawing/2014/main" id="{268C7595-5DD6-4B10-AD5E-78B46C4FD622}"/>
              </a:ext>
            </a:extLst>
          </p:cNvPr>
          <p:cNvSpPr>
            <a:spLocks xmlns:a="http://schemas.openxmlformats.org/drawingml/2006/main" noGrp="1"/>
          </p:cNvSpPr>
          <p:nvPr/>
        </p:nvSpPr>
        <p:spPr>
          <a:xfrm xmlns:a="http://schemas.openxmlformats.org/drawingml/2006/main">
            <a:off x="742950" y="514350"/>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7DE3FF"/>
                </a:solidFill>
                <a:latin typeface="Microsoft YaHei"/>
                <a:ea typeface="Microsoft YaHei"/>
                <a:cs typeface="Microsoft YaHei"/>
              </a:defRPr>
            </a:pPr>
            <a:r>
              <a:rPr sz="1125" b="1">
                <a:solidFill>
                  <a:srgbClr val="7DE3FF"/>
                </a:solidFill>
                <a:latin typeface="Microsoft YaHei"/>
                <a:ea typeface="Microsoft YaHei"/>
                <a:cs typeface="Microsoft YaHei"/>
              </a:rPr>
              <a:t>END-EFFECTOR ITERATION</a:t>
            </a:r>
          </a:p>
        </p:txBody>
      </p:sp>
      <p:sp>
        <p:nvSpPr>
          <p:cNvPr id="10" name="anim-title-7">
            <a:extLst xmlns:a="http://schemas.openxmlformats.org/drawingml/2006/main">
              <a:ext uri="{FF2B5EF4-FFF2-40B4-BE49-F238E27FC236}">
                <a16:creationId xmlns:a16="http://schemas.microsoft.com/office/drawing/2014/main" id="{6ED308B1-A413-4A0C-BDB6-FAB5CE8F8CA9}"/>
              </a:ext>
            </a:extLst>
          </p:cNvPr>
          <p:cNvSpPr>
            <a:spLocks xmlns:a="http://schemas.openxmlformats.org/drawingml/2006/main" noGrp="1"/>
          </p:cNvSpPr>
          <p:nvPr/>
        </p:nvSpPr>
        <p:spPr>
          <a:xfrm xmlns:a="http://schemas.openxmlformats.org/drawingml/2006/main">
            <a:off x="552450" y="914400"/>
            <a:ext cx="6477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8FBFF"/>
                </a:solidFill>
                <a:latin typeface="Microsoft YaHei UI"/>
                <a:ea typeface="Microsoft YaHei UI"/>
                <a:cs typeface="Microsoft YaHei UI"/>
              </a:defRPr>
            </a:pPr>
            <a:r>
              <a:rPr sz="3000" b="1">
                <a:solidFill>
                  <a:srgbClr val="F8FBFF"/>
                </a:solidFill>
                <a:latin typeface="Microsoft YaHei UI"/>
                <a:ea typeface="Microsoft YaHei UI"/>
                <a:cs typeface="Microsoft YaHei UI"/>
              </a:rPr>
              <a:t>夹爪从“能抓”，走到“抓得稳”。</a:t>
            </a:r>
          </a:p>
        </p:txBody>
      </p:sp>
      <p:sp>
        <p:nvSpPr>
          <p:cNvPr id="11" name="">
            <a:extLst xmlns:a="http://schemas.openxmlformats.org/drawingml/2006/main">
              <a:ext uri="{FF2B5EF4-FFF2-40B4-BE49-F238E27FC236}">
                <a16:creationId xmlns:a16="http://schemas.microsoft.com/office/drawing/2014/main" id="{BE91DED4-B5B7-45F1-BA3B-38A292D7D0B1}"/>
              </a:ext>
            </a:extLst>
          </p:cNvPr>
          <p:cNvSpPr>
            <a:spLocks xmlns:a="http://schemas.openxmlformats.org/drawingml/2006/main" noGrp="1"/>
          </p:cNvSpPr>
          <p:nvPr/>
        </p:nvSpPr>
        <p:spPr>
          <a:xfrm xmlns:a="http://schemas.openxmlformats.org/drawingml/2006/main">
            <a:off x="666750" y="2324100"/>
            <a:ext cx="1685925" cy="220980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2B4768"/>
            </a:solidFill>
            <a:prstDash val="solid"/>
          </a:ln>
        </p:spPr>
      </p:sp>
      <p:pic>
        <p:nvPicPr>
          <p:cNvPr id="12" name="" descr="????????????????PPT"/>
          <p:cNvPicPr>
            <a:picLocks xmlns:a="http://schemas.openxmlformats.org/drawingml/2006/main" noChangeAspect="1"/>
          </p:cNvPicPr>
          <p:nvPr/>
        </p:nvPicPr>
        <p:blipFill>
          <a:blip xmlns:r="http://schemas.openxmlformats.org/officeDocument/2006/relationships" xmlns:a="http://schemas.openxmlformats.org/drawingml/2006/main" r:embed="Rc4cfd41a58f443f6"/>
          <a:stretch xmlns:a="http://schemas.openxmlformats.org/drawingml/2006/main"/>
        </p:blipFill>
        <p:spPr>
          <a:xfrm xmlns:a="http://schemas.openxmlformats.org/drawingml/2006/main">
            <a:off x="723900" y="2381250"/>
            <a:ext cx="1571625" cy="20955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F37CAD2-8729-4B36-A530-D128927F84CD}"/>
              </a:ext>
            </a:extLst>
          </p:cNvPr>
          <p:cNvSpPr>
            <a:spLocks xmlns:a="http://schemas.openxmlformats.org/drawingml/2006/main" noGrp="1"/>
          </p:cNvSpPr>
          <p:nvPr/>
        </p:nvSpPr>
        <p:spPr>
          <a:xfrm xmlns:a="http://schemas.openxmlformats.org/drawingml/2006/main">
            <a:off x="723900" y="4562475"/>
            <a:ext cx="15716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V1 实物</a:t>
            </a:r>
          </a:p>
        </p:txBody>
      </p:sp>
      <p:sp>
        <p:nvSpPr>
          <p:cNvPr id="14" name="">
            <a:extLst xmlns:a="http://schemas.openxmlformats.org/drawingml/2006/main">
              <a:ext uri="{FF2B5EF4-FFF2-40B4-BE49-F238E27FC236}">
                <a16:creationId xmlns:a16="http://schemas.microsoft.com/office/drawing/2014/main" id="{FAFD920F-1107-4ACB-AE60-B495B7ADF348}"/>
              </a:ext>
            </a:extLst>
          </p:cNvPr>
          <p:cNvSpPr>
            <a:spLocks xmlns:a="http://schemas.openxmlformats.org/drawingml/2006/main" noGrp="1"/>
          </p:cNvSpPr>
          <p:nvPr/>
        </p:nvSpPr>
        <p:spPr>
          <a:xfrm xmlns:a="http://schemas.openxmlformats.org/drawingml/2006/main">
            <a:off x="2800350" y="1905000"/>
            <a:ext cx="1876425" cy="241935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18BDF2"/>
            </a:solidFill>
            <a:prstDash val="solid"/>
          </a:ln>
        </p:spPr>
      </p:sp>
      <p:pic>
        <p:nvPicPr>
          <p:cNvPr id="15" name="" descr="????????????????PPT"/>
          <p:cNvPicPr>
            <a:picLocks xmlns:a="http://schemas.openxmlformats.org/drawingml/2006/main" noChangeAspect="1"/>
          </p:cNvPicPr>
          <p:nvPr/>
        </p:nvPicPr>
        <p:blipFill>
          <a:blip xmlns:r="http://schemas.openxmlformats.org/officeDocument/2006/relationships" xmlns:a="http://schemas.openxmlformats.org/drawingml/2006/main" r:embed="R4db4c0c541d54f80"/>
          <a:stretch xmlns:a="http://schemas.openxmlformats.org/drawingml/2006/main"/>
        </p:blipFill>
        <p:spPr>
          <a:xfrm xmlns:a="http://schemas.openxmlformats.org/drawingml/2006/main">
            <a:off x="2874169" y="1962150"/>
            <a:ext cx="1728788" cy="23050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BEDCBCD-3C4D-4692-9607-464993B52D9C}"/>
              </a:ext>
            </a:extLst>
          </p:cNvPr>
          <p:cNvSpPr>
            <a:spLocks xmlns:a="http://schemas.openxmlformats.org/drawingml/2006/main" noGrp="1"/>
          </p:cNvSpPr>
          <p:nvPr/>
        </p:nvSpPr>
        <p:spPr>
          <a:xfrm xmlns:a="http://schemas.openxmlformats.org/drawingml/2006/main">
            <a:off x="2857500" y="4352925"/>
            <a:ext cx="1762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V2 实物</a:t>
            </a:r>
          </a:p>
        </p:txBody>
      </p:sp>
      <p:sp>
        <p:nvSpPr>
          <p:cNvPr id="17" name="">
            <a:extLst xmlns:a="http://schemas.openxmlformats.org/drawingml/2006/main">
              <a:ext uri="{FF2B5EF4-FFF2-40B4-BE49-F238E27FC236}">
                <a16:creationId xmlns:a16="http://schemas.microsoft.com/office/drawing/2014/main" id="{A78810D8-2FE2-400D-BB09-FBA7B3455E19}"/>
              </a:ext>
            </a:extLst>
          </p:cNvPr>
          <p:cNvSpPr>
            <a:spLocks xmlns:a="http://schemas.openxmlformats.org/drawingml/2006/main" noGrp="1"/>
          </p:cNvSpPr>
          <p:nvPr/>
        </p:nvSpPr>
        <p:spPr>
          <a:xfrm xmlns:a="http://schemas.openxmlformats.org/drawingml/2006/main">
            <a:off x="5162550" y="2457450"/>
            <a:ext cx="1752600" cy="228600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2B4768"/>
            </a:solidFill>
            <a:prstDash val="solid"/>
          </a:ln>
        </p:spPr>
      </p:sp>
      <p:pic>
        <p:nvPicPr>
          <p:cNvPr id="18" name="" descr="????????????????PPT"/>
          <p:cNvPicPr>
            <a:picLocks xmlns:a="http://schemas.openxmlformats.org/drawingml/2006/main" noChangeAspect="1"/>
          </p:cNvPicPr>
          <p:nvPr/>
        </p:nvPicPr>
        <p:blipFill>
          <a:blip xmlns:r="http://schemas.openxmlformats.org/officeDocument/2006/relationships" xmlns:a="http://schemas.openxmlformats.org/drawingml/2006/main" r:embed="R92548a43f2724bc6"/>
          <a:stretch xmlns:a="http://schemas.openxmlformats.org/drawingml/2006/main"/>
        </p:blipFill>
        <p:spPr>
          <a:xfrm xmlns:a="http://schemas.openxmlformats.org/drawingml/2006/main">
            <a:off x="5224463" y="2514600"/>
            <a:ext cx="1628775" cy="21717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21496D97-7B11-43E1-A886-C4618D7EFEDC}"/>
              </a:ext>
            </a:extLst>
          </p:cNvPr>
          <p:cNvSpPr>
            <a:spLocks xmlns:a="http://schemas.openxmlformats.org/drawingml/2006/main" noGrp="1"/>
          </p:cNvSpPr>
          <p:nvPr/>
        </p:nvSpPr>
        <p:spPr>
          <a:xfrm xmlns:a="http://schemas.openxmlformats.org/drawingml/2006/main">
            <a:off x="5219700" y="4772025"/>
            <a:ext cx="1638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V3 方案</a:t>
            </a:r>
          </a:p>
        </p:txBody>
      </p:sp>
      <p:sp>
        <p:nvSpPr>
          <p:cNvPr id="20" name="">
            <a:extLst xmlns:a="http://schemas.openxmlformats.org/drawingml/2006/main">
              <a:ext uri="{FF2B5EF4-FFF2-40B4-BE49-F238E27FC236}">
                <a16:creationId xmlns:a16="http://schemas.microsoft.com/office/drawing/2014/main" id="{A23BA841-6F74-41CB-B930-BDD94CB69E8E}"/>
              </a:ext>
            </a:extLst>
          </p:cNvPr>
          <p:cNvSpPr>
            <a:spLocks xmlns:a="http://schemas.openxmlformats.org/drawingml/2006/main" noGrp="1"/>
          </p:cNvSpPr>
          <p:nvPr/>
        </p:nvSpPr>
        <p:spPr>
          <a:xfrm xmlns:a="http://schemas.openxmlformats.org/drawingml/2006/main">
            <a:off x="7753350" y="1447800"/>
            <a:ext cx="2781300" cy="297180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FF7A1A"/>
            </a:solidFill>
            <a:prstDash val="solid"/>
          </a:ln>
        </p:spPr>
      </p:sp>
      <p:pic>
        <p:nvPicPr>
          <p:cNvPr id="21" name="" descr="????????????????PPT"/>
          <p:cNvPicPr>
            <a:picLocks xmlns:a="http://schemas.openxmlformats.org/drawingml/2006/main" noChangeAspect="1"/>
          </p:cNvPicPr>
          <p:nvPr/>
        </p:nvPicPr>
        <p:blipFill>
          <a:blip xmlns:r="http://schemas.openxmlformats.org/officeDocument/2006/relationships" xmlns:a="http://schemas.openxmlformats.org/drawingml/2006/main" r:embed="Rd8f3d08d548141de"/>
          <a:stretch xmlns:a="http://schemas.openxmlformats.org/drawingml/2006/main"/>
        </p:blipFill>
        <p:spPr>
          <a:xfrm xmlns:a="http://schemas.openxmlformats.org/drawingml/2006/main">
            <a:off x="7810500" y="1603501"/>
            <a:ext cx="2667000" cy="2660399"/>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CBE2DBE-5909-48E4-88F6-ABC10A280C3B}"/>
              </a:ext>
            </a:extLst>
          </p:cNvPr>
          <p:cNvSpPr>
            <a:spLocks xmlns:a="http://schemas.openxmlformats.org/drawingml/2006/main" noGrp="1"/>
          </p:cNvSpPr>
          <p:nvPr/>
        </p:nvSpPr>
        <p:spPr>
          <a:xfrm xmlns:a="http://schemas.openxmlformats.org/drawingml/2006/main">
            <a:off x="7810500" y="4448175"/>
            <a:ext cx="2667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最新刚性圆弧夹爪</a:t>
            </a:r>
          </a:p>
        </p:txBody>
      </p:sp>
      <p:sp>
        <p:nvSpPr>
          <p:cNvPr id="23" name="">
            <a:extLst xmlns:a="http://schemas.openxmlformats.org/drawingml/2006/main">
              <a:ext uri="{FF2B5EF4-FFF2-40B4-BE49-F238E27FC236}">
                <a16:creationId xmlns:a16="http://schemas.microsoft.com/office/drawing/2014/main" id="{8F2A0AEA-5E4F-4678-B249-E679140CC0AF}"/>
              </a:ext>
            </a:extLst>
          </p:cNvPr>
          <p:cNvSpPr>
            <a:spLocks xmlns:a="http://schemas.openxmlformats.org/drawingml/2006/main" noGrp="1"/>
          </p:cNvSpPr>
          <p:nvPr/>
        </p:nvSpPr>
        <p:spPr>
          <a:xfrm xmlns:a="http://schemas.openxmlformats.org/drawingml/2006/main">
            <a:off x="1104900" y="5334000"/>
            <a:ext cx="1333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7A1A"/>
                </a:solidFill>
                <a:latin typeface="Microsoft YaHei"/>
                <a:ea typeface="Microsoft YaHei"/>
                <a:cs typeface="Microsoft YaHei"/>
              </a:defRPr>
            </a:pPr>
            <a:r>
              <a:rPr sz="1350" b="1">
                <a:solidFill>
                  <a:srgbClr val="FF7A1A"/>
                </a:solidFill>
                <a:latin typeface="Microsoft YaHei"/>
                <a:ea typeface="Microsoft YaHei"/>
                <a:cs typeface="Microsoft YaHei"/>
              </a:rPr>
              <a:t>关键改进</a:t>
            </a:r>
          </a:p>
        </p:txBody>
      </p:sp>
      <p:sp>
        <p:nvSpPr>
          <p:cNvPr id="24" name="anim-proof-7">
            <a:extLst xmlns:a="http://schemas.openxmlformats.org/drawingml/2006/main">
              <a:ext uri="{FF2B5EF4-FFF2-40B4-BE49-F238E27FC236}">
                <a16:creationId xmlns:a16="http://schemas.microsoft.com/office/drawing/2014/main" id="{26F4E4CE-4561-4391-8E62-6E361E90456D}"/>
              </a:ext>
            </a:extLst>
          </p:cNvPr>
          <p:cNvSpPr>
            <a:spLocks xmlns:a="http://schemas.openxmlformats.org/drawingml/2006/main" noGrp="1"/>
          </p:cNvSpPr>
          <p:nvPr/>
        </p:nvSpPr>
        <p:spPr>
          <a:xfrm xmlns:a="http://schemas.openxmlformats.org/drawingml/2006/main">
            <a:off x="2438400" y="5286375"/>
            <a:ext cx="723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8FBFF"/>
                </a:solidFill>
                <a:latin typeface="Microsoft YaHei"/>
                <a:ea typeface="Microsoft YaHei"/>
                <a:cs typeface="Microsoft YaHei"/>
              </a:defRPr>
            </a:pPr>
            <a:r>
              <a:rPr sz="1725" b="1">
                <a:solidFill>
                  <a:srgbClr val="F8FBFF"/>
                </a:solidFill>
                <a:latin typeface="Microsoft YaHei"/>
                <a:ea typeface="Microsoft YaHei"/>
                <a:cs typeface="Microsoft YaHei"/>
              </a:rPr>
              <a:t>贴合道具形态的刚性圆弧夹持，面向复杂颠簸工况降低掉矿风险。</a:t>
            </a:r>
          </a:p>
        </p:txBody>
      </p:sp>
    </p:spTree>
    <p:extLst>
      <p:ext uri="{BB962C8B-B14F-4D97-AF65-F5344CB8AC3E}">
        <p14:creationId xmlns:p14="http://schemas.microsoft.com/office/powerpoint/2010/main" val="1677458725"/>
      </p:ext>
    </p:extLst>
  </p:cSld>
  <p:transition advClick="1">
    <p:fade/>
  </p:transition>
  <p:timing>
    <p:tnLst>
      <p:par>
        <p:cTn id="1" dur="indefinite" restart="never" nodeType="tmRoot">
          <p:childTnLst>
            <p:seq concurrent="1" nextAc="seek">
              <p:cTn id="2" dur="indefinite" nodeType="mainSeq">
                <p:childTnLst>
                  <p:par>
                    <p:cTn id="8"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par>
                    <p:cTn id="14" fill="hold">
                      <p:stCondLst>
                        <p:cond delay="0"/>
                      </p:stCondLst>
                      <p:childTnLst>
                        <p:par>
                          <p:cTn id="13" fill="hold">
                            <p:stCondLst>
                              <p:cond delay="0"/>
                            </p:stCondLst>
                            <p:childTnLst>
                              <p:par>
                                <p:cTn id="9" presetID="10" presetClass="entr" presetSubtype="0" fill="hold" grpId="1"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4" grpId="1"/>
    </p:bldLst>
  </p:timing>
</p:sld>
</file>

<file path=ppt/slides/slide8.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CE1806-E326-48A2-925E-9A24D41C1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66C0C1E-866D-4A86-996E-9A0985ED48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alpha val="94118"/>
            </a:srgbClr>
          </a:solidFill>
          <a:ln xmlns:a="http://schemas.openxmlformats.org/drawingml/2006/main" w="0">
            <a:solidFill>
              <a:srgbClr val="000000">
                <a:alpha val="0"/>
              </a:srgbClr>
            </a:solidFill>
            <a:prstDash val="solid"/>
          </a:ln>
        </p:spPr>
      </p:sp>
      <p:pic>
        <p:nvPicPr>
          <p:cNvPr id="3" name="" descr="????????????????PPT"/>
          <p:cNvPicPr>
            <a:picLocks xmlns:a="http://schemas.openxmlformats.org/drawingml/2006/main" noChangeAspect="1"/>
          </p:cNvPicPr>
          <p:nvPr/>
        </p:nvPicPr>
        <p:blipFill>
          <a:blip xmlns:r="http://schemas.openxmlformats.org/officeDocument/2006/relationships" xmlns:a="http://schemas.openxmlformats.org/drawingml/2006/main" r:embed="R265722191e5149f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E2CAC68-57AE-4504-B853-4C32E9CB3050}"/>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50B13">
              <a:alpha val="90980"/>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5A59735-0F25-422C-BE50-B426AC54EA40}"/>
              </a:ext>
            </a:extLst>
          </p:cNvPr>
          <p:cNvSpPr>
            <a:spLocks xmlns:a="http://schemas.openxmlformats.org/drawingml/2006/main" noGrp="1"/>
          </p:cNvSpPr>
          <p:nvPr/>
        </p:nvSpPr>
        <p:spPr>
          <a:xfrm xmlns:a="http://schemas.openxmlformats.org/drawingml/2006/main">
            <a:off x="0" y="6438900"/>
            <a:ext cx="12192000" cy="28575"/>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529D62B-FE95-4C11-ADD7-0BC4CCC82F60}"/>
              </a:ext>
            </a:extLst>
          </p:cNvPr>
          <p:cNvSpPr>
            <a:spLocks xmlns:a="http://schemas.openxmlformats.org/drawingml/2006/main" noGrp="1"/>
          </p:cNvSpPr>
          <p:nvPr/>
        </p:nvSpPr>
        <p:spPr>
          <a:xfrm xmlns:a="http://schemas.openxmlformats.org/drawingml/2006/main">
            <a:off x="533400" y="6562725"/>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双机械臂协作与力控制器系统 | 暑期社会实践汇报</a:t>
            </a:r>
          </a:p>
        </p:txBody>
      </p:sp>
      <p:sp>
        <p:nvSpPr>
          <p:cNvPr id="7" name="">
            <a:extLst xmlns:a="http://schemas.openxmlformats.org/drawingml/2006/main">
              <a:ext uri="{FF2B5EF4-FFF2-40B4-BE49-F238E27FC236}">
                <a16:creationId xmlns:a16="http://schemas.microsoft.com/office/drawing/2014/main" id="{6FB98626-D888-4318-8AC7-7963DC879603}"/>
              </a:ext>
            </a:extLst>
          </p:cNvPr>
          <p:cNvSpPr>
            <a:spLocks xmlns:a="http://schemas.openxmlformats.org/drawingml/2006/main" noGrp="1"/>
          </p:cNvSpPr>
          <p:nvPr/>
        </p:nvSpPr>
        <p:spPr>
          <a:xfrm xmlns:a="http://schemas.openxmlformats.org/drawingml/2006/main">
            <a:off x="11239500" y="65627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DE3FF"/>
                </a:solidFill>
                <a:latin typeface="Microsoft YaHei"/>
                <a:ea typeface="Microsoft YaHei"/>
                <a:cs typeface="Microsoft YaHei"/>
              </a:defRPr>
            </a:pPr>
            <a:r>
              <a:rPr sz="900" b="0">
                <a:solidFill>
                  <a:srgbClr val="7DE3FF"/>
                </a:solidFill>
                <a:latin typeface="Microsoft YaHei"/>
                <a:ea typeface="Microsoft YaHei"/>
                <a:cs typeface="Microsoft YaHei"/>
              </a:rPr>
              <a:t>08</a:t>
            </a:r>
          </a:p>
        </p:txBody>
      </p:sp>
      <p:sp>
        <p:nvSpPr>
          <p:cNvPr id="8" name="kicker-8-marker">
            <a:extLst xmlns:a="http://schemas.openxmlformats.org/drawingml/2006/main">
              <a:ext uri="{FF2B5EF4-FFF2-40B4-BE49-F238E27FC236}">
                <a16:creationId xmlns:a16="http://schemas.microsoft.com/office/drawing/2014/main" id="{96ED972B-6AA2-4EE2-B647-D96DFE808734}"/>
              </a:ext>
            </a:extLst>
          </p:cNvPr>
          <p:cNvSpPr>
            <a:spLocks xmlns:a="http://schemas.openxmlformats.org/drawingml/2006/main" noGrp="1"/>
          </p:cNvSpPr>
          <p:nvPr/>
        </p:nvSpPr>
        <p:spPr>
          <a:xfrm xmlns:a="http://schemas.openxmlformats.org/drawingml/2006/main">
            <a:off x="552450" y="552450"/>
            <a:ext cx="66675" cy="2857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9" name="kicker-8-label">
            <a:extLst xmlns:a="http://schemas.openxmlformats.org/drawingml/2006/main">
              <a:ext uri="{FF2B5EF4-FFF2-40B4-BE49-F238E27FC236}">
                <a16:creationId xmlns:a16="http://schemas.microsoft.com/office/drawing/2014/main" id="{9C772A36-CCC0-4BDA-84E1-1EF404C79404}"/>
              </a:ext>
            </a:extLst>
          </p:cNvPr>
          <p:cNvSpPr>
            <a:spLocks xmlns:a="http://schemas.openxmlformats.org/drawingml/2006/main" noGrp="1"/>
          </p:cNvSpPr>
          <p:nvPr/>
        </p:nvSpPr>
        <p:spPr>
          <a:xfrm xmlns:a="http://schemas.openxmlformats.org/drawingml/2006/main">
            <a:off x="742950" y="514350"/>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7DE3FF"/>
                </a:solidFill>
                <a:latin typeface="Microsoft YaHei"/>
                <a:ea typeface="Microsoft YaHei"/>
                <a:cs typeface="Microsoft YaHei"/>
              </a:defRPr>
            </a:pPr>
            <a:r>
              <a:rPr sz="1125" b="1">
                <a:solidFill>
                  <a:srgbClr val="7DE3FF"/>
                </a:solidFill>
                <a:latin typeface="Microsoft YaHei"/>
                <a:ea typeface="Microsoft YaHei"/>
                <a:cs typeface="Microsoft YaHei"/>
              </a:rPr>
              <a:t>HAPTIC CONTROL</a:t>
            </a:r>
          </a:p>
        </p:txBody>
      </p:sp>
      <p:sp>
        <p:nvSpPr>
          <p:cNvPr id="10" name="anim-title-8">
            <a:extLst xmlns:a="http://schemas.openxmlformats.org/drawingml/2006/main">
              <a:ext uri="{FF2B5EF4-FFF2-40B4-BE49-F238E27FC236}">
                <a16:creationId xmlns:a16="http://schemas.microsoft.com/office/drawing/2014/main" id="{C177E254-0B4C-4C60-BFF6-8D643B1195EE}"/>
              </a:ext>
            </a:extLst>
          </p:cNvPr>
          <p:cNvSpPr>
            <a:spLocks xmlns:a="http://schemas.openxmlformats.org/drawingml/2006/main" noGrp="1"/>
          </p:cNvSpPr>
          <p:nvPr/>
        </p:nvSpPr>
        <p:spPr>
          <a:xfrm xmlns:a="http://schemas.openxmlformats.org/drawingml/2006/main">
            <a:off x="552450" y="914400"/>
            <a:ext cx="7810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8FBFF"/>
                </a:solidFill>
                <a:latin typeface="Microsoft YaHei UI"/>
                <a:ea typeface="Microsoft YaHei UI"/>
                <a:cs typeface="Microsoft YaHei UI"/>
              </a:defRPr>
            </a:pPr>
            <a:r>
              <a:rPr sz="2850" b="1">
                <a:solidFill>
                  <a:srgbClr val="F8FBFF"/>
                </a:solidFill>
                <a:latin typeface="Microsoft YaHei UI"/>
                <a:ea typeface="Microsoft YaHei UI"/>
                <a:cs typeface="Microsoft YaHei UI"/>
              </a:rPr>
              <a:t>人机交互从“下发指令”，升级到“触感闭环”。</a:t>
            </a:r>
          </a:p>
        </p:txBody>
      </p:sp>
      <p:sp>
        <p:nvSpPr>
          <p:cNvPr id="11" name="">
            <a:extLst xmlns:a="http://schemas.openxmlformats.org/drawingml/2006/main">
              <a:ext uri="{FF2B5EF4-FFF2-40B4-BE49-F238E27FC236}">
                <a16:creationId xmlns:a16="http://schemas.microsoft.com/office/drawing/2014/main" id="{8BD9B270-7827-4510-B2D4-16C1DD63069E}"/>
              </a:ext>
            </a:extLst>
          </p:cNvPr>
          <p:cNvSpPr>
            <a:spLocks xmlns:a="http://schemas.openxmlformats.org/drawingml/2006/main" noGrp="1"/>
          </p:cNvSpPr>
          <p:nvPr/>
        </p:nvSpPr>
        <p:spPr>
          <a:xfrm xmlns:a="http://schemas.openxmlformats.org/drawingml/2006/main">
            <a:off x="5276850" y="1409700"/>
            <a:ext cx="2209800" cy="175260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2B4768"/>
            </a:solidFill>
            <a:prstDash val="solid"/>
          </a:ln>
        </p:spPr>
      </p:sp>
      <p:pic>
        <p:nvPicPr>
          <p:cNvPr id="12" name="" descr="????????????????PPT"/>
          <p:cNvPicPr>
            <a:picLocks xmlns:a="http://schemas.openxmlformats.org/drawingml/2006/main" noChangeAspect="1"/>
          </p:cNvPicPr>
          <p:nvPr/>
        </p:nvPicPr>
        <p:blipFill>
          <a:blip xmlns:r="http://schemas.openxmlformats.org/officeDocument/2006/relationships" xmlns:a="http://schemas.openxmlformats.org/drawingml/2006/main" r:embed="R096b9ebd7a664a53"/>
          <a:srcRect xmlns:a="http://schemas.openxmlformats.org/drawingml/2006/main" l="2056" t="0" r="2056" b="0"/>
          <a:stretch xmlns:a="http://schemas.openxmlformats.org/drawingml/2006/main">
            <a:fillRect l="0" t="0" r="0" b="0"/>
          </a:stretch>
        </p:blipFill>
        <p:spPr>
          <a:xfrm xmlns:a="http://schemas.openxmlformats.org/drawingml/2006/main">
            <a:off x="5334000" y="1466850"/>
            <a:ext cx="2095500" cy="16383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028F150-D667-4C5E-87A8-566BA7328978}"/>
              </a:ext>
            </a:extLst>
          </p:cNvPr>
          <p:cNvSpPr>
            <a:spLocks xmlns:a="http://schemas.openxmlformats.org/drawingml/2006/main" noGrp="1"/>
          </p:cNvSpPr>
          <p:nvPr/>
        </p:nvSpPr>
        <p:spPr>
          <a:xfrm xmlns:a="http://schemas.openxmlformats.org/drawingml/2006/main">
            <a:off x="5334000" y="3190875"/>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控制器 V1</a:t>
            </a:r>
          </a:p>
        </p:txBody>
      </p:sp>
      <p:sp>
        <p:nvSpPr>
          <p:cNvPr id="14" name="">
            <a:extLst xmlns:a="http://schemas.openxmlformats.org/drawingml/2006/main">
              <a:ext uri="{FF2B5EF4-FFF2-40B4-BE49-F238E27FC236}">
                <a16:creationId xmlns:a16="http://schemas.microsoft.com/office/drawing/2014/main" id="{7F33CAC9-38A3-42EC-8351-A5A483F2988A}"/>
              </a:ext>
            </a:extLst>
          </p:cNvPr>
          <p:cNvSpPr>
            <a:spLocks xmlns:a="http://schemas.openxmlformats.org/drawingml/2006/main" noGrp="1"/>
          </p:cNvSpPr>
          <p:nvPr/>
        </p:nvSpPr>
        <p:spPr>
          <a:xfrm xmlns:a="http://schemas.openxmlformats.org/drawingml/2006/main">
            <a:off x="7791450" y="1162050"/>
            <a:ext cx="2343150" cy="186690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18BDF2"/>
            </a:solidFill>
            <a:prstDash val="solid"/>
          </a:ln>
        </p:spPr>
      </p:sp>
      <p:pic>
        <p:nvPicPr>
          <p:cNvPr id="15" name="" descr="????????????????PPT"/>
          <p:cNvPicPr>
            <a:picLocks xmlns:a="http://schemas.openxmlformats.org/drawingml/2006/main" noChangeAspect="1"/>
          </p:cNvPicPr>
          <p:nvPr/>
        </p:nvPicPr>
        <p:blipFill>
          <a:blip xmlns:r="http://schemas.openxmlformats.org/officeDocument/2006/relationships" xmlns:a="http://schemas.openxmlformats.org/drawingml/2006/main" r:embed="Rdb7f257e38534415"/>
          <a:srcRect xmlns:a="http://schemas.openxmlformats.org/drawingml/2006/main" l="2332" t="0" r="2332" b="0"/>
          <a:stretch xmlns:a="http://schemas.openxmlformats.org/drawingml/2006/main">
            <a:fillRect l="0" t="0" r="0" b="0"/>
          </a:stretch>
        </p:blipFill>
        <p:spPr>
          <a:xfrm xmlns:a="http://schemas.openxmlformats.org/drawingml/2006/main">
            <a:off x="7848600" y="1219200"/>
            <a:ext cx="2228850" cy="1752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0599987-F2A7-4598-922F-FE5903459092}"/>
              </a:ext>
            </a:extLst>
          </p:cNvPr>
          <p:cNvSpPr>
            <a:spLocks xmlns:a="http://schemas.openxmlformats.org/drawingml/2006/main" noGrp="1"/>
          </p:cNvSpPr>
          <p:nvPr/>
        </p:nvSpPr>
        <p:spPr>
          <a:xfrm xmlns:a="http://schemas.openxmlformats.org/drawingml/2006/main">
            <a:off x="7848600" y="3057525"/>
            <a:ext cx="2228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控制器 V2</a:t>
            </a:r>
          </a:p>
        </p:txBody>
      </p:sp>
      <p:sp>
        <p:nvSpPr>
          <p:cNvPr id="17" name="">
            <a:extLst xmlns:a="http://schemas.openxmlformats.org/drawingml/2006/main">
              <a:ext uri="{FF2B5EF4-FFF2-40B4-BE49-F238E27FC236}">
                <a16:creationId xmlns:a16="http://schemas.microsoft.com/office/drawing/2014/main" id="{6A56D788-8786-40E4-A5CA-678695975782}"/>
              </a:ext>
            </a:extLst>
          </p:cNvPr>
          <p:cNvSpPr>
            <a:spLocks xmlns:a="http://schemas.openxmlformats.org/drawingml/2006/main" noGrp="1"/>
          </p:cNvSpPr>
          <p:nvPr/>
        </p:nvSpPr>
        <p:spPr>
          <a:xfrm xmlns:a="http://schemas.openxmlformats.org/drawingml/2006/main">
            <a:off x="5657850" y="3848100"/>
            <a:ext cx="2209800" cy="177165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2B4768"/>
            </a:solidFill>
            <a:prstDash val="solid"/>
          </a:ln>
        </p:spPr>
      </p:sp>
      <p:pic>
        <p:nvPicPr>
          <p:cNvPr id="18" name="" descr="????????????????PPT"/>
          <p:cNvPicPr>
            <a:picLocks xmlns:a="http://schemas.openxmlformats.org/drawingml/2006/main" noChangeAspect="1"/>
          </p:cNvPicPr>
          <p:nvPr/>
        </p:nvPicPr>
        <p:blipFill>
          <a:blip xmlns:r="http://schemas.openxmlformats.org/officeDocument/2006/relationships" xmlns:a="http://schemas.openxmlformats.org/drawingml/2006/main" r:embed="R63c1aa34aa7c4038"/>
          <a:srcRect xmlns:a="http://schemas.openxmlformats.org/drawingml/2006/main" l="0" t="9296" r="0" b="9296"/>
          <a:stretch xmlns:a="http://schemas.openxmlformats.org/drawingml/2006/main">
            <a:fillRect l="0" t="0" r="0" b="0"/>
          </a:stretch>
        </p:blipFill>
        <p:spPr>
          <a:xfrm xmlns:a="http://schemas.openxmlformats.org/drawingml/2006/main">
            <a:off x="5715000" y="3905250"/>
            <a:ext cx="2095500" cy="16573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83B40D88-9427-4E7D-AC64-E67E6D68E7C5}"/>
              </a:ext>
            </a:extLst>
          </p:cNvPr>
          <p:cNvSpPr>
            <a:spLocks xmlns:a="http://schemas.openxmlformats.org/drawingml/2006/main" noGrp="1"/>
          </p:cNvSpPr>
          <p:nvPr/>
        </p:nvSpPr>
        <p:spPr>
          <a:xfrm xmlns:a="http://schemas.openxmlformats.org/drawingml/2006/main">
            <a:off x="5715000" y="5648325"/>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V2 优化版</a:t>
            </a:r>
          </a:p>
        </p:txBody>
      </p:sp>
      <p:sp>
        <p:nvSpPr>
          <p:cNvPr id="20" name="">
            <a:extLst xmlns:a="http://schemas.openxmlformats.org/drawingml/2006/main">
              <a:ext uri="{FF2B5EF4-FFF2-40B4-BE49-F238E27FC236}">
                <a16:creationId xmlns:a16="http://schemas.microsoft.com/office/drawing/2014/main" id="{9804BC38-0FD9-4A73-B4D6-38ED074E81E5}"/>
              </a:ext>
            </a:extLst>
          </p:cNvPr>
          <p:cNvSpPr>
            <a:spLocks xmlns:a="http://schemas.openxmlformats.org/drawingml/2006/main" noGrp="1"/>
          </p:cNvSpPr>
          <p:nvPr/>
        </p:nvSpPr>
        <p:spPr>
          <a:xfrm xmlns:a="http://schemas.openxmlformats.org/drawingml/2006/main">
            <a:off x="8248650" y="3676650"/>
            <a:ext cx="2190750" cy="180975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FF7A1A"/>
            </a:solidFill>
            <a:prstDash val="solid"/>
          </a:ln>
        </p:spPr>
      </p:sp>
      <p:pic>
        <p:nvPicPr>
          <p:cNvPr id="21" name="" descr="????????????????PPT"/>
          <p:cNvPicPr>
            <a:picLocks xmlns:a="http://schemas.openxmlformats.org/drawingml/2006/main" noChangeAspect="1"/>
          </p:cNvPicPr>
          <p:nvPr/>
        </p:nvPicPr>
        <p:blipFill>
          <a:blip xmlns:r="http://schemas.openxmlformats.org/officeDocument/2006/relationships" xmlns:a="http://schemas.openxmlformats.org/drawingml/2006/main" r:embed="R98e2e61116a1418c"/>
          <a:stretch xmlns:a="http://schemas.openxmlformats.org/drawingml/2006/main"/>
        </p:blipFill>
        <p:spPr>
          <a:xfrm xmlns:a="http://schemas.openxmlformats.org/drawingml/2006/main">
            <a:off x="8346208" y="3733800"/>
            <a:ext cx="1995634" cy="16954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32BE847-D4DA-4619-B36D-90F7DB75E60C}"/>
              </a:ext>
            </a:extLst>
          </p:cNvPr>
          <p:cNvSpPr>
            <a:spLocks xmlns:a="http://schemas.openxmlformats.org/drawingml/2006/main" noGrp="1"/>
          </p:cNvSpPr>
          <p:nvPr/>
        </p:nvSpPr>
        <p:spPr>
          <a:xfrm xmlns:a="http://schemas.openxmlformats.org/drawingml/2006/main">
            <a:off x="8305800" y="5514975"/>
            <a:ext cx="20764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V3 图纸</a:t>
            </a:r>
          </a:p>
        </p:txBody>
      </p:sp>
      <p:sp>
        <p:nvSpPr>
          <p:cNvPr id="23" name="">
            <a:extLst xmlns:a="http://schemas.openxmlformats.org/drawingml/2006/main">
              <a:ext uri="{FF2B5EF4-FFF2-40B4-BE49-F238E27FC236}">
                <a16:creationId xmlns:a16="http://schemas.microsoft.com/office/drawing/2014/main" id="{81D829F1-DDC7-4118-8A68-CD53DF1738FD}"/>
              </a:ext>
            </a:extLst>
          </p:cNvPr>
          <p:cNvSpPr>
            <a:spLocks xmlns:a="http://schemas.openxmlformats.org/drawingml/2006/main" noGrp="1"/>
          </p:cNvSpPr>
          <p:nvPr/>
        </p:nvSpPr>
        <p:spPr>
          <a:xfrm xmlns:a="http://schemas.openxmlformats.org/drawingml/2006/main">
            <a:off x="723900" y="2381250"/>
            <a:ext cx="376237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路线一：V2 全电机版</a:t>
            </a:r>
          </a:p>
        </p:txBody>
      </p:sp>
      <p:sp>
        <p:nvSpPr>
          <p:cNvPr id="24" name="">
            <a:extLst xmlns:a="http://schemas.openxmlformats.org/drawingml/2006/main">
              <a:ext uri="{FF2B5EF4-FFF2-40B4-BE49-F238E27FC236}">
                <a16:creationId xmlns:a16="http://schemas.microsoft.com/office/drawing/2014/main" id="{E8365141-EB77-4421-B7F1-D01EFD2840F1}"/>
              </a:ext>
            </a:extLst>
          </p:cNvPr>
          <p:cNvSpPr>
            <a:spLocks xmlns:a="http://schemas.openxmlformats.org/drawingml/2006/main" noGrp="1"/>
          </p:cNvSpPr>
          <p:nvPr/>
        </p:nvSpPr>
        <p:spPr>
          <a:xfrm xmlns:a="http://schemas.openxmlformats.org/drawingml/2006/main">
            <a:off x="723900" y="2781300"/>
            <a:ext cx="704850" cy="190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F9A4B8F9-2943-4217-AE1A-8CF722270DD7}"/>
              </a:ext>
            </a:extLst>
          </p:cNvPr>
          <p:cNvSpPr>
            <a:spLocks xmlns:a="http://schemas.openxmlformats.org/drawingml/2006/main" noGrp="1"/>
          </p:cNvSpPr>
          <p:nvPr/>
        </p:nvSpPr>
        <p:spPr>
          <a:xfrm xmlns:a="http://schemas.openxmlformats.org/drawingml/2006/main">
            <a:off x="723900" y="2933700"/>
            <a:ext cx="3762375"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A9B6C8"/>
                </a:solidFill>
                <a:latin typeface="Microsoft YaHei"/>
                <a:ea typeface="Microsoft YaHei"/>
                <a:cs typeface="Microsoft YaHei"/>
              </a:defRPr>
            </a:pPr>
            <a:r>
              <a:rPr sz="1275" b="0">
                <a:solidFill>
                  <a:srgbClr val="A9B6C8"/>
                </a:solidFill>
                <a:latin typeface="Microsoft YaHei"/>
                <a:ea typeface="Microsoft YaHei"/>
                <a:cs typeface="Microsoft YaHei"/>
              </a:rPr>
              <a:t>全关节电机驱动，加入重力补偿算法以优化手感，持续调优自重与稳定性。</a:t>
            </a:r>
          </a:p>
        </p:txBody>
      </p:sp>
      <p:sp>
        <p:nvSpPr>
          <p:cNvPr id="26" name="">
            <a:extLst xmlns:a="http://schemas.openxmlformats.org/drawingml/2006/main">
              <a:ext uri="{FF2B5EF4-FFF2-40B4-BE49-F238E27FC236}">
                <a16:creationId xmlns:a16="http://schemas.microsoft.com/office/drawing/2014/main" id="{53CB0E4E-C7C6-4EAD-82E2-CC51A010EA82}"/>
              </a:ext>
            </a:extLst>
          </p:cNvPr>
          <p:cNvSpPr>
            <a:spLocks xmlns:a="http://schemas.openxmlformats.org/drawingml/2006/main" noGrp="1"/>
          </p:cNvSpPr>
          <p:nvPr/>
        </p:nvSpPr>
        <p:spPr>
          <a:xfrm xmlns:a="http://schemas.openxmlformats.org/drawingml/2006/main">
            <a:off x="723900" y="4000500"/>
            <a:ext cx="40481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路线二：V3 腕部穿戴同构版</a:t>
            </a:r>
          </a:p>
        </p:txBody>
      </p:sp>
      <p:sp>
        <p:nvSpPr>
          <p:cNvPr id="27" name="">
            <a:extLst xmlns:a="http://schemas.openxmlformats.org/drawingml/2006/main">
              <a:ext uri="{FF2B5EF4-FFF2-40B4-BE49-F238E27FC236}">
                <a16:creationId xmlns:a16="http://schemas.microsoft.com/office/drawing/2014/main" id="{F965D7D8-1E15-4351-AD4D-D20B0155505C}"/>
              </a:ext>
            </a:extLst>
          </p:cNvPr>
          <p:cNvSpPr>
            <a:spLocks xmlns:a="http://schemas.openxmlformats.org/drawingml/2006/main" noGrp="1"/>
          </p:cNvSpPr>
          <p:nvPr/>
        </p:nvSpPr>
        <p:spPr>
          <a:xfrm xmlns:a="http://schemas.openxmlformats.org/drawingml/2006/main">
            <a:off x="723900" y="4400550"/>
            <a:ext cx="704850" cy="19050"/>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0B04EF9F-7375-4697-81B0-DDA4F5C508F8}"/>
              </a:ext>
            </a:extLst>
          </p:cNvPr>
          <p:cNvSpPr>
            <a:spLocks xmlns:a="http://schemas.openxmlformats.org/drawingml/2006/main" noGrp="1"/>
          </p:cNvSpPr>
          <p:nvPr/>
        </p:nvSpPr>
        <p:spPr>
          <a:xfrm xmlns:a="http://schemas.openxmlformats.org/drawingml/2006/main">
            <a:off x="723900" y="4552950"/>
            <a:ext cx="4048125"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A9B6C8"/>
                </a:solidFill>
                <a:latin typeface="Microsoft YaHei"/>
                <a:ea typeface="Microsoft YaHei"/>
                <a:cs typeface="Microsoft YaHei"/>
              </a:defRPr>
            </a:pPr>
            <a:r>
              <a:rPr sz="1275" b="0">
                <a:solidFill>
                  <a:srgbClr val="A9B6C8"/>
                </a:solidFill>
                <a:latin typeface="Microsoft YaHei"/>
                <a:ea typeface="Microsoft YaHei"/>
                <a:cs typeface="Microsoft YaHei"/>
              </a:rPr>
              <a:t>碳纤维管连接，实现与机械臂及末端差速齿轮的同构映射，降低理解成本。</a:t>
            </a:r>
          </a:p>
        </p:txBody>
      </p:sp>
      <p:sp>
        <p:nvSpPr>
          <p:cNvPr id="29" name="">
            <a:extLst xmlns:a="http://schemas.openxmlformats.org/drawingml/2006/main">
              <a:ext uri="{FF2B5EF4-FFF2-40B4-BE49-F238E27FC236}">
                <a16:creationId xmlns:a16="http://schemas.microsoft.com/office/drawing/2014/main" id="{131647CA-17ED-42F7-836A-3A4FE455D5CE}"/>
              </a:ext>
            </a:extLst>
          </p:cNvPr>
          <p:cNvSpPr>
            <a:spLocks xmlns:a="http://schemas.openxmlformats.org/drawingml/2006/main" noGrp="1"/>
          </p:cNvSpPr>
          <p:nvPr/>
        </p:nvSpPr>
        <p:spPr>
          <a:xfrm xmlns:a="http://schemas.openxmlformats.org/drawingml/2006/main">
            <a:off x="10382250" y="2381250"/>
            <a:ext cx="1200150" cy="1200150"/>
          </a:xfrm>
          <a:prstGeom xmlns:a="http://schemas.openxmlformats.org/drawingml/2006/main" prst="ellipse">
            <a:avLst/>
          </a:prstGeom>
          <a:solidFill xmlns:a="http://schemas.openxmlformats.org/drawingml/2006/main">
            <a:srgbClr val="102740">
              <a:alpha val="80000"/>
            </a:srgbClr>
          </a:solidFill>
          <a:ln xmlns:a="http://schemas.openxmlformats.org/drawingml/2006/main" w="19050">
            <a:solidFill>
              <a:srgbClr val="18BDF2"/>
            </a:solidFill>
            <a:prstDash val="solid"/>
          </a:ln>
        </p:spPr>
      </p:sp>
      <p:sp>
        <p:nvSpPr>
          <p:cNvPr id="30" name="anim-proof-8">
            <a:extLst xmlns:a="http://schemas.openxmlformats.org/drawingml/2006/main">
              <a:ext uri="{FF2B5EF4-FFF2-40B4-BE49-F238E27FC236}">
                <a16:creationId xmlns:a16="http://schemas.microsoft.com/office/drawing/2014/main" id="{E9A30B55-D672-46C5-82DF-DD2398308BEE}"/>
              </a:ext>
            </a:extLst>
          </p:cNvPr>
          <p:cNvSpPr>
            <a:spLocks xmlns:a="http://schemas.openxmlformats.org/drawingml/2006/main" noGrp="1"/>
          </p:cNvSpPr>
          <p:nvPr/>
        </p:nvSpPr>
        <p:spPr>
          <a:xfrm xmlns:a="http://schemas.openxmlformats.org/drawingml/2006/main">
            <a:off x="10401300" y="2705100"/>
            <a:ext cx="1162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7DE3FF"/>
                </a:solidFill>
                <a:latin typeface="Microsoft YaHei"/>
                <a:ea typeface="Microsoft YaHei"/>
                <a:cs typeface="Microsoft YaHei"/>
              </a:defRPr>
            </a:pPr>
            <a:r>
              <a:rPr sz="1650" b="1">
                <a:solidFill>
                  <a:srgbClr val="7DE3FF"/>
                </a:solidFill>
                <a:latin typeface="Microsoft YaHei"/>
                <a:ea typeface="Microsoft YaHei"/>
                <a:cs typeface="Microsoft YaHei"/>
              </a:rPr>
              <a:t>所见</a:t>
            </a:r>
          </a:p>
          <a:p xmlns:a="http://schemas.openxmlformats.org/drawingml/2006/main">
            <a:pPr algn="ctr">
              <a:defRPr sz="1650" b="1">
                <a:solidFill>
                  <a:srgbClr val="7DE3FF"/>
                </a:solidFill>
                <a:latin typeface="Microsoft YaHei"/>
                <a:ea typeface="Microsoft YaHei"/>
                <a:cs typeface="Microsoft YaHei"/>
              </a:defRPr>
            </a:pPr>
            <a:r>
              <a:rPr sz="1650" b="1">
                <a:solidFill>
                  <a:srgbClr val="7DE3FF"/>
                </a:solidFill>
                <a:latin typeface="Microsoft YaHei"/>
                <a:ea typeface="Microsoft YaHei"/>
                <a:cs typeface="Microsoft YaHei"/>
              </a:rPr>
              <a:t>即所得</a:t>
            </a:r>
          </a:p>
        </p:txBody>
      </p:sp>
      <p:sp>
        <p:nvSpPr>
          <p:cNvPr id="31" name="">
            <a:extLst xmlns:a="http://schemas.openxmlformats.org/drawingml/2006/main">
              <a:ext uri="{FF2B5EF4-FFF2-40B4-BE49-F238E27FC236}">
                <a16:creationId xmlns:a16="http://schemas.microsoft.com/office/drawing/2014/main" id="{E8C822EB-E276-46A3-B9C8-AE212F907BAD}"/>
              </a:ext>
            </a:extLst>
          </p:cNvPr>
          <p:cNvSpPr>
            <a:spLocks xmlns:a="http://schemas.openxmlformats.org/drawingml/2006/main" noGrp="1"/>
          </p:cNvSpPr>
          <p:nvPr/>
        </p:nvSpPr>
        <p:spPr>
          <a:xfrm xmlns:a="http://schemas.openxmlformats.org/drawingml/2006/main">
            <a:off x="10382250" y="4324350"/>
            <a:ext cx="1200150" cy="1200150"/>
          </a:xfrm>
          <a:prstGeom xmlns:a="http://schemas.openxmlformats.org/drawingml/2006/main" prst="ellipse">
            <a:avLst/>
          </a:prstGeom>
          <a:solidFill xmlns:a="http://schemas.openxmlformats.org/drawingml/2006/main">
            <a:srgbClr val="3A2112">
              <a:alpha val="80000"/>
            </a:srgbClr>
          </a:solidFill>
          <a:ln xmlns:a="http://schemas.openxmlformats.org/drawingml/2006/main" w="19050">
            <a:solidFill>
              <a:srgbClr val="FF7A1A"/>
            </a:solidFill>
            <a:prstDash val="solid"/>
          </a:ln>
        </p:spPr>
      </p:sp>
      <p:sp>
        <p:nvSpPr>
          <p:cNvPr id="32" name="">
            <a:extLst xmlns:a="http://schemas.openxmlformats.org/drawingml/2006/main">
              <a:ext uri="{FF2B5EF4-FFF2-40B4-BE49-F238E27FC236}">
                <a16:creationId xmlns:a16="http://schemas.microsoft.com/office/drawing/2014/main" id="{8E5B3D6D-775C-4C09-8331-507C4B03C962}"/>
              </a:ext>
            </a:extLst>
          </p:cNvPr>
          <p:cNvSpPr>
            <a:spLocks xmlns:a="http://schemas.openxmlformats.org/drawingml/2006/main" noGrp="1"/>
          </p:cNvSpPr>
          <p:nvPr/>
        </p:nvSpPr>
        <p:spPr>
          <a:xfrm xmlns:a="http://schemas.openxmlformats.org/drawingml/2006/main">
            <a:off x="10401300" y="4648200"/>
            <a:ext cx="1162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D5B1"/>
                </a:solidFill>
                <a:latin typeface="Microsoft YaHei"/>
                <a:ea typeface="Microsoft YaHei"/>
                <a:cs typeface="Microsoft YaHei"/>
              </a:defRPr>
            </a:pPr>
            <a:r>
              <a:rPr sz="1650" b="1">
                <a:solidFill>
                  <a:srgbClr val="FFD5B1"/>
                </a:solidFill>
                <a:latin typeface="Microsoft YaHei"/>
                <a:ea typeface="Microsoft YaHei"/>
                <a:cs typeface="Microsoft YaHei"/>
              </a:rPr>
              <a:t>所触</a:t>
            </a:r>
          </a:p>
          <a:p xmlns:a="http://schemas.openxmlformats.org/drawingml/2006/main">
            <a:pPr algn="ctr">
              <a:defRPr sz="1650" b="1">
                <a:solidFill>
                  <a:srgbClr val="FFD5B1"/>
                </a:solidFill>
                <a:latin typeface="Microsoft YaHei"/>
                <a:ea typeface="Microsoft YaHei"/>
                <a:cs typeface="Microsoft YaHei"/>
              </a:defRPr>
            </a:pPr>
            <a:r>
              <a:rPr sz="1650" b="1">
                <a:solidFill>
                  <a:srgbClr val="FFD5B1"/>
                </a:solidFill>
                <a:latin typeface="Microsoft YaHei"/>
                <a:ea typeface="Microsoft YaHei"/>
                <a:cs typeface="Microsoft YaHei"/>
              </a:rPr>
              <a:t>即所感</a:t>
            </a:r>
          </a:p>
        </p:txBody>
      </p:sp>
    </p:spTree>
    <p:extLst>
      <p:ext uri="{BB962C8B-B14F-4D97-AF65-F5344CB8AC3E}">
        <p14:creationId xmlns:p14="http://schemas.microsoft.com/office/powerpoint/2010/main" val="811105388"/>
      </p:ext>
    </p:extLst>
  </p:cSld>
  <p:transition advClick="1">
    <p:fade/>
  </p:transition>
  <p:timing>
    <p:tnLst>
      <p:par>
        <p:cTn id="1" dur="indefinite" restart="never" nodeType="tmRoot">
          <p:childTnLst>
            <p:seq concurrent="1" nextAc="seek">
              <p:cTn id="2" dur="indefinite" nodeType="mainSeq">
                <p:childTnLst>
                  <p:par>
                    <p:cTn id="8"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par>
                    <p:cTn id="14" fill="hold">
                      <p:stCondLst>
                        <p:cond delay="0"/>
                      </p:stCondLst>
                      <p:childTnLst>
                        <p:par>
                          <p:cTn id="13" fill="hold">
                            <p:stCondLst>
                              <p:cond delay="0"/>
                            </p:stCondLst>
                            <p:childTnLst>
                              <p:par>
                                <p:cTn id="9" presetID="10" presetClass="entr" presetSubtype="0" fill="hold" grpId="1"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0" grpId="1"/>
    </p:bldLst>
  </p:timing>
</p:sld>
</file>

<file path=ppt/slides/slide9.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495E57-1601-401F-B556-C0766D6E7D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652074B-A92E-41C8-B33B-A0295FF550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alpha val="94118"/>
            </a:srgbClr>
          </a:solidFill>
          <a:ln xmlns:a="http://schemas.openxmlformats.org/drawingml/2006/main" w="0">
            <a:solidFill>
              <a:srgbClr val="000000">
                <a:alpha val="0"/>
              </a:srgbClr>
            </a:solidFill>
            <a:prstDash val="solid"/>
          </a:ln>
        </p:spPr>
      </p:sp>
      <p:pic>
        <p:nvPicPr>
          <p:cNvPr id="3" name="" descr="????????????????PPT"/>
          <p:cNvPicPr>
            <a:picLocks xmlns:a="http://schemas.openxmlformats.org/drawingml/2006/main" noChangeAspect="1"/>
          </p:cNvPicPr>
          <p:nvPr/>
        </p:nvPicPr>
        <p:blipFill>
          <a:blip xmlns:r="http://schemas.openxmlformats.org/officeDocument/2006/relationships" xmlns:a="http://schemas.openxmlformats.org/drawingml/2006/main" r:embed="R1579dc28541b4b2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5296850-0382-4171-A320-49DE1ADC7A7B}"/>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50B13">
              <a:alpha val="90980"/>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A1FD4DC-4C22-4266-9B13-19E96F25480E}"/>
              </a:ext>
            </a:extLst>
          </p:cNvPr>
          <p:cNvSpPr>
            <a:spLocks xmlns:a="http://schemas.openxmlformats.org/drawingml/2006/main" noGrp="1"/>
          </p:cNvSpPr>
          <p:nvPr/>
        </p:nvSpPr>
        <p:spPr>
          <a:xfrm xmlns:a="http://schemas.openxmlformats.org/drawingml/2006/main">
            <a:off x="0" y="6438900"/>
            <a:ext cx="12192000" cy="28575"/>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BD11EF27-0CF8-4208-82D9-5485A02AF566}"/>
              </a:ext>
            </a:extLst>
          </p:cNvPr>
          <p:cNvSpPr>
            <a:spLocks xmlns:a="http://schemas.openxmlformats.org/drawingml/2006/main" noGrp="1"/>
          </p:cNvSpPr>
          <p:nvPr/>
        </p:nvSpPr>
        <p:spPr>
          <a:xfrm xmlns:a="http://schemas.openxmlformats.org/drawingml/2006/main">
            <a:off x="533400" y="6562725"/>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双机械臂协作与力控制器系统 | 暑期社会实践汇报</a:t>
            </a:r>
          </a:p>
        </p:txBody>
      </p:sp>
      <p:sp>
        <p:nvSpPr>
          <p:cNvPr id="7" name="">
            <a:extLst xmlns:a="http://schemas.openxmlformats.org/drawingml/2006/main">
              <a:ext uri="{FF2B5EF4-FFF2-40B4-BE49-F238E27FC236}">
                <a16:creationId xmlns:a16="http://schemas.microsoft.com/office/drawing/2014/main" id="{BCF87448-807F-4D07-83E6-52AAA37FA04E}"/>
              </a:ext>
            </a:extLst>
          </p:cNvPr>
          <p:cNvSpPr>
            <a:spLocks xmlns:a="http://schemas.openxmlformats.org/drawingml/2006/main" noGrp="1"/>
          </p:cNvSpPr>
          <p:nvPr/>
        </p:nvSpPr>
        <p:spPr>
          <a:xfrm xmlns:a="http://schemas.openxmlformats.org/drawingml/2006/main">
            <a:off x="11239500" y="65627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DE3FF"/>
                </a:solidFill>
                <a:latin typeface="Microsoft YaHei"/>
                <a:ea typeface="Microsoft YaHei"/>
                <a:cs typeface="Microsoft YaHei"/>
              </a:defRPr>
            </a:pPr>
            <a:r>
              <a:rPr sz="900" b="0">
                <a:solidFill>
                  <a:srgbClr val="7DE3FF"/>
                </a:solidFill>
                <a:latin typeface="Microsoft YaHei"/>
                <a:ea typeface="Microsoft YaHei"/>
                <a:cs typeface="Microsoft YaHei"/>
              </a:rPr>
              <a:t>09</a:t>
            </a:r>
          </a:p>
        </p:txBody>
      </p:sp>
      <p:sp>
        <p:nvSpPr>
          <p:cNvPr id="8" name="kicker-9-marker">
            <a:extLst xmlns:a="http://schemas.openxmlformats.org/drawingml/2006/main">
              <a:ext uri="{FF2B5EF4-FFF2-40B4-BE49-F238E27FC236}">
                <a16:creationId xmlns:a16="http://schemas.microsoft.com/office/drawing/2014/main" id="{17AB2DCF-505F-4714-AAD0-79BA413DFB02}"/>
              </a:ext>
            </a:extLst>
          </p:cNvPr>
          <p:cNvSpPr>
            <a:spLocks xmlns:a="http://schemas.openxmlformats.org/drawingml/2006/main" noGrp="1"/>
          </p:cNvSpPr>
          <p:nvPr/>
        </p:nvSpPr>
        <p:spPr>
          <a:xfrm xmlns:a="http://schemas.openxmlformats.org/drawingml/2006/main">
            <a:off x="552450" y="552450"/>
            <a:ext cx="66675" cy="2857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9" name="kicker-9-label">
            <a:extLst xmlns:a="http://schemas.openxmlformats.org/drawingml/2006/main">
              <a:ext uri="{FF2B5EF4-FFF2-40B4-BE49-F238E27FC236}">
                <a16:creationId xmlns:a16="http://schemas.microsoft.com/office/drawing/2014/main" id="{0DFB1DA5-D9A0-49C0-A1D0-8DD7DFEAC467}"/>
              </a:ext>
            </a:extLst>
          </p:cNvPr>
          <p:cNvSpPr>
            <a:spLocks xmlns:a="http://schemas.openxmlformats.org/drawingml/2006/main" noGrp="1"/>
          </p:cNvSpPr>
          <p:nvPr/>
        </p:nvSpPr>
        <p:spPr>
          <a:xfrm xmlns:a="http://schemas.openxmlformats.org/drawingml/2006/main">
            <a:off x="742950" y="514350"/>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7DE3FF"/>
                </a:solidFill>
                <a:latin typeface="Microsoft YaHei"/>
                <a:ea typeface="Microsoft YaHei"/>
                <a:cs typeface="Microsoft YaHei"/>
              </a:defRPr>
            </a:pPr>
            <a:r>
              <a:rPr sz="1125" b="1">
                <a:solidFill>
                  <a:srgbClr val="7DE3FF"/>
                </a:solidFill>
                <a:latin typeface="Microsoft YaHei"/>
                <a:ea typeface="Microsoft YaHei"/>
                <a:cs typeface="Microsoft YaHei"/>
              </a:rPr>
              <a:t>AI-ASSISTED GRASPING</a:t>
            </a:r>
          </a:p>
        </p:txBody>
      </p:sp>
      <p:sp>
        <p:nvSpPr>
          <p:cNvPr id="10" name="anim-title-9">
            <a:extLst xmlns:a="http://schemas.openxmlformats.org/drawingml/2006/main">
              <a:ext uri="{FF2B5EF4-FFF2-40B4-BE49-F238E27FC236}">
                <a16:creationId xmlns:a16="http://schemas.microsoft.com/office/drawing/2014/main" id="{A7E09464-29DE-4A70-B334-8568815A8788}"/>
              </a:ext>
            </a:extLst>
          </p:cNvPr>
          <p:cNvSpPr>
            <a:spLocks xmlns:a="http://schemas.openxmlformats.org/drawingml/2006/main" noGrp="1"/>
          </p:cNvSpPr>
          <p:nvPr/>
        </p:nvSpPr>
        <p:spPr>
          <a:xfrm xmlns:a="http://schemas.openxmlformats.org/drawingml/2006/main">
            <a:off x="552450" y="914400"/>
            <a:ext cx="65722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8FBFF"/>
                </a:solidFill>
                <a:latin typeface="Microsoft YaHei UI"/>
                <a:ea typeface="Microsoft YaHei UI"/>
                <a:cs typeface="Microsoft YaHei UI"/>
              </a:defRPr>
            </a:pPr>
            <a:r>
              <a:rPr sz="3000" b="1">
                <a:solidFill>
                  <a:srgbClr val="F8FBFF"/>
                </a:solidFill>
                <a:latin typeface="Microsoft YaHei UI"/>
                <a:ea typeface="Microsoft YaHei UI"/>
                <a:cs typeface="Microsoft YaHei UI"/>
              </a:rPr>
              <a:t>视觉智能让操作门槛继续下降。</a:t>
            </a:r>
          </a:p>
        </p:txBody>
      </p:sp>
      <p:sp>
        <p:nvSpPr>
          <p:cNvPr id="11" name="">
            <a:extLst xmlns:a="http://schemas.openxmlformats.org/drawingml/2006/main">
              <a:ext uri="{FF2B5EF4-FFF2-40B4-BE49-F238E27FC236}">
                <a16:creationId xmlns:a16="http://schemas.microsoft.com/office/drawing/2014/main" id="{4B378F24-426E-4A99-BF17-1F066EF813EF}"/>
              </a:ext>
            </a:extLst>
          </p:cNvPr>
          <p:cNvSpPr>
            <a:spLocks xmlns:a="http://schemas.openxmlformats.org/drawingml/2006/main" noGrp="1"/>
          </p:cNvSpPr>
          <p:nvPr/>
        </p:nvSpPr>
        <p:spPr>
          <a:xfrm xmlns:a="http://schemas.openxmlformats.org/drawingml/2006/main">
            <a:off x="7734300" y="1352550"/>
            <a:ext cx="2971800" cy="297180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FF7A1A"/>
            </a:solidFill>
            <a:prstDash val="solid"/>
          </a:ln>
        </p:spPr>
      </p:sp>
      <p:pic>
        <p:nvPicPr>
          <p:cNvPr id="12" name="" descr="????????????????PPT"/>
          <p:cNvPicPr>
            <a:picLocks xmlns:a="http://schemas.openxmlformats.org/drawingml/2006/main" noChangeAspect="1"/>
          </p:cNvPicPr>
          <p:nvPr/>
        </p:nvPicPr>
        <p:blipFill>
          <a:blip xmlns:r="http://schemas.openxmlformats.org/officeDocument/2006/relationships" xmlns:a="http://schemas.openxmlformats.org/drawingml/2006/main" r:embed="Rb25e36828450481b"/>
          <a:srcRect xmlns:a="http://schemas.openxmlformats.org/drawingml/2006/main" l="0" t="0" r="0" b="0"/>
          <a:stretch xmlns:a="http://schemas.openxmlformats.org/drawingml/2006/main">
            <a:fillRect l="0" t="0" r="0" b="0"/>
          </a:stretch>
        </p:blipFill>
        <p:spPr>
          <a:xfrm xmlns:a="http://schemas.openxmlformats.org/drawingml/2006/main">
            <a:off x="7791450" y="1409700"/>
            <a:ext cx="2857500" cy="28575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DBBDE07-78E0-4ACE-9432-41BD71F74D43}"/>
              </a:ext>
            </a:extLst>
          </p:cNvPr>
          <p:cNvSpPr>
            <a:spLocks xmlns:a="http://schemas.openxmlformats.org/drawingml/2006/main" noGrp="1"/>
          </p:cNvSpPr>
          <p:nvPr/>
        </p:nvSpPr>
        <p:spPr>
          <a:xfrm xmlns:a="http://schemas.openxmlformats.org/drawingml/2006/main">
            <a:off x="7791450" y="435292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能量单元识别与实例分割</a:t>
            </a:r>
          </a:p>
        </p:txBody>
      </p:sp>
      <p:sp>
        <p:nvSpPr>
          <p:cNvPr id="14" name="">
            <a:extLst xmlns:a="http://schemas.openxmlformats.org/drawingml/2006/main">
              <a:ext uri="{FF2B5EF4-FFF2-40B4-BE49-F238E27FC236}">
                <a16:creationId xmlns:a16="http://schemas.microsoft.com/office/drawing/2014/main" id="{37D1F50A-8BCE-4A39-A9E5-D0F71BD562D2}"/>
              </a:ext>
            </a:extLst>
          </p:cNvPr>
          <p:cNvSpPr>
            <a:spLocks xmlns:a="http://schemas.openxmlformats.org/drawingml/2006/main" noGrp="1"/>
          </p:cNvSpPr>
          <p:nvPr/>
        </p:nvSpPr>
        <p:spPr>
          <a:xfrm xmlns:a="http://schemas.openxmlformats.org/drawingml/2006/main">
            <a:off x="1181100" y="2857500"/>
            <a:ext cx="1352550" cy="381000"/>
          </a:xfrm>
          <a:prstGeom xmlns:a="http://schemas.openxmlformats.org/drawingml/2006/main" prst="roundRect">
            <a:avLst>
              <a:gd name="adj" fmla="val 20000"/>
            </a:avLst>
          </a:prstGeom>
          <a:solidFill xmlns:a="http://schemas.openxmlformats.org/drawingml/2006/main">
            <a:srgbClr val="0B1A2B">
              <a:alpha val="83922"/>
            </a:srgbClr>
          </a:solidFill>
          <a:ln xmlns:a="http://schemas.openxmlformats.org/drawingml/2006/main" w="9525">
            <a:solidFill>
              <a:srgbClr val="18BDF2"/>
            </a:solidFill>
            <a:prstDash val="solid"/>
          </a:ln>
        </p:spPr>
      </p:sp>
      <p:sp>
        <p:nvSpPr>
          <p:cNvPr id="15" name="">
            <a:extLst xmlns:a="http://schemas.openxmlformats.org/drawingml/2006/main">
              <a:ext uri="{FF2B5EF4-FFF2-40B4-BE49-F238E27FC236}">
                <a16:creationId xmlns:a16="http://schemas.microsoft.com/office/drawing/2014/main" id="{EB84F2D7-C6D8-4853-A523-4DAAB100A65E}"/>
              </a:ext>
            </a:extLst>
          </p:cNvPr>
          <p:cNvSpPr>
            <a:spLocks xmlns:a="http://schemas.openxmlformats.org/drawingml/2006/main" noGrp="1"/>
          </p:cNvSpPr>
          <p:nvPr/>
        </p:nvSpPr>
        <p:spPr>
          <a:xfrm xmlns:a="http://schemas.openxmlformats.org/drawingml/2006/main">
            <a:off x="1314450" y="2924175"/>
            <a:ext cx="1085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8BDF2"/>
                </a:solidFill>
                <a:latin typeface="Microsoft YaHei"/>
                <a:ea typeface="Microsoft YaHei"/>
                <a:cs typeface="Microsoft YaHei"/>
              </a:defRPr>
            </a:pPr>
            <a:r>
              <a:rPr sz="1050" b="1">
                <a:solidFill>
                  <a:srgbClr val="18BDF2"/>
                </a:solidFill>
                <a:latin typeface="Microsoft YaHei"/>
                <a:ea typeface="Microsoft YaHei"/>
                <a:cs typeface="Microsoft YaHei"/>
              </a:rPr>
              <a:t>深度相机</a:t>
            </a:r>
          </a:p>
        </p:txBody>
      </p:sp>
      <p:sp>
        <p:nvSpPr>
          <p:cNvPr id="16" name="">
            <a:extLst xmlns:a="http://schemas.openxmlformats.org/drawingml/2006/main">
              <a:ext uri="{FF2B5EF4-FFF2-40B4-BE49-F238E27FC236}">
                <a16:creationId xmlns:a16="http://schemas.microsoft.com/office/drawing/2014/main" id="{28712271-ECE8-4B3A-80A5-297F829F6A93}"/>
              </a:ext>
            </a:extLst>
          </p:cNvPr>
          <p:cNvSpPr>
            <a:spLocks xmlns:a="http://schemas.openxmlformats.org/drawingml/2006/main" noGrp="1"/>
          </p:cNvSpPr>
          <p:nvPr/>
        </p:nvSpPr>
        <p:spPr>
          <a:xfrm xmlns:a="http://schemas.openxmlformats.org/drawingml/2006/main">
            <a:off x="3067050" y="2457450"/>
            <a:ext cx="1352550" cy="381000"/>
          </a:xfrm>
          <a:prstGeom xmlns:a="http://schemas.openxmlformats.org/drawingml/2006/main" prst="roundRect">
            <a:avLst>
              <a:gd name="adj" fmla="val 20000"/>
            </a:avLst>
          </a:prstGeom>
          <a:solidFill xmlns:a="http://schemas.openxmlformats.org/drawingml/2006/main">
            <a:srgbClr val="0B1A2B">
              <a:alpha val="83922"/>
            </a:srgbClr>
          </a:solidFill>
          <a:ln xmlns:a="http://schemas.openxmlformats.org/drawingml/2006/main" w="9525">
            <a:solidFill>
              <a:srgbClr val="FF7A1A"/>
            </a:solidFill>
            <a:prstDash val="solid"/>
          </a:ln>
        </p:spPr>
      </p:sp>
      <p:sp>
        <p:nvSpPr>
          <p:cNvPr id="17" name="">
            <a:extLst xmlns:a="http://schemas.openxmlformats.org/drawingml/2006/main">
              <a:ext uri="{FF2B5EF4-FFF2-40B4-BE49-F238E27FC236}">
                <a16:creationId xmlns:a16="http://schemas.microsoft.com/office/drawing/2014/main" id="{EACBEC8F-89C4-4076-8668-555F7878B827}"/>
              </a:ext>
            </a:extLst>
          </p:cNvPr>
          <p:cNvSpPr>
            <a:spLocks xmlns:a="http://schemas.openxmlformats.org/drawingml/2006/main" noGrp="1"/>
          </p:cNvSpPr>
          <p:nvPr/>
        </p:nvSpPr>
        <p:spPr>
          <a:xfrm xmlns:a="http://schemas.openxmlformats.org/drawingml/2006/main">
            <a:off x="3200400" y="2524125"/>
            <a:ext cx="1085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7A1A"/>
                </a:solidFill>
                <a:latin typeface="Microsoft YaHei"/>
                <a:ea typeface="Microsoft YaHei"/>
                <a:cs typeface="Microsoft YaHei"/>
              </a:defRPr>
            </a:pPr>
            <a:r>
              <a:rPr sz="1050" b="1">
                <a:solidFill>
                  <a:srgbClr val="FF7A1A"/>
                </a:solidFill>
                <a:latin typeface="Microsoft YaHei"/>
                <a:ea typeface="Microsoft YaHei"/>
                <a:cs typeface="Microsoft YaHei"/>
              </a:rPr>
              <a:t>YOLO-Segment</a:t>
            </a:r>
          </a:p>
        </p:txBody>
      </p:sp>
      <p:sp>
        <p:nvSpPr>
          <p:cNvPr id="18" name="">
            <a:extLst xmlns:a="http://schemas.openxmlformats.org/drawingml/2006/main">
              <a:ext uri="{FF2B5EF4-FFF2-40B4-BE49-F238E27FC236}">
                <a16:creationId xmlns:a16="http://schemas.microsoft.com/office/drawing/2014/main" id="{7B35F9C7-C112-4170-AED3-CB488E5228B9}"/>
              </a:ext>
            </a:extLst>
          </p:cNvPr>
          <p:cNvSpPr>
            <a:spLocks xmlns:a="http://schemas.openxmlformats.org/drawingml/2006/main" noGrp="1"/>
          </p:cNvSpPr>
          <p:nvPr/>
        </p:nvSpPr>
        <p:spPr>
          <a:xfrm xmlns:a="http://schemas.openxmlformats.org/drawingml/2006/main">
            <a:off x="5010150" y="2895600"/>
            <a:ext cx="1352550" cy="381000"/>
          </a:xfrm>
          <a:prstGeom xmlns:a="http://schemas.openxmlformats.org/drawingml/2006/main" prst="roundRect">
            <a:avLst>
              <a:gd name="adj" fmla="val 20000"/>
            </a:avLst>
          </a:prstGeom>
          <a:solidFill xmlns:a="http://schemas.openxmlformats.org/drawingml/2006/main">
            <a:srgbClr val="0B1A2B">
              <a:alpha val="83922"/>
            </a:srgbClr>
          </a:solidFill>
          <a:ln xmlns:a="http://schemas.openxmlformats.org/drawingml/2006/main" w="9525">
            <a:solidFill>
              <a:srgbClr val="18BDF2"/>
            </a:solidFill>
            <a:prstDash val="solid"/>
          </a:ln>
        </p:spPr>
      </p:sp>
      <p:sp>
        <p:nvSpPr>
          <p:cNvPr id="19" name="">
            <a:extLst xmlns:a="http://schemas.openxmlformats.org/drawingml/2006/main">
              <a:ext uri="{FF2B5EF4-FFF2-40B4-BE49-F238E27FC236}">
                <a16:creationId xmlns:a16="http://schemas.microsoft.com/office/drawing/2014/main" id="{128550FC-5D3B-40CD-99C5-3BF3842FD820}"/>
              </a:ext>
            </a:extLst>
          </p:cNvPr>
          <p:cNvSpPr>
            <a:spLocks xmlns:a="http://schemas.openxmlformats.org/drawingml/2006/main" noGrp="1"/>
          </p:cNvSpPr>
          <p:nvPr/>
        </p:nvSpPr>
        <p:spPr>
          <a:xfrm xmlns:a="http://schemas.openxmlformats.org/drawingml/2006/main">
            <a:off x="5143500" y="2962275"/>
            <a:ext cx="1085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8BDF2"/>
                </a:solidFill>
                <a:latin typeface="Microsoft YaHei"/>
                <a:ea typeface="Microsoft YaHei"/>
                <a:cs typeface="Microsoft YaHei"/>
              </a:defRPr>
            </a:pPr>
            <a:r>
              <a:rPr sz="1050" b="1">
                <a:solidFill>
                  <a:srgbClr val="18BDF2"/>
                </a:solidFill>
                <a:latin typeface="Microsoft YaHei"/>
                <a:ea typeface="Microsoft YaHei"/>
                <a:cs typeface="Microsoft YaHei"/>
              </a:rPr>
              <a:t>ROS 2</a:t>
            </a:r>
          </a:p>
        </p:txBody>
      </p:sp>
      <p:sp>
        <p:nvSpPr>
          <p:cNvPr id="20" name="">
            <a:extLst xmlns:a="http://schemas.openxmlformats.org/drawingml/2006/main">
              <a:ext uri="{FF2B5EF4-FFF2-40B4-BE49-F238E27FC236}">
                <a16:creationId xmlns:a16="http://schemas.microsoft.com/office/drawing/2014/main" id="{5145AED1-C4A8-4191-B63E-58AE12E74F32}"/>
              </a:ext>
            </a:extLst>
          </p:cNvPr>
          <p:cNvSpPr>
            <a:spLocks xmlns:a="http://schemas.openxmlformats.org/drawingml/2006/main" noGrp="1"/>
          </p:cNvSpPr>
          <p:nvPr/>
        </p:nvSpPr>
        <p:spPr>
          <a:xfrm xmlns:a="http://schemas.openxmlformats.org/drawingml/2006/main">
            <a:off x="6705600" y="2438400"/>
            <a:ext cx="1352550" cy="381000"/>
          </a:xfrm>
          <a:prstGeom xmlns:a="http://schemas.openxmlformats.org/drawingml/2006/main" prst="roundRect">
            <a:avLst>
              <a:gd name="adj" fmla="val 20000"/>
            </a:avLst>
          </a:prstGeom>
          <a:solidFill xmlns:a="http://schemas.openxmlformats.org/drawingml/2006/main">
            <a:srgbClr val="0B1A2B">
              <a:alpha val="83922"/>
            </a:srgbClr>
          </a:solidFill>
          <a:ln xmlns:a="http://schemas.openxmlformats.org/drawingml/2006/main" w="9525">
            <a:solidFill>
              <a:srgbClr val="18BDF2"/>
            </a:solidFill>
            <a:prstDash val="solid"/>
          </a:ln>
        </p:spPr>
      </p:sp>
      <p:sp>
        <p:nvSpPr>
          <p:cNvPr id="21" name="">
            <a:extLst xmlns:a="http://schemas.openxmlformats.org/drawingml/2006/main">
              <a:ext uri="{FF2B5EF4-FFF2-40B4-BE49-F238E27FC236}">
                <a16:creationId xmlns:a16="http://schemas.microsoft.com/office/drawing/2014/main" id="{C85F41B0-3214-4D94-BB68-91F0FACCE438}"/>
              </a:ext>
            </a:extLst>
          </p:cNvPr>
          <p:cNvSpPr>
            <a:spLocks xmlns:a="http://schemas.openxmlformats.org/drawingml/2006/main" noGrp="1"/>
          </p:cNvSpPr>
          <p:nvPr/>
        </p:nvSpPr>
        <p:spPr>
          <a:xfrm xmlns:a="http://schemas.openxmlformats.org/drawingml/2006/main">
            <a:off x="6838950" y="2505075"/>
            <a:ext cx="1085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8BDF2"/>
                </a:solidFill>
                <a:latin typeface="Microsoft YaHei"/>
                <a:ea typeface="Microsoft YaHei"/>
                <a:cs typeface="Microsoft YaHei"/>
              </a:defRPr>
            </a:pPr>
            <a:r>
              <a:rPr sz="1050" b="1">
                <a:solidFill>
                  <a:srgbClr val="18BDF2"/>
                </a:solidFill>
                <a:latin typeface="Microsoft YaHei"/>
                <a:ea typeface="Microsoft YaHei"/>
                <a:cs typeface="Microsoft YaHei"/>
              </a:rPr>
              <a:t>MoveIt 2</a:t>
            </a:r>
          </a:p>
        </p:txBody>
      </p:sp>
      <p:sp>
        <p:nvSpPr>
          <p:cNvPr id="22" name="">
            <a:extLst xmlns:a="http://schemas.openxmlformats.org/drawingml/2006/main">
              <a:ext uri="{FF2B5EF4-FFF2-40B4-BE49-F238E27FC236}">
                <a16:creationId xmlns:a16="http://schemas.microsoft.com/office/drawing/2014/main" id="{C68C5C7D-DD5F-4820-A130-DFAA54C2722A}"/>
              </a:ext>
            </a:extLst>
          </p:cNvPr>
          <p:cNvSpPr>
            <a:spLocks xmlns:a="http://schemas.openxmlformats.org/drawingml/2006/main" noGrp="1"/>
          </p:cNvSpPr>
          <p:nvPr/>
        </p:nvSpPr>
        <p:spPr>
          <a:xfrm xmlns:a="http://schemas.openxmlformats.org/drawingml/2006/main">
            <a:off x="914400" y="4476750"/>
            <a:ext cx="628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半自动抓取链路</a:t>
            </a:r>
          </a:p>
        </p:txBody>
      </p:sp>
      <p:sp>
        <p:nvSpPr>
          <p:cNvPr id="23" name="">
            <a:extLst xmlns:a="http://schemas.openxmlformats.org/drawingml/2006/main">
              <a:ext uri="{FF2B5EF4-FFF2-40B4-BE49-F238E27FC236}">
                <a16:creationId xmlns:a16="http://schemas.microsoft.com/office/drawing/2014/main" id="{0C526128-0011-4ECF-865E-7A1F9F4757C3}"/>
              </a:ext>
            </a:extLst>
          </p:cNvPr>
          <p:cNvSpPr>
            <a:spLocks xmlns:a="http://schemas.openxmlformats.org/drawingml/2006/main" noGrp="1"/>
          </p:cNvSpPr>
          <p:nvPr/>
        </p:nvSpPr>
        <p:spPr>
          <a:xfrm xmlns:a="http://schemas.openxmlformats.org/drawingml/2006/main">
            <a:off x="914400" y="4876800"/>
            <a:ext cx="704850" cy="19050"/>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1284E24D-8007-41BD-BE0D-9DD2139F9277}"/>
              </a:ext>
            </a:extLst>
          </p:cNvPr>
          <p:cNvSpPr>
            <a:spLocks xmlns:a="http://schemas.openxmlformats.org/drawingml/2006/main" noGrp="1"/>
          </p:cNvSpPr>
          <p:nvPr/>
        </p:nvSpPr>
        <p:spPr>
          <a:xfrm xmlns:a="http://schemas.openxmlformats.org/drawingml/2006/main">
            <a:off x="914400" y="5029200"/>
            <a:ext cx="6286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A9B6C8"/>
                </a:solidFill>
                <a:latin typeface="Microsoft YaHei"/>
                <a:ea typeface="Microsoft YaHei"/>
                <a:cs typeface="Microsoft YaHei"/>
              </a:defRPr>
            </a:pPr>
            <a:r>
              <a:rPr sz="1350" b="0">
                <a:solidFill>
                  <a:srgbClr val="A9B6C8"/>
                </a:solidFill>
                <a:latin typeface="Microsoft YaHei"/>
                <a:ea typeface="Microsoft YaHei"/>
                <a:cs typeface="Microsoft YaHei"/>
              </a:rPr>
              <a:t>深度相机采集目标与空间信息，YOLO-Segment 完成实例分割，ROS 2 与 MoveIt 2 组织通信和轨迹规划。</a:t>
            </a:r>
          </a:p>
        </p:txBody>
      </p:sp>
      <p:sp>
        <p:nvSpPr>
          <p:cNvPr id="25" name="anim-proof-9">
            <a:extLst xmlns:a="http://schemas.openxmlformats.org/drawingml/2006/main">
              <a:ext uri="{FF2B5EF4-FFF2-40B4-BE49-F238E27FC236}">
                <a16:creationId xmlns:a16="http://schemas.microsoft.com/office/drawing/2014/main" id="{08994F25-2191-4CF3-A08D-523FEDB63BEB}"/>
              </a:ext>
            </a:extLst>
          </p:cNvPr>
          <p:cNvSpPr>
            <a:spLocks xmlns:a="http://schemas.openxmlformats.org/drawingml/2006/main" noGrp="1"/>
          </p:cNvSpPr>
          <p:nvPr/>
        </p:nvSpPr>
        <p:spPr>
          <a:xfrm xmlns:a="http://schemas.openxmlformats.org/drawingml/2006/main">
            <a:off x="1104900" y="5619750"/>
            <a:ext cx="790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8FBFF"/>
                </a:solidFill>
                <a:latin typeface="Microsoft YaHei"/>
                <a:ea typeface="Microsoft YaHei"/>
                <a:cs typeface="Microsoft YaHei"/>
              </a:defRPr>
            </a:pPr>
            <a:r>
              <a:rPr sz="1575" b="1">
                <a:solidFill>
                  <a:srgbClr val="F8FBFF"/>
                </a:solidFill>
                <a:latin typeface="Microsoft YaHei"/>
                <a:ea typeface="Microsoft YaHei"/>
                <a:cs typeface="Microsoft YaHei"/>
              </a:rPr>
              <a:t>目标不是替代操作手，而是减少盲操、降低学习成本、提高装配稳定性。</a:t>
            </a:r>
          </a:p>
        </p:txBody>
      </p:sp>
    </p:spTree>
    <p:extLst>
      <p:ext uri="{BB962C8B-B14F-4D97-AF65-F5344CB8AC3E}">
        <p14:creationId xmlns:p14="http://schemas.microsoft.com/office/powerpoint/2010/main" val="1084079141"/>
      </p:ext>
    </p:extLst>
  </p:cSld>
  <p:transition advClick="1">
    <p:fade/>
  </p:transition>
  <p:timing>
    <p:tnLst>
      <p:par>
        <p:cTn id="1" dur="indefinite" restart="never" nodeType="tmRoot">
          <p:childTnLst>
            <p:seq concurrent="1" nextAc="seek">
              <p:cTn id="2" dur="indefinite" nodeType="mainSeq">
                <p:childTnLst>
                  <p:par>
                    <p:cTn id="8"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par>
                    <p:cTn id="14" fill="hold">
                      <p:stCondLst>
                        <p:cond delay="0"/>
                      </p:stCondLst>
                      <p:childTnLst>
                        <p:par>
                          <p:cTn id="13" fill="hold">
                            <p:stCondLst>
                              <p:cond delay="0"/>
                            </p:stCondLst>
                            <p:childTnLst>
                              <p:par>
                                <p:cTn id="9" presetID="10" presetClass="entr" presetSubtype="0" fill="hold" grpId="1"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5" grpId="1"/>
    </p:bldLst>
  </p:timing>
</p:sld>
</file>

<file path=ppt/slides/slide10.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BF4A60-6101-4F0D-A7A8-D17549DC5E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EA57873-DA28-4C59-85F8-936DBF6B51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alpha val="94902"/>
            </a:srgbClr>
          </a:solidFill>
          <a:ln xmlns:a="http://schemas.openxmlformats.org/drawingml/2006/main" w="0">
            <a:solidFill>
              <a:srgbClr val="000000">
                <a:alpha val="0"/>
              </a:srgbClr>
            </a:solidFill>
            <a:prstDash val="solid"/>
          </a:ln>
        </p:spPr>
      </p:sp>
      <p:pic>
        <p:nvPicPr>
          <p:cNvPr id="3" name="" descr="????????????????PPT"/>
          <p:cNvPicPr>
            <a:picLocks xmlns:a="http://schemas.openxmlformats.org/drawingml/2006/main" noChangeAspect="1"/>
          </p:cNvPicPr>
          <p:nvPr/>
        </p:nvPicPr>
        <p:blipFill>
          <a:blip xmlns:r="http://schemas.openxmlformats.org/officeDocument/2006/relationships" xmlns:a="http://schemas.openxmlformats.org/drawingml/2006/main" r:embed="Re899b69afd384bd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1FBC757-13AD-4201-B097-934ABB26FC1E}"/>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50B13">
              <a:alpha val="90980"/>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E6122B1-B4BC-4213-9C36-311D54506B03}"/>
              </a:ext>
            </a:extLst>
          </p:cNvPr>
          <p:cNvSpPr>
            <a:spLocks xmlns:a="http://schemas.openxmlformats.org/drawingml/2006/main" noGrp="1"/>
          </p:cNvSpPr>
          <p:nvPr/>
        </p:nvSpPr>
        <p:spPr>
          <a:xfrm xmlns:a="http://schemas.openxmlformats.org/drawingml/2006/main">
            <a:off x="0" y="6438900"/>
            <a:ext cx="12192000" cy="28575"/>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60B5F06-47B2-439F-97D6-F6FBFC9165CF}"/>
              </a:ext>
            </a:extLst>
          </p:cNvPr>
          <p:cNvSpPr>
            <a:spLocks xmlns:a="http://schemas.openxmlformats.org/drawingml/2006/main" noGrp="1"/>
          </p:cNvSpPr>
          <p:nvPr/>
        </p:nvSpPr>
        <p:spPr>
          <a:xfrm xmlns:a="http://schemas.openxmlformats.org/drawingml/2006/main">
            <a:off x="533400" y="6562725"/>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双机械臂协作与力控制器系统 | 暑期社会实践汇报</a:t>
            </a:r>
          </a:p>
        </p:txBody>
      </p:sp>
      <p:sp>
        <p:nvSpPr>
          <p:cNvPr id="7" name="">
            <a:extLst xmlns:a="http://schemas.openxmlformats.org/drawingml/2006/main">
              <a:ext uri="{FF2B5EF4-FFF2-40B4-BE49-F238E27FC236}">
                <a16:creationId xmlns:a16="http://schemas.microsoft.com/office/drawing/2014/main" id="{F2686E6A-1280-43CE-ACC5-A7682E316BB1}"/>
              </a:ext>
            </a:extLst>
          </p:cNvPr>
          <p:cNvSpPr>
            <a:spLocks xmlns:a="http://schemas.openxmlformats.org/drawingml/2006/main" noGrp="1"/>
          </p:cNvSpPr>
          <p:nvPr/>
        </p:nvSpPr>
        <p:spPr>
          <a:xfrm xmlns:a="http://schemas.openxmlformats.org/drawingml/2006/main">
            <a:off x="11239500" y="65627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DE3FF"/>
                </a:solidFill>
                <a:latin typeface="Microsoft YaHei"/>
                <a:ea typeface="Microsoft YaHei"/>
                <a:cs typeface="Microsoft YaHei"/>
              </a:defRPr>
            </a:pPr>
            <a:r>
              <a:rPr sz="900" b="0">
                <a:solidFill>
                  <a:srgbClr val="7DE3FF"/>
                </a:solidFill>
                <a:latin typeface="Microsoft YaHei"/>
                <a:ea typeface="Microsoft YaHei"/>
                <a:cs typeface="Microsoft YaHei"/>
              </a:rPr>
              <a:t>10</a:t>
            </a:r>
          </a:p>
        </p:txBody>
      </p:sp>
      <p:sp>
        <p:nvSpPr>
          <p:cNvPr id="8" name="kicker-10-marker">
            <a:extLst xmlns:a="http://schemas.openxmlformats.org/drawingml/2006/main">
              <a:ext uri="{FF2B5EF4-FFF2-40B4-BE49-F238E27FC236}">
                <a16:creationId xmlns:a16="http://schemas.microsoft.com/office/drawing/2014/main" id="{512116DC-9CB6-4359-ADC1-4C1FFDAFC533}"/>
              </a:ext>
            </a:extLst>
          </p:cNvPr>
          <p:cNvSpPr>
            <a:spLocks xmlns:a="http://schemas.openxmlformats.org/drawingml/2006/main" noGrp="1"/>
          </p:cNvSpPr>
          <p:nvPr/>
        </p:nvSpPr>
        <p:spPr>
          <a:xfrm xmlns:a="http://schemas.openxmlformats.org/drawingml/2006/main">
            <a:off x="552450" y="552450"/>
            <a:ext cx="66675" cy="2857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9" name="kicker-10-label">
            <a:extLst xmlns:a="http://schemas.openxmlformats.org/drawingml/2006/main">
              <a:ext uri="{FF2B5EF4-FFF2-40B4-BE49-F238E27FC236}">
                <a16:creationId xmlns:a16="http://schemas.microsoft.com/office/drawing/2014/main" id="{52AC441A-24F4-4786-8724-D08C5B91CCC3}"/>
              </a:ext>
            </a:extLst>
          </p:cNvPr>
          <p:cNvSpPr>
            <a:spLocks xmlns:a="http://schemas.openxmlformats.org/drawingml/2006/main" noGrp="1"/>
          </p:cNvSpPr>
          <p:nvPr/>
        </p:nvSpPr>
        <p:spPr>
          <a:xfrm xmlns:a="http://schemas.openxmlformats.org/drawingml/2006/main">
            <a:off x="742950" y="514350"/>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7DE3FF"/>
                </a:solidFill>
                <a:latin typeface="Microsoft YaHei"/>
                <a:ea typeface="Microsoft YaHei"/>
                <a:cs typeface="Microsoft YaHei"/>
              </a:defRPr>
            </a:pPr>
            <a:r>
              <a:rPr sz="1125" b="1">
                <a:solidFill>
                  <a:srgbClr val="7DE3FF"/>
                </a:solidFill>
                <a:latin typeface="Microsoft YaHei"/>
                <a:ea typeface="Microsoft YaHei"/>
                <a:cs typeface="Microsoft YaHei"/>
              </a:rPr>
              <a:t>OUTPUTS</a:t>
            </a:r>
          </a:p>
        </p:txBody>
      </p:sp>
      <p:sp>
        <p:nvSpPr>
          <p:cNvPr id="10" name="anim-title-10">
            <a:extLst xmlns:a="http://schemas.openxmlformats.org/drawingml/2006/main">
              <a:ext uri="{FF2B5EF4-FFF2-40B4-BE49-F238E27FC236}">
                <a16:creationId xmlns:a16="http://schemas.microsoft.com/office/drawing/2014/main" id="{87C99CC0-6BD2-47F1-A069-63568B34338E}"/>
              </a:ext>
            </a:extLst>
          </p:cNvPr>
          <p:cNvSpPr>
            <a:spLocks xmlns:a="http://schemas.openxmlformats.org/drawingml/2006/main" noGrp="1"/>
          </p:cNvSpPr>
          <p:nvPr/>
        </p:nvSpPr>
        <p:spPr>
          <a:xfrm xmlns:a="http://schemas.openxmlformats.org/drawingml/2006/main">
            <a:off x="552450" y="91440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8FBFF"/>
                </a:solidFill>
                <a:latin typeface="Microsoft YaHei UI"/>
                <a:ea typeface="Microsoft YaHei UI"/>
                <a:cs typeface="Microsoft YaHei UI"/>
              </a:defRPr>
            </a:pPr>
            <a:r>
              <a:rPr sz="3000" b="1">
                <a:solidFill>
                  <a:srgbClr val="F8FBFF"/>
                </a:solidFill>
                <a:latin typeface="Microsoft YaHei UI"/>
                <a:ea typeface="Microsoft YaHei UI"/>
                <a:cs typeface="Microsoft YaHei UI"/>
              </a:rPr>
              <a:t>实践成果以四条可延展的能力沉淀下来。</a:t>
            </a:r>
          </a:p>
        </p:txBody>
      </p:sp>
      <p:sp>
        <p:nvSpPr>
          <p:cNvPr id="11" name="">
            <a:extLst xmlns:a="http://schemas.openxmlformats.org/drawingml/2006/main">
              <a:ext uri="{FF2B5EF4-FFF2-40B4-BE49-F238E27FC236}">
                <a16:creationId xmlns:a16="http://schemas.microsoft.com/office/drawing/2014/main" id="{45A26722-E0DC-4058-BC39-3439582DFC52}"/>
              </a:ext>
            </a:extLst>
          </p:cNvPr>
          <p:cNvSpPr>
            <a:spLocks xmlns:a="http://schemas.openxmlformats.org/drawingml/2006/main" noGrp="1"/>
          </p:cNvSpPr>
          <p:nvPr/>
        </p:nvSpPr>
        <p:spPr>
          <a:xfrm xmlns:a="http://schemas.openxmlformats.org/drawingml/2006/main">
            <a:off x="819150" y="2390775"/>
            <a:ext cx="95250" cy="57150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12" name="anim-proof-10">
            <a:extLst xmlns:a="http://schemas.openxmlformats.org/drawingml/2006/main">
              <a:ext uri="{FF2B5EF4-FFF2-40B4-BE49-F238E27FC236}">
                <a16:creationId xmlns:a16="http://schemas.microsoft.com/office/drawing/2014/main" id="{63A4A9BE-CF29-4902-AE00-F659FB19A5EB}"/>
              </a:ext>
            </a:extLst>
          </p:cNvPr>
          <p:cNvSpPr>
            <a:spLocks xmlns:a="http://schemas.openxmlformats.org/drawingml/2006/main" noGrp="1"/>
          </p:cNvSpPr>
          <p:nvPr/>
        </p:nvSpPr>
        <p:spPr>
          <a:xfrm xmlns:a="http://schemas.openxmlformats.org/drawingml/2006/main">
            <a:off x="1047750" y="232410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8FBFF"/>
                </a:solidFill>
                <a:latin typeface="Microsoft YaHei UI"/>
                <a:ea typeface="Microsoft YaHei UI"/>
                <a:cs typeface="Microsoft YaHei UI"/>
              </a:defRPr>
            </a:pPr>
            <a:r>
              <a:rPr sz="1875" b="1">
                <a:solidFill>
                  <a:srgbClr val="F8FBFF"/>
                </a:solidFill>
                <a:latin typeface="Microsoft YaHei UI"/>
                <a:ea typeface="Microsoft YaHei UI"/>
                <a:cs typeface="Microsoft YaHei UI"/>
              </a:rPr>
              <a:t>硬件平台</a:t>
            </a:r>
          </a:p>
        </p:txBody>
      </p:sp>
      <p:sp>
        <p:nvSpPr>
          <p:cNvPr id="13" name="">
            <a:extLst xmlns:a="http://schemas.openxmlformats.org/drawingml/2006/main">
              <a:ext uri="{FF2B5EF4-FFF2-40B4-BE49-F238E27FC236}">
                <a16:creationId xmlns:a16="http://schemas.microsoft.com/office/drawing/2014/main" id="{C872AD78-D3FB-4109-BABA-E6AA5582C85C}"/>
              </a:ext>
            </a:extLst>
          </p:cNvPr>
          <p:cNvSpPr>
            <a:spLocks xmlns:a="http://schemas.openxmlformats.org/drawingml/2006/main" noGrp="1"/>
          </p:cNvSpPr>
          <p:nvPr/>
        </p:nvSpPr>
        <p:spPr>
          <a:xfrm xmlns:a="http://schemas.openxmlformats.org/drawingml/2006/main">
            <a:off x="1047750" y="2752725"/>
            <a:ext cx="3810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9B6C8"/>
                </a:solidFill>
                <a:latin typeface="Microsoft YaHei"/>
                <a:ea typeface="Microsoft YaHei"/>
                <a:cs typeface="Microsoft YaHei"/>
              </a:defRPr>
            </a:pPr>
            <a:r>
              <a:rPr sz="1200" b="0">
                <a:solidFill>
                  <a:srgbClr val="A9B6C8"/>
                </a:solidFill>
                <a:latin typeface="Microsoft YaHei"/>
                <a:ea typeface="Microsoft YaHei"/>
                <a:cs typeface="Microsoft YaHei"/>
              </a:rPr>
              <a:t>模块化双机械臂实体平台，兼顾高刚性、轻量化与整车适配。</a:t>
            </a:r>
          </a:p>
        </p:txBody>
      </p:sp>
      <p:sp>
        <p:nvSpPr>
          <p:cNvPr id="14" name="">
            <a:extLst xmlns:a="http://schemas.openxmlformats.org/drawingml/2006/main">
              <a:ext uri="{FF2B5EF4-FFF2-40B4-BE49-F238E27FC236}">
                <a16:creationId xmlns:a16="http://schemas.microsoft.com/office/drawing/2014/main" id="{276257AE-2187-405E-9034-DCF3E94A4BB6}"/>
              </a:ext>
            </a:extLst>
          </p:cNvPr>
          <p:cNvSpPr>
            <a:spLocks xmlns:a="http://schemas.openxmlformats.org/drawingml/2006/main" noGrp="1"/>
          </p:cNvSpPr>
          <p:nvPr/>
        </p:nvSpPr>
        <p:spPr>
          <a:xfrm xmlns:a="http://schemas.openxmlformats.org/drawingml/2006/main">
            <a:off x="5581650" y="2162175"/>
            <a:ext cx="95250" cy="571500"/>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A058587-EF74-4A60-9B28-7C77CD4630C4}"/>
              </a:ext>
            </a:extLst>
          </p:cNvPr>
          <p:cNvSpPr>
            <a:spLocks xmlns:a="http://schemas.openxmlformats.org/drawingml/2006/main" noGrp="1"/>
          </p:cNvSpPr>
          <p:nvPr/>
        </p:nvSpPr>
        <p:spPr>
          <a:xfrm xmlns:a="http://schemas.openxmlformats.org/drawingml/2006/main">
            <a:off x="5810250" y="209550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8FBFF"/>
                </a:solidFill>
                <a:latin typeface="Microsoft YaHei UI"/>
                <a:ea typeface="Microsoft YaHei UI"/>
                <a:cs typeface="Microsoft YaHei UI"/>
              </a:defRPr>
            </a:pPr>
            <a:r>
              <a:rPr sz="1875" b="1">
                <a:solidFill>
                  <a:srgbClr val="F8FBFF"/>
                </a:solidFill>
                <a:latin typeface="Microsoft YaHei UI"/>
                <a:ea typeface="Microsoft YaHei UI"/>
                <a:cs typeface="Microsoft YaHei UI"/>
              </a:rPr>
              <a:t>交互系统</a:t>
            </a:r>
          </a:p>
        </p:txBody>
      </p:sp>
      <p:sp>
        <p:nvSpPr>
          <p:cNvPr id="16" name="">
            <a:extLst xmlns:a="http://schemas.openxmlformats.org/drawingml/2006/main">
              <a:ext uri="{FF2B5EF4-FFF2-40B4-BE49-F238E27FC236}">
                <a16:creationId xmlns:a16="http://schemas.microsoft.com/office/drawing/2014/main" id="{949009BF-CC5E-4080-A776-6DAD610A66CF}"/>
              </a:ext>
            </a:extLst>
          </p:cNvPr>
          <p:cNvSpPr>
            <a:spLocks xmlns:a="http://schemas.openxmlformats.org/drawingml/2006/main" noGrp="1"/>
          </p:cNvSpPr>
          <p:nvPr/>
        </p:nvSpPr>
        <p:spPr>
          <a:xfrm xmlns:a="http://schemas.openxmlformats.org/drawingml/2006/main">
            <a:off x="5810250" y="2524125"/>
            <a:ext cx="3810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9B6C8"/>
                </a:solidFill>
                <a:latin typeface="Microsoft YaHei"/>
                <a:ea typeface="Microsoft YaHei"/>
                <a:cs typeface="Microsoft YaHei"/>
              </a:defRPr>
            </a:pPr>
            <a:r>
              <a:rPr sz="1200" b="0">
                <a:solidFill>
                  <a:srgbClr val="A9B6C8"/>
                </a:solidFill>
                <a:latin typeface="Microsoft YaHei"/>
                <a:ea typeface="Microsoft YaHei"/>
                <a:cs typeface="Microsoft YaHei"/>
              </a:rPr>
              <a:t>自适应重力补偿与主动力反馈控制器，改善操作直觉。</a:t>
            </a:r>
          </a:p>
        </p:txBody>
      </p:sp>
      <p:sp>
        <p:nvSpPr>
          <p:cNvPr id="17" name="">
            <a:extLst xmlns:a="http://schemas.openxmlformats.org/drawingml/2006/main">
              <a:ext uri="{FF2B5EF4-FFF2-40B4-BE49-F238E27FC236}">
                <a16:creationId xmlns:a16="http://schemas.microsoft.com/office/drawing/2014/main" id="{25F2B418-D111-4AB9-A7D0-E803979965D8}"/>
              </a:ext>
            </a:extLst>
          </p:cNvPr>
          <p:cNvSpPr>
            <a:spLocks xmlns:a="http://schemas.openxmlformats.org/drawingml/2006/main" noGrp="1"/>
          </p:cNvSpPr>
          <p:nvPr/>
        </p:nvSpPr>
        <p:spPr>
          <a:xfrm xmlns:a="http://schemas.openxmlformats.org/drawingml/2006/main">
            <a:off x="1295400" y="4543425"/>
            <a:ext cx="95250" cy="571500"/>
          </a:xfrm>
          <a:prstGeom xmlns:a="http://schemas.openxmlformats.org/drawingml/2006/main" prst="rect">
            <a:avLst/>
          </a:prstGeom>
          <a:solidFill xmlns:a="http://schemas.openxmlformats.org/drawingml/2006/main">
            <a:srgbClr val="52D273"/>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F5A1026B-491F-4972-93EA-E90052976F24}"/>
              </a:ext>
            </a:extLst>
          </p:cNvPr>
          <p:cNvSpPr>
            <a:spLocks xmlns:a="http://schemas.openxmlformats.org/drawingml/2006/main" noGrp="1"/>
          </p:cNvSpPr>
          <p:nvPr/>
        </p:nvSpPr>
        <p:spPr>
          <a:xfrm xmlns:a="http://schemas.openxmlformats.org/drawingml/2006/main">
            <a:off x="1524000" y="447675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8FBFF"/>
                </a:solidFill>
                <a:latin typeface="Microsoft YaHei UI"/>
                <a:ea typeface="Microsoft YaHei UI"/>
                <a:cs typeface="Microsoft YaHei UI"/>
              </a:defRPr>
            </a:pPr>
            <a:r>
              <a:rPr sz="1875" b="1">
                <a:solidFill>
                  <a:srgbClr val="F8FBFF"/>
                </a:solidFill>
                <a:latin typeface="Microsoft YaHei UI"/>
                <a:ea typeface="Microsoft YaHei UI"/>
                <a:cs typeface="Microsoft YaHei UI"/>
              </a:rPr>
              <a:t>算法方案</a:t>
            </a:r>
          </a:p>
        </p:txBody>
      </p:sp>
      <p:sp>
        <p:nvSpPr>
          <p:cNvPr id="19" name="">
            <a:extLst xmlns:a="http://schemas.openxmlformats.org/drawingml/2006/main">
              <a:ext uri="{FF2B5EF4-FFF2-40B4-BE49-F238E27FC236}">
                <a16:creationId xmlns:a16="http://schemas.microsoft.com/office/drawing/2014/main" id="{B8824253-A1FB-4227-A067-34DC2905AD86}"/>
              </a:ext>
            </a:extLst>
          </p:cNvPr>
          <p:cNvSpPr>
            <a:spLocks xmlns:a="http://schemas.openxmlformats.org/drawingml/2006/main" noGrp="1"/>
          </p:cNvSpPr>
          <p:nvPr/>
        </p:nvSpPr>
        <p:spPr>
          <a:xfrm xmlns:a="http://schemas.openxmlformats.org/drawingml/2006/main">
            <a:off x="1524000" y="4905375"/>
            <a:ext cx="3810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9B6C8"/>
                </a:solidFill>
                <a:latin typeface="Microsoft YaHei"/>
                <a:ea typeface="Microsoft YaHei"/>
                <a:cs typeface="Microsoft YaHei"/>
              </a:defRPr>
            </a:pPr>
            <a:r>
              <a:rPr sz="1200" b="0">
                <a:solidFill>
                  <a:srgbClr val="A9B6C8"/>
                </a:solidFill>
                <a:latin typeface="Microsoft YaHei"/>
                <a:ea typeface="Microsoft YaHei"/>
                <a:cs typeface="Microsoft YaHei"/>
              </a:rPr>
              <a:t>ROS 2 + YOLO + MoveIt2 的半自动辅助抓取路径。</a:t>
            </a:r>
          </a:p>
        </p:txBody>
      </p:sp>
      <p:sp>
        <p:nvSpPr>
          <p:cNvPr id="20" name="">
            <a:extLst xmlns:a="http://schemas.openxmlformats.org/drawingml/2006/main">
              <a:ext uri="{FF2B5EF4-FFF2-40B4-BE49-F238E27FC236}">
                <a16:creationId xmlns:a16="http://schemas.microsoft.com/office/drawing/2014/main" id="{A61C847E-29E0-49E7-A9E0-3A32977A27B7}"/>
              </a:ext>
            </a:extLst>
          </p:cNvPr>
          <p:cNvSpPr>
            <a:spLocks xmlns:a="http://schemas.openxmlformats.org/drawingml/2006/main" noGrp="1"/>
          </p:cNvSpPr>
          <p:nvPr/>
        </p:nvSpPr>
        <p:spPr>
          <a:xfrm xmlns:a="http://schemas.openxmlformats.org/drawingml/2006/main">
            <a:off x="6438900" y="4505325"/>
            <a:ext cx="95250" cy="571500"/>
          </a:xfrm>
          <a:prstGeom xmlns:a="http://schemas.openxmlformats.org/drawingml/2006/main" prst="rect">
            <a:avLst/>
          </a:prstGeom>
          <a:solidFill xmlns:a="http://schemas.openxmlformats.org/drawingml/2006/main">
            <a:srgbClr val="FFC857"/>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626EAF06-A8C4-4334-9C42-D7DC6C0A858B}"/>
              </a:ext>
            </a:extLst>
          </p:cNvPr>
          <p:cNvSpPr>
            <a:spLocks xmlns:a="http://schemas.openxmlformats.org/drawingml/2006/main" noGrp="1"/>
          </p:cNvSpPr>
          <p:nvPr/>
        </p:nvSpPr>
        <p:spPr>
          <a:xfrm xmlns:a="http://schemas.openxmlformats.org/drawingml/2006/main">
            <a:off x="6667500" y="443865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8FBFF"/>
                </a:solidFill>
                <a:latin typeface="Microsoft YaHei UI"/>
                <a:ea typeface="Microsoft YaHei UI"/>
                <a:cs typeface="Microsoft YaHei UI"/>
              </a:defRPr>
            </a:pPr>
            <a:r>
              <a:rPr sz="1875" b="1">
                <a:solidFill>
                  <a:srgbClr val="F8FBFF"/>
                </a:solidFill>
                <a:latin typeface="Microsoft YaHei UI"/>
                <a:ea typeface="Microsoft YaHei UI"/>
                <a:cs typeface="Microsoft YaHei UI"/>
              </a:rPr>
              <a:t>实践材料</a:t>
            </a:r>
          </a:p>
        </p:txBody>
      </p:sp>
      <p:sp>
        <p:nvSpPr>
          <p:cNvPr id="22" name="">
            <a:extLst xmlns:a="http://schemas.openxmlformats.org/drawingml/2006/main">
              <a:ext uri="{FF2B5EF4-FFF2-40B4-BE49-F238E27FC236}">
                <a16:creationId xmlns:a16="http://schemas.microsoft.com/office/drawing/2014/main" id="{03C5671E-90A0-4473-8A86-DFA1FDF74708}"/>
              </a:ext>
            </a:extLst>
          </p:cNvPr>
          <p:cNvSpPr>
            <a:spLocks xmlns:a="http://schemas.openxmlformats.org/drawingml/2006/main" noGrp="1"/>
          </p:cNvSpPr>
          <p:nvPr/>
        </p:nvSpPr>
        <p:spPr>
          <a:xfrm xmlns:a="http://schemas.openxmlformats.org/drawingml/2006/main">
            <a:off x="6667500" y="4867275"/>
            <a:ext cx="3810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9B6C8"/>
                </a:solidFill>
                <a:latin typeface="Microsoft YaHei"/>
                <a:ea typeface="Microsoft YaHei"/>
                <a:cs typeface="Microsoft YaHei"/>
              </a:defRPr>
            </a:pPr>
            <a:r>
              <a:rPr sz="1200" b="0">
                <a:solidFill>
                  <a:srgbClr val="A9B6C8"/>
                </a:solidFill>
                <a:latin typeface="Microsoft YaHei"/>
                <a:ea typeface="Microsoft YaHei"/>
                <a:cs typeface="Microsoft YaHei"/>
              </a:rPr>
              <a:t>立项申报、答辩汇报、过程记录与后续竞赛转化材料。</a:t>
            </a:r>
          </a:p>
        </p:txBody>
      </p:sp>
      <p:sp>
        <p:nvSpPr>
          <p:cNvPr id="23" name="">
            <a:extLst xmlns:a="http://schemas.openxmlformats.org/drawingml/2006/main">
              <a:ext uri="{FF2B5EF4-FFF2-40B4-BE49-F238E27FC236}">
                <a16:creationId xmlns:a16="http://schemas.microsoft.com/office/drawing/2014/main" id="{661976AB-4F87-4A88-97CD-A6EF9D8661AB}"/>
              </a:ext>
            </a:extLst>
          </p:cNvPr>
          <p:cNvSpPr>
            <a:spLocks xmlns:a="http://schemas.openxmlformats.org/drawingml/2006/main" noGrp="1"/>
          </p:cNvSpPr>
          <p:nvPr/>
        </p:nvSpPr>
        <p:spPr>
          <a:xfrm xmlns:a="http://schemas.openxmlformats.org/drawingml/2006/main">
            <a:off x="1905000" y="5753100"/>
            <a:ext cx="8191500" cy="323850"/>
          </a:xfrm>
          <a:prstGeom xmlns:a="http://schemas.openxmlformats.org/drawingml/2006/main" prst="roundRect">
            <a:avLst>
              <a:gd name="adj" fmla="val 23529"/>
            </a:avLst>
          </a:prstGeom>
          <a:solidFill xmlns:a="http://schemas.openxmlformats.org/drawingml/2006/main">
            <a:srgbClr val="101C30">
              <a:alpha val="80000"/>
            </a:srgbClr>
          </a:solidFill>
          <a:ln xmlns:a="http://schemas.openxmlformats.org/drawingml/2006/main" w="9525">
            <a:solidFill>
              <a:srgbClr val="2B4768"/>
            </a:solidFill>
            <a:prstDash val="solid"/>
          </a:ln>
        </p:spPr>
      </p:sp>
      <p:sp>
        <p:nvSpPr>
          <p:cNvPr id="24" name="">
            <a:extLst xmlns:a="http://schemas.openxmlformats.org/drawingml/2006/main">
              <a:ext uri="{FF2B5EF4-FFF2-40B4-BE49-F238E27FC236}">
                <a16:creationId xmlns:a16="http://schemas.microsoft.com/office/drawing/2014/main" id="{1B31A210-53EA-47E7-AD32-E8F9256B79CC}"/>
              </a:ext>
            </a:extLst>
          </p:cNvPr>
          <p:cNvSpPr>
            <a:spLocks xmlns:a="http://schemas.openxmlformats.org/drawingml/2006/main" noGrp="1"/>
          </p:cNvSpPr>
          <p:nvPr/>
        </p:nvSpPr>
        <p:spPr>
          <a:xfrm xmlns:a="http://schemas.openxmlformats.org/drawingml/2006/main">
            <a:off x="2038350" y="5819775"/>
            <a:ext cx="7924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7DE3FF"/>
                </a:solidFill>
                <a:latin typeface="Microsoft YaHei"/>
                <a:ea typeface="Microsoft YaHei"/>
                <a:cs typeface="Microsoft YaHei"/>
              </a:defRPr>
            </a:pPr>
            <a:r>
              <a:rPr sz="1050" b="1">
                <a:solidFill>
                  <a:srgbClr val="7DE3FF"/>
                </a:solidFill>
                <a:latin typeface="Microsoft YaHei"/>
                <a:ea typeface="Microsoft YaHei"/>
                <a:cs typeface="Microsoft YaHei"/>
              </a:rPr>
              <a:t>团队分工：策划组织 / 联络调研 / 数据整理 / 材料整合 / 媒体联系 / 成果分析</a:t>
            </a:r>
          </a:p>
        </p:txBody>
      </p:sp>
    </p:spTree>
    <p:extLst>
      <p:ext uri="{BB962C8B-B14F-4D97-AF65-F5344CB8AC3E}">
        <p14:creationId xmlns:p14="http://schemas.microsoft.com/office/powerpoint/2010/main" val="2130322459"/>
      </p:ext>
    </p:extLst>
  </p:cSld>
  <p:transition advClick="1">
    <p:fade/>
  </p:transition>
  <p:timing>
    <p:tnLst>
      <p:par>
        <p:cTn id="1" dur="indefinite" restart="never" nodeType="tmRoot">
          <p:childTnLst>
            <p:seq concurrent="1" nextAc="seek">
              <p:cTn id="2" dur="indefinite" nodeType="mainSeq">
                <p:childTnLst>
                  <p:par>
                    <p:cTn id="8"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par>
                    <p:cTn id="14" fill="hold">
                      <p:stCondLst>
                        <p:cond delay="0"/>
                      </p:stCondLst>
                      <p:childTnLst>
                        <p:par>
                          <p:cTn id="13" fill="hold">
                            <p:stCondLst>
                              <p:cond delay="0"/>
                            </p:stCondLst>
                            <p:childTnLst>
                              <p:par>
                                <p:cTn id="9" presetID="10" presetClass="entr" presetSubtype="0" fill="hold" grpId="1"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1"/>
    </p:bldLst>
  </p:timing>
</p:sld>
</file>

<file path=ppt/slides/slide11.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ED0F26-7026-463A-910D-E5C326A113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27603CB-7F68-4180-A9DB-CA465295650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alpha val="93725"/>
            </a:srgbClr>
          </a:solidFill>
          <a:ln xmlns:a="http://schemas.openxmlformats.org/drawingml/2006/main" w="0">
            <a:solidFill>
              <a:srgbClr val="000000">
                <a:alpha val="0"/>
              </a:srgbClr>
            </a:solidFill>
            <a:prstDash val="solid"/>
          </a:ln>
        </p:spPr>
      </p:sp>
      <p:pic>
        <p:nvPicPr>
          <p:cNvPr id="3" name="" descr="????????????????PPT"/>
          <p:cNvPicPr>
            <a:picLocks xmlns:a="http://schemas.openxmlformats.org/drawingml/2006/main" noChangeAspect="1"/>
          </p:cNvPicPr>
          <p:nvPr/>
        </p:nvPicPr>
        <p:blipFill>
          <a:blip xmlns:r="http://schemas.openxmlformats.org/officeDocument/2006/relationships" xmlns:a="http://schemas.openxmlformats.org/drawingml/2006/main" r:embed="Re65614ab65aa466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6054793-AE19-4EF0-824D-C2D71FAE28BB}"/>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50B13">
              <a:alpha val="90980"/>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76A8A79-AA1A-404E-8039-963D329AA132}"/>
              </a:ext>
            </a:extLst>
          </p:cNvPr>
          <p:cNvSpPr>
            <a:spLocks xmlns:a="http://schemas.openxmlformats.org/drawingml/2006/main" noGrp="1"/>
          </p:cNvSpPr>
          <p:nvPr/>
        </p:nvSpPr>
        <p:spPr>
          <a:xfrm xmlns:a="http://schemas.openxmlformats.org/drawingml/2006/main">
            <a:off x="0" y="6438900"/>
            <a:ext cx="12192000" cy="28575"/>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467E5B3-BFEF-4781-B74E-EC3CA587A7BE}"/>
              </a:ext>
            </a:extLst>
          </p:cNvPr>
          <p:cNvSpPr>
            <a:spLocks xmlns:a="http://schemas.openxmlformats.org/drawingml/2006/main" noGrp="1"/>
          </p:cNvSpPr>
          <p:nvPr/>
        </p:nvSpPr>
        <p:spPr>
          <a:xfrm xmlns:a="http://schemas.openxmlformats.org/drawingml/2006/main">
            <a:off x="533400" y="6562725"/>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双机械臂协作与力控制器系统 | 暑期社会实践汇报</a:t>
            </a:r>
          </a:p>
        </p:txBody>
      </p:sp>
      <p:sp>
        <p:nvSpPr>
          <p:cNvPr id="7" name="">
            <a:extLst xmlns:a="http://schemas.openxmlformats.org/drawingml/2006/main">
              <a:ext uri="{FF2B5EF4-FFF2-40B4-BE49-F238E27FC236}">
                <a16:creationId xmlns:a16="http://schemas.microsoft.com/office/drawing/2014/main" id="{2C46B2D1-58EF-43A9-A7D2-0D45BD7DB37F}"/>
              </a:ext>
            </a:extLst>
          </p:cNvPr>
          <p:cNvSpPr>
            <a:spLocks xmlns:a="http://schemas.openxmlformats.org/drawingml/2006/main" noGrp="1"/>
          </p:cNvSpPr>
          <p:nvPr/>
        </p:nvSpPr>
        <p:spPr>
          <a:xfrm xmlns:a="http://schemas.openxmlformats.org/drawingml/2006/main">
            <a:off x="11239500" y="65627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DE3FF"/>
                </a:solidFill>
                <a:latin typeface="Microsoft YaHei"/>
                <a:ea typeface="Microsoft YaHei"/>
                <a:cs typeface="Microsoft YaHei"/>
              </a:defRPr>
            </a:pPr>
            <a:r>
              <a:rPr sz="900" b="0">
                <a:solidFill>
                  <a:srgbClr val="7DE3FF"/>
                </a:solidFill>
                <a:latin typeface="Microsoft YaHei"/>
                <a:ea typeface="Microsoft YaHei"/>
                <a:cs typeface="Microsoft YaHei"/>
              </a:rPr>
              <a:t>11</a:t>
            </a:r>
          </a:p>
        </p:txBody>
      </p:sp>
      <p:sp>
        <p:nvSpPr>
          <p:cNvPr id="8" name="">
            <a:extLst xmlns:a="http://schemas.openxmlformats.org/drawingml/2006/main">
              <a:ext uri="{FF2B5EF4-FFF2-40B4-BE49-F238E27FC236}">
                <a16:creationId xmlns:a16="http://schemas.microsoft.com/office/drawing/2014/main" id="{BAAED39E-8C1A-4B2C-9DBF-B95EB4D19307}"/>
              </a:ext>
            </a:extLst>
          </p:cNvPr>
          <p:cNvSpPr>
            <a:spLocks xmlns:a="http://schemas.openxmlformats.org/drawingml/2006/main" noGrp="1"/>
          </p:cNvSpPr>
          <p:nvPr/>
        </p:nvSpPr>
        <p:spPr>
          <a:xfrm xmlns:a="http://schemas.openxmlformats.org/drawingml/2006/main">
            <a:off x="7372350" y="1276350"/>
            <a:ext cx="3448050" cy="2590800"/>
          </a:xfrm>
          <a:prstGeom xmlns:a="http://schemas.openxmlformats.org/drawingml/2006/main" prst="rect">
            <a:avLst/>
          </a:prstGeom>
          <a:solidFill xmlns:a="http://schemas.openxmlformats.org/drawingml/2006/main">
            <a:srgbClr val="000000">
              <a:alpha val="0"/>
            </a:srgbClr>
          </a:solidFill>
          <a:ln xmlns:a="http://schemas.openxmlformats.org/drawingml/2006/main" w="14288">
            <a:solidFill>
              <a:srgbClr val="18BDF2"/>
            </a:solidFill>
            <a:prstDash val="solid"/>
          </a:ln>
        </p:spPr>
      </p:sp>
      <p:pic>
        <p:nvPicPr>
          <p:cNvPr id="9" name="" descr="????????????????PPT"/>
          <p:cNvPicPr>
            <a:picLocks xmlns:a="http://schemas.openxmlformats.org/drawingml/2006/main" noChangeAspect="1"/>
          </p:cNvPicPr>
          <p:nvPr/>
        </p:nvPicPr>
        <p:blipFill>
          <a:blip xmlns:r="http://schemas.openxmlformats.org/officeDocument/2006/relationships" xmlns:a="http://schemas.openxmlformats.org/drawingml/2006/main" r:embed="R8acd338f9aaa4097"/>
          <a:srcRect xmlns:a="http://schemas.openxmlformats.org/drawingml/2006/main" l="12169" t="0" r="12169" b="0"/>
          <a:stretch xmlns:a="http://schemas.openxmlformats.org/drawingml/2006/main">
            <a:fillRect l="0" t="0" r="0" b="0"/>
          </a:stretch>
        </p:blipFill>
        <p:spPr>
          <a:xfrm xmlns:a="http://schemas.openxmlformats.org/drawingml/2006/main">
            <a:off x="7429500" y="1333500"/>
            <a:ext cx="3333750" cy="24765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3B719E6-4EBB-4BA2-95F1-E40D0DB5072B}"/>
              </a:ext>
            </a:extLst>
          </p:cNvPr>
          <p:cNvSpPr>
            <a:spLocks xmlns:a="http://schemas.openxmlformats.org/drawingml/2006/main" noGrp="1"/>
          </p:cNvSpPr>
          <p:nvPr/>
        </p:nvSpPr>
        <p:spPr>
          <a:xfrm xmlns:a="http://schemas.openxmlformats.org/drawingml/2006/main">
            <a:off x="7429500" y="3895725"/>
            <a:ext cx="3333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A9B6C8"/>
                </a:solidFill>
                <a:latin typeface="Microsoft YaHei"/>
                <a:ea typeface="Microsoft YaHei"/>
                <a:cs typeface="Microsoft YaHei"/>
              </a:defRPr>
            </a:pPr>
            <a:r>
              <a:rPr sz="900" b="0">
                <a:solidFill>
                  <a:srgbClr val="A9B6C8"/>
                </a:solidFill>
                <a:latin typeface="Microsoft YaHei"/>
                <a:ea typeface="Microsoft YaHei"/>
                <a:cs typeface="Microsoft YaHei"/>
              </a:rPr>
              <a:t>工程实物与操作验证</a:t>
            </a:r>
          </a:p>
        </p:txBody>
      </p:sp>
      <p:sp>
        <p:nvSpPr>
          <p:cNvPr id="11" name="kicker-11-marker">
            <a:extLst xmlns:a="http://schemas.openxmlformats.org/drawingml/2006/main">
              <a:ext uri="{FF2B5EF4-FFF2-40B4-BE49-F238E27FC236}">
                <a16:creationId xmlns:a16="http://schemas.microsoft.com/office/drawing/2014/main" id="{356BFDE9-8B5F-4F9E-A300-4FA0C14B6C7C}"/>
              </a:ext>
            </a:extLst>
          </p:cNvPr>
          <p:cNvSpPr>
            <a:spLocks xmlns:a="http://schemas.openxmlformats.org/drawingml/2006/main" noGrp="1"/>
          </p:cNvSpPr>
          <p:nvPr/>
        </p:nvSpPr>
        <p:spPr>
          <a:xfrm xmlns:a="http://schemas.openxmlformats.org/drawingml/2006/main">
            <a:off x="552450" y="552450"/>
            <a:ext cx="66675" cy="2857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12" name="kicker-11-label">
            <a:extLst xmlns:a="http://schemas.openxmlformats.org/drawingml/2006/main">
              <a:ext uri="{FF2B5EF4-FFF2-40B4-BE49-F238E27FC236}">
                <a16:creationId xmlns:a16="http://schemas.microsoft.com/office/drawing/2014/main" id="{9591536E-7115-461C-AD02-B73E9958255A}"/>
              </a:ext>
            </a:extLst>
          </p:cNvPr>
          <p:cNvSpPr>
            <a:spLocks xmlns:a="http://schemas.openxmlformats.org/drawingml/2006/main" noGrp="1"/>
          </p:cNvSpPr>
          <p:nvPr/>
        </p:nvSpPr>
        <p:spPr>
          <a:xfrm xmlns:a="http://schemas.openxmlformats.org/drawingml/2006/main">
            <a:off x="742950" y="514350"/>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7DE3FF"/>
                </a:solidFill>
                <a:latin typeface="Microsoft YaHei"/>
                <a:ea typeface="Microsoft YaHei"/>
                <a:cs typeface="Microsoft YaHei"/>
              </a:defRPr>
            </a:pPr>
            <a:r>
              <a:rPr sz="1125" b="1">
                <a:solidFill>
                  <a:srgbClr val="7DE3FF"/>
                </a:solidFill>
                <a:latin typeface="Microsoft YaHei"/>
                <a:ea typeface="Microsoft YaHei"/>
                <a:cs typeface="Microsoft YaHei"/>
              </a:rPr>
              <a:t>VALUE</a:t>
            </a:r>
          </a:p>
        </p:txBody>
      </p:sp>
      <p:sp>
        <p:nvSpPr>
          <p:cNvPr id="13" name="anim-title-11">
            <a:extLst xmlns:a="http://schemas.openxmlformats.org/drawingml/2006/main">
              <a:ext uri="{FF2B5EF4-FFF2-40B4-BE49-F238E27FC236}">
                <a16:creationId xmlns:a16="http://schemas.microsoft.com/office/drawing/2014/main" id="{02617A7C-4C89-4856-8031-1CCE90EB08F1}"/>
              </a:ext>
            </a:extLst>
          </p:cNvPr>
          <p:cNvSpPr>
            <a:spLocks xmlns:a="http://schemas.openxmlformats.org/drawingml/2006/main" noGrp="1"/>
          </p:cNvSpPr>
          <p:nvPr/>
        </p:nvSpPr>
        <p:spPr>
          <a:xfrm xmlns:a="http://schemas.openxmlformats.org/drawingml/2006/main">
            <a:off x="552450" y="91440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8FBFF"/>
                </a:solidFill>
                <a:latin typeface="Microsoft YaHei UI"/>
                <a:ea typeface="Microsoft YaHei UI"/>
                <a:cs typeface="Microsoft YaHei UI"/>
              </a:defRPr>
            </a:pPr>
            <a:r>
              <a:rPr sz="2850" b="1">
                <a:solidFill>
                  <a:srgbClr val="F8FBFF"/>
                </a:solidFill>
                <a:latin typeface="Microsoft YaHei UI"/>
                <a:ea typeface="Microsoft YaHei UI"/>
                <a:cs typeface="Microsoft YaHei UI"/>
              </a:rPr>
              <a:t>价值落在竞赛突破、工程转化与青年成长。</a:t>
            </a:r>
          </a:p>
        </p:txBody>
      </p:sp>
      <p:sp>
        <p:nvSpPr>
          <p:cNvPr id="14" name="">
            <a:extLst xmlns:a="http://schemas.openxmlformats.org/drawingml/2006/main">
              <a:ext uri="{FF2B5EF4-FFF2-40B4-BE49-F238E27FC236}">
                <a16:creationId xmlns:a16="http://schemas.microsoft.com/office/drawing/2014/main" id="{4BA2CEA1-2105-40B0-B8E0-EA85369EFB46}"/>
              </a:ext>
            </a:extLst>
          </p:cNvPr>
          <p:cNvSpPr>
            <a:spLocks xmlns:a="http://schemas.openxmlformats.org/drawingml/2006/main" noGrp="1"/>
          </p:cNvSpPr>
          <p:nvPr/>
        </p:nvSpPr>
        <p:spPr>
          <a:xfrm xmlns:a="http://schemas.openxmlformats.org/drawingml/2006/main">
            <a:off x="819150" y="2095500"/>
            <a:ext cx="5334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01 赛事突破</a:t>
            </a:r>
          </a:p>
        </p:txBody>
      </p:sp>
      <p:sp>
        <p:nvSpPr>
          <p:cNvPr id="15" name="">
            <a:extLst xmlns:a="http://schemas.openxmlformats.org/drawingml/2006/main">
              <a:ext uri="{FF2B5EF4-FFF2-40B4-BE49-F238E27FC236}">
                <a16:creationId xmlns:a16="http://schemas.microsoft.com/office/drawing/2014/main" id="{8907773E-0816-4671-A002-06C2345B42CC}"/>
              </a:ext>
            </a:extLst>
          </p:cNvPr>
          <p:cNvSpPr>
            <a:spLocks xmlns:a="http://schemas.openxmlformats.org/drawingml/2006/main" noGrp="1"/>
          </p:cNvSpPr>
          <p:nvPr/>
        </p:nvSpPr>
        <p:spPr>
          <a:xfrm xmlns:a="http://schemas.openxmlformats.org/drawingml/2006/main">
            <a:off x="819150" y="2495550"/>
            <a:ext cx="704850" cy="1905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8D512A68-97A9-470A-B4E1-DCC796DC472A}"/>
              </a:ext>
            </a:extLst>
          </p:cNvPr>
          <p:cNvSpPr>
            <a:spLocks xmlns:a="http://schemas.openxmlformats.org/drawingml/2006/main" noGrp="1"/>
          </p:cNvSpPr>
          <p:nvPr/>
        </p:nvSpPr>
        <p:spPr>
          <a:xfrm xmlns:a="http://schemas.openxmlformats.org/drawingml/2006/main">
            <a:off x="819150" y="2647950"/>
            <a:ext cx="53340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A9B6C8"/>
                </a:solidFill>
                <a:latin typeface="Microsoft YaHei"/>
                <a:ea typeface="Microsoft YaHei"/>
                <a:cs typeface="Microsoft YaHei"/>
              </a:defRPr>
            </a:pPr>
            <a:r>
              <a:rPr sz="1275" b="0">
                <a:solidFill>
                  <a:srgbClr val="A9B6C8"/>
                </a:solidFill>
                <a:latin typeface="Microsoft YaHei"/>
                <a:ea typeface="Microsoft YaHei"/>
                <a:cs typeface="Microsoft YaHei"/>
              </a:rPr>
              <a:t>挑战双单元高频并发装配任务，延续团队 2025 全国一等奖的技术落地能力。</a:t>
            </a:r>
          </a:p>
        </p:txBody>
      </p:sp>
      <p:sp>
        <p:nvSpPr>
          <p:cNvPr id="17" name="">
            <a:extLst xmlns:a="http://schemas.openxmlformats.org/drawingml/2006/main">
              <a:ext uri="{FF2B5EF4-FFF2-40B4-BE49-F238E27FC236}">
                <a16:creationId xmlns:a16="http://schemas.microsoft.com/office/drawing/2014/main" id="{FEA14868-2BBC-46C0-8B85-52529EA3683D}"/>
              </a:ext>
            </a:extLst>
          </p:cNvPr>
          <p:cNvSpPr>
            <a:spLocks xmlns:a="http://schemas.openxmlformats.org/drawingml/2006/main" noGrp="1"/>
          </p:cNvSpPr>
          <p:nvPr/>
        </p:nvSpPr>
        <p:spPr>
          <a:xfrm xmlns:a="http://schemas.openxmlformats.org/drawingml/2006/main">
            <a:off x="819150" y="3429000"/>
            <a:ext cx="5715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02 工程转化</a:t>
            </a:r>
          </a:p>
        </p:txBody>
      </p:sp>
      <p:sp>
        <p:nvSpPr>
          <p:cNvPr id="18" name="">
            <a:extLst xmlns:a="http://schemas.openxmlformats.org/drawingml/2006/main">
              <a:ext uri="{FF2B5EF4-FFF2-40B4-BE49-F238E27FC236}">
                <a16:creationId xmlns:a16="http://schemas.microsoft.com/office/drawing/2014/main" id="{8DC8C7A8-247E-4DB5-9A62-E9F832D918E8}"/>
              </a:ext>
            </a:extLst>
          </p:cNvPr>
          <p:cNvSpPr>
            <a:spLocks xmlns:a="http://schemas.openxmlformats.org/drawingml/2006/main" noGrp="1"/>
          </p:cNvSpPr>
          <p:nvPr/>
        </p:nvSpPr>
        <p:spPr>
          <a:xfrm xmlns:a="http://schemas.openxmlformats.org/drawingml/2006/main">
            <a:off x="819150" y="3829050"/>
            <a:ext cx="704850" cy="19050"/>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982F777B-0D99-4DA2-82A5-44B537B7604E}"/>
              </a:ext>
            </a:extLst>
          </p:cNvPr>
          <p:cNvSpPr>
            <a:spLocks xmlns:a="http://schemas.openxmlformats.org/drawingml/2006/main" noGrp="1"/>
          </p:cNvSpPr>
          <p:nvPr/>
        </p:nvSpPr>
        <p:spPr>
          <a:xfrm xmlns:a="http://schemas.openxmlformats.org/drawingml/2006/main">
            <a:off x="819150" y="3981450"/>
            <a:ext cx="57150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A9B6C8"/>
                </a:solidFill>
                <a:latin typeface="Microsoft YaHei"/>
                <a:ea typeface="Microsoft YaHei"/>
                <a:cs typeface="Microsoft YaHei"/>
              </a:defRPr>
            </a:pPr>
            <a:r>
              <a:rPr sz="1275" b="0">
                <a:solidFill>
                  <a:srgbClr val="A9B6C8"/>
                </a:solidFill>
                <a:latin typeface="Microsoft YaHei"/>
                <a:ea typeface="Microsoft YaHei"/>
                <a:cs typeface="Microsoft YaHei"/>
              </a:rPr>
              <a:t>双臂对等协同与力控夹爪可迁移到复杂异形件自适应抓取和工业自动化场景。</a:t>
            </a:r>
          </a:p>
        </p:txBody>
      </p:sp>
      <p:sp>
        <p:nvSpPr>
          <p:cNvPr id="20" name="">
            <a:extLst xmlns:a="http://schemas.openxmlformats.org/drawingml/2006/main">
              <a:ext uri="{FF2B5EF4-FFF2-40B4-BE49-F238E27FC236}">
                <a16:creationId xmlns:a16="http://schemas.microsoft.com/office/drawing/2014/main" id="{A69A0CC0-1DF8-4427-9814-241EB12327AD}"/>
              </a:ext>
            </a:extLst>
          </p:cNvPr>
          <p:cNvSpPr>
            <a:spLocks xmlns:a="http://schemas.openxmlformats.org/drawingml/2006/main" noGrp="1"/>
          </p:cNvSpPr>
          <p:nvPr/>
        </p:nvSpPr>
        <p:spPr>
          <a:xfrm xmlns:a="http://schemas.openxmlformats.org/drawingml/2006/main">
            <a:off x="819150" y="476250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8FBFF"/>
                </a:solidFill>
                <a:latin typeface="Microsoft YaHei UI"/>
                <a:ea typeface="Microsoft YaHei UI"/>
                <a:cs typeface="Microsoft YaHei UI"/>
              </a:defRPr>
            </a:pPr>
            <a:r>
              <a:rPr sz="1800" b="1">
                <a:solidFill>
                  <a:srgbClr val="F8FBFF"/>
                </a:solidFill>
                <a:latin typeface="Microsoft YaHei UI"/>
                <a:ea typeface="Microsoft YaHei UI"/>
                <a:cs typeface="Microsoft YaHei UI"/>
              </a:rPr>
              <a:t>03 实践育人</a:t>
            </a:r>
          </a:p>
        </p:txBody>
      </p:sp>
      <p:sp>
        <p:nvSpPr>
          <p:cNvPr id="21" name="">
            <a:extLst xmlns:a="http://schemas.openxmlformats.org/drawingml/2006/main">
              <a:ext uri="{FF2B5EF4-FFF2-40B4-BE49-F238E27FC236}">
                <a16:creationId xmlns:a16="http://schemas.microsoft.com/office/drawing/2014/main" id="{6D336CBE-E0B8-4623-BB57-44AA77AA0CEC}"/>
              </a:ext>
            </a:extLst>
          </p:cNvPr>
          <p:cNvSpPr>
            <a:spLocks xmlns:a="http://schemas.openxmlformats.org/drawingml/2006/main" noGrp="1"/>
          </p:cNvSpPr>
          <p:nvPr/>
        </p:nvSpPr>
        <p:spPr>
          <a:xfrm xmlns:a="http://schemas.openxmlformats.org/drawingml/2006/main">
            <a:off x="819150" y="5162550"/>
            <a:ext cx="704850" cy="19050"/>
          </a:xfrm>
          <a:prstGeom xmlns:a="http://schemas.openxmlformats.org/drawingml/2006/main" prst="rect">
            <a:avLst/>
          </a:prstGeom>
          <a:solidFill xmlns:a="http://schemas.openxmlformats.org/drawingml/2006/main">
            <a:srgbClr val="52D273"/>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2263D7E2-F4C5-4771-8F2B-F788F1128EDE}"/>
              </a:ext>
            </a:extLst>
          </p:cNvPr>
          <p:cNvSpPr>
            <a:spLocks xmlns:a="http://schemas.openxmlformats.org/drawingml/2006/main" noGrp="1"/>
          </p:cNvSpPr>
          <p:nvPr/>
        </p:nvSpPr>
        <p:spPr>
          <a:xfrm xmlns:a="http://schemas.openxmlformats.org/drawingml/2006/main">
            <a:off x="819150" y="5314950"/>
            <a:ext cx="58102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A9B6C8"/>
                </a:solidFill>
                <a:latin typeface="Microsoft YaHei"/>
                <a:ea typeface="Microsoft YaHei"/>
                <a:cs typeface="Microsoft YaHei"/>
              </a:defRPr>
            </a:pPr>
            <a:r>
              <a:rPr sz="1275" b="0">
                <a:solidFill>
                  <a:srgbClr val="A9B6C8"/>
                </a:solidFill>
                <a:latin typeface="Microsoft YaHei"/>
                <a:ea typeface="Microsoft YaHei"/>
                <a:cs typeface="Microsoft YaHei"/>
              </a:rPr>
              <a:t>把理论学习、调研拆解、实物验证与团队协作落到真实工程问题中，练就过硬本领。</a:t>
            </a:r>
          </a:p>
        </p:txBody>
      </p:sp>
      <p:sp>
        <p:nvSpPr>
          <p:cNvPr id="23" name="">
            <a:extLst xmlns:a="http://schemas.openxmlformats.org/drawingml/2006/main">
              <a:ext uri="{FF2B5EF4-FFF2-40B4-BE49-F238E27FC236}">
                <a16:creationId xmlns:a16="http://schemas.microsoft.com/office/drawing/2014/main" id="{B03B0632-BB96-44BA-89E1-612555DC2C11}"/>
              </a:ext>
            </a:extLst>
          </p:cNvPr>
          <p:cNvSpPr>
            <a:spLocks xmlns:a="http://schemas.openxmlformats.org/drawingml/2006/main" noGrp="1"/>
          </p:cNvSpPr>
          <p:nvPr/>
        </p:nvSpPr>
        <p:spPr>
          <a:xfrm xmlns:a="http://schemas.openxmlformats.org/drawingml/2006/main">
            <a:off x="7410450" y="4686300"/>
            <a:ext cx="3352800" cy="857250"/>
          </a:xfrm>
          <a:prstGeom xmlns:a="http://schemas.openxmlformats.org/drawingml/2006/main" prst="roundRect">
            <a:avLst>
              <a:gd name="adj" fmla="val 8889"/>
            </a:avLst>
          </a:prstGeom>
          <a:solidFill xmlns:a="http://schemas.openxmlformats.org/drawingml/2006/main">
            <a:srgbClr val="101C30">
              <a:alpha val="84706"/>
            </a:srgbClr>
          </a:solidFill>
          <a:ln xmlns:a="http://schemas.openxmlformats.org/drawingml/2006/main" w="9525">
            <a:solidFill>
              <a:srgbClr val="FF7A1A"/>
            </a:solidFill>
            <a:prstDash val="solid"/>
          </a:ln>
        </p:spPr>
      </p:sp>
      <p:sp>
        <p:nvSpPr>
          <p:cNvPr id="24" name="">
            <a:extLst xmlns:a="http://schemas.openxmlformats.org/drawingml/2006/main">
              <a:ext uri="{FF2B5EF4-FFF2-40B4-BE49-F238E27FC236}">
                <a16:creationId xmlns:a16="http://schemas.microsoft.com/office/drawing/2014/main" id="{7813A768-D9E1-401D-8745-7972DD1E6162}"/>
              </a:ext>
            </a:extLst>
          </p:cNvPr>
          <p:cNvSpPr>
            <a:spLocks xmlns:a="http://schemas.openxmlformats.org/drawingml/2006/main" noGrp="1"/>
          </p:cNvSpPr>
          <p:nvPr/>
        </p:nvSpPr>
        <p:spPr>
          <a:xfrm xmlns:a="http://schemas.openxmlformats.org/drawingml/2006/main">
            <a:off x="7696200" y="483870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7A1A"/>
                </a:solidFill>
                <a:latin typeface="Microsoft YaHei"/>
                <a:ea typeface="Microsoft YaHei"/>
                <a:cs typeface="Microsoft YaHei"/>
              </a:defRPr>
            </a:pPr>
            <a:r>
              <a:rPr sz="1275" b="1">
                <a:solidFill>
                  <a:srgbClr val="FF7A1A"/>
                </a:solidFill>
                <a:latin typeface="Microsoft YaHei"/>
                <a:ea typeface="Microsoft YaHei"/>
                <a:cs typeface="Microsoft YaHei"/>
              </a:rPr>
              <a:t>安全底线</a:t>
            </a:r>
          </a:p>
        </p:txBody>
      </p:sp>
      <p:sp>
        <p:nvSpPr>
          <p:cNvPr id="25" name="anim-proof-11">
            <a:extLst xmlns:a="http://schemas.openxmlformats.org/drawingml/2006/main">
              <a:ext uri="{FF2B5EF4-FFF2-40B4-BE49-F238E27FC236}">
                <a16:creationId xmlns:a16="http://schemas.microsoft.com/office/drawing/2014/main" id="{DC2277EA-A9A0-451F-824C-66530BD9BED5}"/>
              </a:ext>
            </a:extLst>
          </p:cNvPr>
          <p:cNvSpPr>
            <a:spLocks xmlns:a="http://schemas.openxmlformats.org/drawingml/2006/main" noGrp="1"/>
          </p:cNvSpPr>
          <p:nvPr/>
        </p:nvSpPr>
        <p:spPr>
          <a:xfrm xmlns:a="http://schemas.openxmlformats.org/drawingml/2006/main">
            <a:off x="7696200" y="5105400"/>
            <a:ext cx="2762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8FBFF"/>
                </a:solidFill>
                <a:latin typeface="Microsoft YaHei"/>
                <a:ea typeface="Microsoft YaHei"/>
                <a:cs typeface="Microsoft YaHei"/>
              </a:defRPr>
            </a:pPr>
            <a:r>
              <a:rPr sz="1050" b="0">
                <a:solidFill>
                  <a:srgbClr val="F8FBFF"/>
                </a:solidFill>
                <a:latin typeface="Microsoft YaHei"/>
                <a:ea typeface="Microsoft YaHei"/>
                <a:cs typeface="Microsoft YaHei"/>
              </a:rPr>
              <a:t>坚持安全第一，做好设备调试、电气联调、外出实践与赛场风险预案。</a:t>
            </a:r>
          </a:p>
        </p:txBody>
      </p:sp>
    </p:spTree>
    <p:extLst>
      <p:ext uri="{BB962C8B-B14F-4D97-AF65-F5344CB8AC3E}">
        <p14:creationId xmlns:p14="http://schemas.microsoft.com/office/powerpoint/2010/main" val="1909583518"/>
      </p:ext>
    </p:extLst>
  </p:cSld>
  <p:transition advClick="1">
    <p:fade/>
  </p:transition>
  <p:timing>
    <p:tnLst>
      <p:par>
        <p:cTn id="1" dur="indefinite" restart="never" nodeType="tmRoot">
          <p:childTnLst>
            <p:seq concurrent="1" nextAc="seek">
              <p:cTn id="2" dur="indefinite" nodeType="mainSeq">
                <p:childTnLst>
                  <p:par>
                    <p:cTn id="8"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childTnLst>
                          </p:cTn>
                        </p:par>
                      </p:childTnLst>
                    </p:cTn>
                  </p:par>
                  <p:par>
                    <p:cTn id="14" fill="hold">
                      <p:stCondLst>
                        <p:cond delay="0"/>
                      </p:stCondLst>
                      <p:childTnLst>
                        <p:par>
                          <p:cTn id="13" fill="hold">
                            <p:stCondLst>
                              <p:cond delay="0"/>
                            </p:stCondLst>
                            <p:childTnLst>
                              <p:par>
                                <p:cTn id="9" presetID="10" presetClass="entr" presetSubtype="0" fill="hold" grpId="1"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5" grpId="1"/>
    </p:bldLst>
  </p:timing>
</p:sld>
</file>

<file path=ppt/slides/slide12.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DC182C-7C6C-456A-8A6A-0DBAFA961A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solidFill>
          <a:ln xmlns:a="http://schemas.openxmlformats.org/drawingml/2006/main" w="0">
            <a:solidFill>
              <a:srgbClr val="000000">
                <a:alpha val="0"/>
              </a:srgbClr>
            </a:solidFill>
            <a:prstDash val="solid"/>
          </a:ln>
        </p:spPr>
      </p:sp>
      <p:pic>
        <p:nvPicPr>
          <p:cNvPr id="2" name="" descr="????????????????PPT"/>
          <p:cNvPicPr>
            <a:picLocks xmlns:a="http://schemas.openxmlformats.org/drawingml/2006/main" noChangeAspect="1"/>
          </p:cNvPicPr>
          <p:nvPr/>
        </p:nvPicPr>
        <p:blipFill>
          <a:blip xmlns:r="http://schemas.openxmlformats.org/officeDocument/2006/relationships" xmlns:a="http://schemas.openxmlformats.org/drawingml/2006/main" r:embed="R1f534d247a3542b9"/>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B3B691-4738-411C-B447-1430576664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B13">
              <a:alpha val="78431"/>
            </a:srgbClr>
          </a:solidFill>
          <a:ln xmlns:a="http://schemas.openxmlformats.org/drawingml/2006/main" w="0">
            <a:solidFill>
              <a:srgbClr val="000000">
                <a:alpha val="0"/>
              </a:srgbClr>
            </a:solidFill>
            <a:prstDash val="solid"/>
          </a:ln>
        </p:spPr>
      </p:sp>
      <p:pic>
        <p:nvPicPr>
          <p:cNvPr id="4" name="" descr="????????????????PPT"/>
          <p:cNvPicPr>
            <a:picLocks xmlns:a="http://schemas.openxmlformats.org/drawingml/2006/main" noChangeAspect="1"/>
          </p:cNvPicPr>
          <p:nvPr/>
        </p:nvPicPr>
        <p:blipFill>
          <a:blip xmlns:r="http://schemas.openxmlformats.org/officeDocument/2006/relationships" xmlns:a="http://schemas.openxmlformats.org/drawingml/2006/main" r:embed="R9aa9173b62c2464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5" name="" descr="????????????????PPT"/>
          <p:cNvPicPr>
            <a:picLocks xmlns:a="http://schemas.openxmlformats.org/drawingml/2006/main" noChangeAspect="1"/>
          </p:cNvPicPr>
          <p:nvPr/>
        </p:nvPicPr>
        <p:blipFill>
          <a:blip xmlns:r="http://schemas.openxmlformats.org/officeDocument/2006/relationships" xmlns:a="http://schemas.openxmlformats.org/drawingml/2006/main" r:embed="R9f29848f30534da8"/>
          <a:srcRect xmlns:a="http://schemas.openxmlformats.org/drawingml/2006/main" l="12291" t="0" r="12291" b="0"/>
          <a:stretch xmlns:a="http://schemas.openxmlformats.org/drawingml/2006/main">
            <a:fillRect l="0" t="0" r="0" b="0"/>
          </a:stretch>
        </p:blipFill>
        <p:spPr>
          <a:xfrm xmlns:a="http://schemas.openxmlformats.org/drawingml/2006/main">
            <a:off x="0" y="0"/>
            <a:ext cx="3714750" cy="685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E3DDA51-2A39-4431-8F06-06999C897062}"/>
              </a:ext>
            </a:extLst>
          </p:cNvPr>
          <p:cNvSpPr>
            <a:spLocks xmlns:a="http://schemas.openxmlformats.org/drawingml/2006/main" noGrp="1"/>
          </p:cNvSpPr>
          <p:nvPr/>
        </p:nvSpPr>
        <p:spPr>
          <a:xfrm xmlns:a="http://schemas.openxmlformats.org/drawingml/2006/main">
            <a:off x="0" y="0"/>
            <a:ext cx="3714750" cy="6858000"/>
          </a:xfrm>
          <a:prstGeom xmlns:a="http://schemas.openxmlformats.org/drawingml/2006/main" prst="rect">
            <a:avLst/>
          </a:prstGeom>
          <a:solidFill xmlns:a="http://schemas.openxmlformats.org/drawingml/2006/main">
            <a:srgbClr val="008AD0">
              <a:alpha val="45882"/>
            </a:srgbClr>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8779BBF-5B8E-4519-B27B-93E22C51AFCA}"/>
              </a:ext>
            </a:extLst>
          </p:cNvPr>
          <p:cNvSpPr>
            <a:spLocks xmlns:a="http://schemas.openxmlformats.org/drawingml/2006/main" noGrp="1"/>
          </p:cNvSpPr>
          <p:nvPr/>
        </p:nvSpPr>
        <p:spPr>
          <a:xfrm xmlns:a="http://schemas.openxmlformats.org/drawingml/2006/main">
            <a:off x="3714750" y="0"/>
            <a:ext cx="47625" cy="6858000"/>
          </a:xfrm>
          <a:prstGeom xmlns:a="http://schemas.openxmlformats.org/drawingml/2006/main" prst="rect">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B203482-853C-4205-860C-F110AA0C736D}"/>
              </a:ext>
            </a:extLst>
          </p:cNvPr>
          <p:cNvSpPr>
            <a:spLocks xmlns:a="http://schemas.openxmlformats.org/drawingml/2006/main" noGrp="1"/>
          </p:cNvSpPr>
          <p:nvPr/>
        </p:nvSpPr>
        <p:spPr>
          <a:xfrm xmlns:a="http://schemas.openxmlformats.org/drawingml/2006/main">
            <a:off x="4953000" y="64770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7DE3FF"/>
                </a:solidFill>
                <a:latin typeface="Microsoft YaHei"/>
                <a:ea typeface="Microsoft YaHei"/>
                <a:cs typeface="Microsoft YaHei"/>
              </a:defRPr>
            </a:pPr>
            <a:r>
              <a:rPr sz="1350" b="1">
                <a:solidFill>
                  <a:srgbClr val="7DE3FF"/>
                </a:solidFill>
                <a:latin typeface="Microsoft YaHei"/>
                <a:ea typeface="Microsoft YaHei"/>
                <a:cs typeface="Microsoft YaHei"/>
              </a:rPr>
              <a:t>NEXT STEPS</a:t>
            </a:r>
          </a:p>
        </p:txBody>
      </p:sp>
      <p:sp>
        <p:nvSpPr>
          <p:cNvPr id="9" name="anim-title-12">
            <a:extLst xmlns:a="http://schemas.openxmlformats.org/drawingml/2006/main">
              <a:ext uri="{FF2B5EF4-FFF2-40B4-BE49-F238E27FC236}">
                <a16:creationId xmlns:a16="http://schemas.microsoft.com/office/drawing/2014/main" id="{27DE1DB5-F16B-4131-9D87-6396A7302130}"/>
              </a:ext>
            </a:extLst>
          </p:cNvPr>
          <p:cNvSpPr>
            <a:spLocks xmlns:a="http://schemas.openxmlformats.org/drawingml/2006/main" noGrp="1"/>
          </p:cNvSpPr>
          <p:nvPr/>
        </p:nvSpPr>
        <p:spPr>
          <a:xfrm xmlns:a="http://schemas.openxmlformats.org/drawingml/2006/main">
            <a:off x="4953000" y="1162050"/>
            <a:ext cx="6191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8FBFF"/>
                </a:solidFill>
                <a:latin typeface="Microsoft YaHei UI"/>
                <a:ea typeface="Microsoft YaHei UI"/>
                <a:cs typeface="Microsoft YaHei UI"/>
              </a:defRPr>
            </a:pPr>
            <a:r>
              <a:rPr sz="3000" b="1">
                <a:solidFill>
                  <a:srgbClr val="F8FBFF"/>
                </a:solidFill>
                <a:latin typeface="Microsoft YaHei UI"/>
                <a:ea typeface="Microsoft YaHei UI"/>
                <a:cs typeface="Microsoft YaHei UI"/>
              </a:rPr>
              <a:t>从单臂验证，迈向双臂整车联调。</a:t>
            </a:r>
          </a:p>
        </p:txBody>
      </p:sp>
      <p:sp>
        <p:nvSpPr>
          <p:cNvPr id="10" name="">
            <a:extLst xmlns:a="http://schemas.openxmlformats.org/drawingml/2006/main">
              <a:ext uri="{FF2B5EF4-FFF2-40B4-BE49-F238E27FC236}">
                <a16:creationId xmlns:a16="http://schemas.microsoft.com/office/drawing/2014/main" id="{9BD0A4BF-C23C-407E-B17B-96009ACB1691}"/>
              </a:ext>
            </a:extLst>
          </p:cNvPr>
          <p:cNvSpPr>
            <a:spLocks xmlns:a="http://schemas.openxmlformats.org/drawingml/2006/main" noGrp="1"/>
          </p:cNvSpPr>
          <p:nvPr/>
        </p:nvSpPr>
        <p:spPr>
          <a:xfrm xmlns:a="http://schemas.openxmlformats.org/drawingml/2006/main">
            <a:off x="4953000" y="2305050"/>
            <a:ext cx="514350" cy="514350"/>
          </a:xfrm>
          <a:prstGeom xmlns:a="http://schemas.openxmlformats.org/drawingml/2006/main" prst="ellipse">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79B4DCC-87C9-4E93-84AA-D2D745D8D49D}"/>
              </a:ext>
            </a:extLst>
          </p:cNvPr>
          <p:cNvSpPr>
            <a:spLocks xmlns:a="http://schemas.openxmlformats.org/drawingml/2006/main" noGrp="1"/>
          </p:cNvSpPr>
          <p:nvPr/>
        </p:nvSpPr>
        <p:spPr>
          <a:xfrm xmlns:a="http://schemas.openxmlformats.org/drawingml/2006/main">
            <a:off x="4953000" y="2428875"/>
            <a:ext cx="514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050B13"/>
                </a:solidFill>
                <a:latin typeface="Microsoft YaHei UI"/>
                <a:ea typeface="Microsoft YaHei UI"/>
                <a:cs typeface="Microsoft YaHei UI"/>
              </a:defRPr>
            </a:pPr>
            <a:r>
              <a:rPr sz="1500" b="1">
                <a:solidFill>
                  <a:srgbClr val="050B13"/>
                </a:solidFill>
                <a:latin typeface="Microsoft YaHei UI"/>
                <a:ea typeface="Microsoft YaHei UI"/>
                <a:cs typeface="Microsoft YaHei UI"/>
              </a:rPr>
              <a:t>1</a:t>
            </a:r>
          </a:p>
        </p:txBody>
      </p:sp>
      <p:sp>
        <p:nvSpPr>
          <p:cNvPr id="12" name="">
            <a:extLst xmlns:a="http://schemas.openxmlformats.org/drawingml/2006/main">
              <a:ext uri="{FF2B5EF4-FFF2-40B4-BE49-F238E27FC236}">
                <a16:creationId xmlns:a16="http://schemas.microsoft.com/office/drawing/2014/main" id="{F5609FC3-812F-4942-AB52-493E2BC3429D}"/>
              </a:ext>
            </a:extLst>
          </p:cNvPr>
          <p:cNvSpPr>
            <a:spLocks xmlns:a="http://schemas.openxmlformats.org/drawingml/2006/main" noGrp="1"/>
          </p:cNvSpPr>
          <p:nvPr/>
        </p:nvSpPr>
        <p:spPr>
          <a:xfrm xmlns:a="http://schemas.openxmlformats.org/drawingml/2006/main">
            <a:off x="5715000" y="23241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8FBFF"/>
                </a:solidFill>
                <a:latin typeface="Microsoft YaHei"/>
                <a:ea typeface="Microsoft YaHei"/>
                <a:cs typeface="Microsoft YaHei"/>
              </a:defRPr>
            </a:pPr>
            <a:r>
              <a:rPr sz="1575" b="1">
                <a:solidFill>
                  <a:srgbClr val="F8FBFF"/>
                </a:solidFill>
                <a:latin typeface="Microsoft YaHei"/>
                <a:ea typeface="Microsoft YaHei"/>
                <a:cs typeface="Microsoft YaHei"/>
              </a:rPr>
              <a:t>资金到位</a:t>
            </a:r>
          </a:p>
        </p:txBody>
      </p:sp>
      <p:sp>
        <p:nvSpPr>
          <p:cNvPr id="13" name="">
            <a:extLst xmlns:a="http://schemas.openxmlformats.org/drawingml/2006/main">
              <a:ext uri="{FF2B5EF4-FFF2-40B4-BE49-F238E27FC236}">
                <a16:creationId xmlns:a16="http://schemas.microsoft.com/office/drawing/2014/main" id="{F63CC441-6AE1-4498-BD91-E623BDF28C32}"/>
              </a:ext>
            </a:extLst>
          </p:cNvPr>
          <p:cNvSpPr>
            <a:spLocks xmlns:a="http://schemas.openxmlformats.org/drawingml/2006/main" noGrp="1"/>
          </p:cNvSpPr>
          <p:nvPr/>
        </p:nvSpPr>
        <p:spPr>
          <a:xfrm xmlns:a="http://schemas.openxmlformats.org/drawingml/2006/main">
            <a:off x="5715000" y="26289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A9B6C8"/>
                </a:solidFill>
                <a:latin typeface="Microsoft YaHei"/>
                <a:ea typeface="Microsoft YaHei"/>
                <a:cs typeface="Microsoft YaHei"/>
              </a:defRPr>
            </a:pPr>
            <a:r>
              <a:rPr sz="1275" b="0">
                <a:solidFill>
                  <a:srgbClr val="A9B6C8"/>
                </a:solidFill>
                <a:latin typeface="Microsoft YaHei"/>
                <a:ea typeface="Microsoft YaHei"/>
                <a:cs typeface="Microsoft YaHei"/>
              </a:rPr>
              <a:t>采购大扭矩电机与关键传动件</a:t>
            </a:r>
          </a:p>
        </p:txBody>
      </p:sp>
      <p:sp>
        <p:nvSpPr>
          <p:cNvPr id="14" name="">
            <a:extLst xmlns:a="http://schemas.openxmlformats.org/drawingml/2006/main">
              <a:ext uri="{FF2B5EF4-FFF2-40B4-BE49-F238E27FC236}">
                <a16:creationId xmlns:a16="http://schemas.microsoft.com/office/drawing/2014/main" id="{CEE44CC1-677F-44DD-BD63-CF6A4046938F}"/>
              </a:ext>
            </a:extLst>
          </p:cNvPr>
          <p:cNvSpPr>
            <a:spLocks xmlns:a="http://schemas.openxmlformats.org/drawingml/2006/main" noGrp="1"/>
          </p:cNvSpPr>
          <p:nvPr/>
        </p:nvSpPr>
        <p:spPr>
          <a:xfrm xmlns:a="http://schemas.openxmlformats.org/drawingml/2006/main">
            <a:off x="5200650" y="2857500"/>
            <a:ext cx="19050" cy="209550"/>
          </a:xfrm>
          <a:prstGeom xmlns:a="http://schemas.openxmlformats.org/drawingml/2006/main" prst="rect">
            <a:avLst/>
          </a:prstGeom>
          <a:solidFill xmlns:a="http://schemas.openxmlformats.org/drawingml/2006/main">
            <a:srgbClr val="31516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3F9C0644-34FD-496D-BBE4-A58A823C86BD}"/>
              </a:ext>
            </a:extLst>
          </p:cNvPr>
          <p:cNvSpPr>
            <a:spLocks xmlns:a="http://schemas.openxmlformats.org/drawingml/2006/main" noGrp="1"/>
          </p:cNvSpPr>
          <p:nvPr/>
        </p:nvSpPr>
        <p:spPr>
          <a:xfrm xmlns:a="http://schemas.openxmlformats.org/drawingml/2006/main">
            <a:off x="4953000" y="3067050"/>
            <a:ext cx="514350" cy="514350"/>
          </a:xfrm>
          <a:prstGeom xmlns:a="http://schemas.openxmlformats.org/drawingml/2006/main" prst="ellipse">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E841915-1E05-4DAD-9824-BC38B0B84472}"/>
              </a:ext>
            </a:extLst>
          </p:cNvPr>
          <p:cNvSpPr>
            <a:spLocks xmlns:a="http://schemas.openxmlformats.org/drawingml/2006/main" noGrp="1"/>
          </p:cNvSpPr>
          <p:nvPr/>
        </p:nvSpPr>
        <p:spPr>
          <a:xfrm xmlns:a="http://schemas.openxmlformats.org/drawingml/2006/main">
            <a:off x="4953000" y="3190875"/>
            <a:ext cx="514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050B13"/>
                </a:solidFill>
                <a:latin typeface="Microsoft YaHei UI"/>
                <a:ea typeface="Microsoft YaHei UI"/>
                <a:cs typeface="Microsoft YaHei UI"/>
              </a:defRPr>
            </a:pPr>
            <a:r>
              <a:rPr sz="1500" b="1">
                <a:solidFill>
                  <a:srgbClr val="050B13"/>
                </a:solidFill>
                <a:latin typeface="Microsoft YaHei UI"/>
                <a:ea typeface="Microsoft YaHei UI"/>
                <a:cs typeface="Microsoft YaHei UI"/>
              </a:rPr>
              <a:t>2</a:t>
            </a:r>
          </a:p>
        </p:txBody>
      </p:sp>
      <p:sp>
        <p:nvSpPr>
          <p:cNvPr id="17" name="">
            <a:extLst xmlns:a="http://schemas.openxmlformats.org/drawingml/2006/main">
              <a:ext uri="{FF2B5EF4-FFF2-40B4-BE49-F238E27FC236}">
                <a16:creationId xmlns:a16="http://schemas.microsoft.com/office/drawing/2014/main" id="{BB2F4B6C-5C69-4130-B609-0118F2E4694C}"/>
              </a:ext>
            </a:extLst>
          </p:cNvPr>
          <p:cNvSpPr>
            <a:spLocks xmlns:a="http://schemas.openxmlformats.org/drawingml/2006/main" noGrp="1"/>
          </p:cNvSpPr>
          <p:nvPr/>
        </p:nvSpPr>
        <p:spPr>
          <a:xfrm xmlns:a="http://schemas.openxmlformats.org/drawingml/2006/main">
            <a:off x="5715000" y="30861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8FBFF"/>
                </a:solidFill>
                <a:latin typeface="Microsoft YaHei"/>
                <a:ea typeface="Microsoft YaHei"/>
                <a:cs typeface="Microsoft YaHei"/>
              </a:defRPr>
            </a:pPr>
            <a:r>
              <a:rPr sz="1575" b="1">
                <a:solidFill>
                  <a:srgbClr val="F8FBFF"/>
                </a:solidFill>
                <a:latin typeface="Microsoft YaHei"/>
                <a:ea typeface="Microsoft YaHei"/>
                <a:cs typeface="Microsoft YaHei"/>
              </a:rPr>
              <a:t>整车联调</a:t>
            </a:r>
          </a:p>
        </p:txBody>
      </p:sp>
      <p:sp>
        <p:nvSpPr>
          <p:cNvPr id="18" name="">
            <a:extLst xmlns:a="http://schemas.openxmlformats.org/drawingml/2006/main">
              <a:ext uri="{FF2B5EF4-FFF2-40B4-BE49-F238E27FC236}">
                <a16:creationId xmlns:a16="http://schemas.microsoft.com/office/drawing/2014/main" id="{B9646925-A709-4456-A2D4-33000F5515BF}"/>
              </a:ext>
            </a:extLst>
          </p:cNvPr>
          <p:cNvSpPr>
            <a:spLocks xmlns:a="http://schemas.openxmlformats.org/drawingml/2006/main" noGrp="1"/>
          </p:cNvSpPr>
          <p:nvPr/>
        </p:nvSpPr>
        <p:spPr>
          <a:xfrm xmlns:a="http://schemas.openxmlformats.org/drawingml/2006/main">
            <a:off x="5715000" y="33909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A9B6C8"/>
                </a:solidFill>
                <a:latin typeface="Microsoft YaHei"/>
                <a:ea typeface="Microsoft YaHei"/>
                <a:cs typeface="Microsoft YaHei"/>
              </a:defRPr>
            </a:pPr>
            <a:r>
              <a:rPr sz="1275" b="0">
                <a:solidFill>
                  <a:srgbClr val="A9B6C8"/>
                </a:solidFill>
                <a:latin typeface="Microsoft YaHei"/>
                <a:ea typeface="Microsoft YaHei"/>
                <a:cs typeface="Microsoft YaHei"/>
              </a:rPr>
              <a:t>复刻单臂闭环并完成双臂同步</a:t>
            </a:r>
          </a:p>
        </p:txBody>
      </p:sp>
      <p:sp>
        <p:nvSpPr>
          <p:cNvPr id="19" name="">
            <a:extLst xmlns:a="http://schemas.openxmlformats.org/drawingml/2006/main">
              <a:ext uri="{FF2B5EF4-FFF2-40B4-BE49-F238E27FC236}">
                <a16:creationId xmlns:a16="http://schemas.microsoft.com/office/drawing/2014/main" id="{E61C98D9-4E53-42A4-B466-D742A03217EB}"/>
              </a:ext>
            </a:extLst>
          </p:cNvPr>
          <p:cNvSpPr>
            <a:spLocks xmlns:a="http://schemas.openxmlformats.org/drawingml/2006/main" noGrp="1"/>
          </p:cNvSpPr>
          <p:nvPr/>
        </p:nvSpPr>
        <p:spPr>
          <a:xfrm xmlns:a="http://schemas.openxmlformats.org/drawingml/2006/main">
            <a:off x="5200650" y="3619500"/>
            <a:ext cx="19050" cy="209550"/>
          </a:xfrm>
          <a:prstGeom xmlns:a="http://schemas.openxmlformats.org/drawingml/2006/main" prst="rect">
            <a:avLst/>
          </a:prstGeom>
          <a:solidFill xmlns:a="http://schemas.openxmlformats.org/drawingml/2006/main">
            <a:srgbClr val="31516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E06E472-7EDC-47A8-8047-A179B7890060}"/>
              </a:ext>
            </a:extLst>
          </p:cNvPr>
          <p:cNvSpPr>
            <a:spLocks xmlns:a="http://schemas.openxmlformats.org/drawingml/2006/main" noGrp="1"/>
          </p:cNvSpPr>
          <p:nvPr/>
        </p:nvSpPr>
        <p:spPr>
          <a:xfrm xmlns:a="http://schemas.openxmlformats.org/drawingml/2006/main">
            <a:off x="4953000" y="3829050"/>
            <a:ext cx="514350" cy="514350"/>
          </a:xfrm>
          <a:prstGeom xmlns:a="http://schemas.openxmlformats.org/drawingml/2006/main" prst="ellipse">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1415E6A-4819-45A6-9B44-8F94FE5F009B}"/>
              </a:ext>
            </a:extLst>
          </p:cNvPr>
          <p:cNvSpPr>
            <a:spLocks xmlns:a="http://schemas.openxmlformats.org/drawingml/2006/main" noGrp="1"/>
          </p:cNvSpPr>
          <p:nvPr/>
        </p:nvSpPr>
        <p:spPr>
          <a:xfrm xmlns:a="http://schemas.openxmlformats.org/drawingml/2006/main">
            <a:off x="4953000" y="3952875"/>
            <a:ext cx="514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050B13"/>
                </a:solidFill>
                <a:latin typeface="Microsoft YaHei UI"/>
                <a:ea typeface="Microsoft YaHei UI"/>
                <a:cs typeface="Microsoft YaHei UI"/>
              </a:defRPr>
            </a:pPr>
            <a:r>
              <a:rPr sz="1500" b="1">
                <a:solidFill>
                  <a:srgbClr val="050B13"/>
                </a:solidFill>
                <a:latin typeface="Microsoft YaHei UI"/>
                <a:ea typeface="Microsoft YaHei UI"/>
                <a:cs typeface="Microsoft YaHei UI"/>
              </a:rPr>
              <a:t>3</a:t>
            </a:r>
          </a:p>
        </p:txBody>
      </p:sp>
      <p:sp>
        <p:nvSpPr>
          <p:cNvPr id="22" name="">
            <a:extLst xmlns:a="http://schemas.openxmlformats.org/drawingml/2006/main">
              <a:ext uri="{FF2B5EF4-FFF2-40B4-BE49-F238E27FC236}">
                <a16:creationId xmlns:a16="http://schemas.microsoft.com/office/drawing/2014/main" id="{0763E46E-1983-46AB-98C7-71DDF7F864A1}"/>
              </a:ext>
            </a:extLst>
          </p:cNvPr>
          <p:cNvSpPr>
            <a:spLocks xmlns:a="http://schemas.openxmlformats.org/drawingml/2006/main" noGrp="1"/>
          </p:cNvSpPr>
          <p:nvPr/>
        </p:nvSpPr>
        <p:spPr>
          <a:xfrm xmlns:a="http://schemas.openxmlformats.org/drawingml/2006/main">
            <a:off x="5715000" y="38481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8FBFF"/>
                </a:solidFill>
                <a:latin typeface="Microsoft YaHei"/>
                <a:ea typeface="Microsoft YaHei"/>
                <a:cs typeface="Microsoft YaHei"/>
              </a:defRPr>
            </a:pPr>
            <a:r>
              <a:rPr sz="1575" b="1">
                <a:solidFill>
                  <a:srgbClr val="F8FBFF"/>
                </a:solidFill>
                <a:latin typeface="Microsoft YaHei"/>
                <a:ea typeface="Microsoft YaHei"/>
                <a:cs typeface="Microsoft YaHei"/>
              </a:rPr>
              <a:t>力控打磨</a:t>
            </a:r>
          </a:p>
        </p:txBody>
      </p:sp>
      <p:sp>
        <p:nvSpPr>
          <p:cNvPr id="23" name="">
            <a:extLst xmlns:a="http://schemas.openxmlformats.org/drawingml/2006/main">
              <a:ext uri="{FF2B5EF4-FFF2-40B4-BE49-F238E27FC236}">
                <a16:creationId xmlns:a16="http://schemas.microsoft.com/office/drawing/2014/main" id="{52AD4F54-AEB2-4813-843F-E63C8FA3F7E3}"/>
              </a:ext>
            </a:extLst>
          </p:cNvPr>
          <p:cNvSpPr>
            <a:spLocks xmlns:a="http://schemas.openxmlformats.org/drawingml/2006/main" noGrp="1"/>
          </p:cNvSpPr>
          <p:nvPr/>
        </p:nvSpPr>
        <p:spPr>
          <a:xfrm xmlns:a="http://schemas.openxmlformats.org/drawingml/2006/main">
            <a:off x="5715000" y="41529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A9B6C8"/>
                </a:solidFill>
                <a:latin typeface="Microsoft YaHei"/>
                <a:ea typeface="Microsoft YaHei"/>
                <a:cs typeface="Microsoft YaHei"/>
              </a:defRPr>
            </a:pPr>
            <a:r>
              <a:rPr sz="1275" b="0">
                <a:solidFill>
                  <a:srgbClr val="A9B6C8"/>
                </a:solidFill>
                <a:latin typeface="Microsoft YaHei"/>
                <a:ea typeface="Microsoft YaHei"/>
                <a:cs typeface="Microsoft YaHei"/>
              </a:rPr>
              <a:t>优化重力补偿与主动力反馈</a:t>
            </a:r>
          </a:p>
        </p:txBody>
      </p:sp>
      <p:sp>
        <p:nvSpPr>
          <p:cNvPr id="24" name="">
            <a:extLst xmlns:a="http://schemas.openxmlformats.org/drawingml/2006/main">
              <a:ext uri="{FF2B5EF4-FFF2-40B4-BE49-F238E27FC236}">
                <a16:creationId xmlns:a16="http://schemas.microsoft.com/office/drawing/2014/main" id="{E839AEF7-1111-473D-9AD9-1557E57D32F5}"/>
              </a:ext>
            </a:extLst>
          </p:cNvPr>
          <p:cNvSpPr>
            <a:spLocks xmlns:a="http://schemas.openxmlformats.org/drawingml/2006/main" noGrp="1"/>
          </p:cNvSpPr>
          <p:nvPr/>
        </p:nvSpPr>
        <p:spPr>
          <a:xfrm xmlns:a="http://schemas.openxmlformats.org/drawingml/2006/main">
            <a:off x="5200650" y="4381500"/>
            <a:ext cx="19050" cy="209550"/>
          </a:xfrm>
          <a:prstGeom xmlns:a="http://schemas.openxmlformats.org/drawingml/2006/main" prst="rect">
            <a:avLst/>
          </a:prstGeom>
          <a:solidFill xmlns:a="http://schemas.openxmlformats.org/drawingml/2006/main">
            <a:srgbClr val="31516D"/>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D246A1F3-C793-4271-A200-ECEA6B1112B5}"/>
              </a:ext>
            </a:extLst>
          </p:cNvPr>
          <p:cNvSpPr>
            <a:spLocks xmlns:a="http://schemas.openxmlformats.org/drawingml/2006/main" noGrp="1"/>
          </p:cNvSpPr>
          <p:nvPr/>
        </p:nvSpPr>
        <p:spPr>
          <a:xfrm xmlns:a="http://schemas.openxmlformats.org/drawingml/2006/main">
            <a:off x="4953000" y="4591050"/>
            <a:ext cx="514350" cy="514350"/>
          </a:xfrm>
          <a:prstGeom xmlns:a="http://schemas.openxmlformats.org/drawingml/2006/main" prst="ellipse">
            <a:avLst/>
          </a:prstGeom>
          <a:solidFill xmlns:a="http://schemas.openxmlformats.org/drawingml/2006/main">
            <a:srgbClr val="18BDF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2001F496-81D2-4495-92AB-3113929F4CA3}"/>
              </a:ext>
            </a:extLst>
          </p:cNvPr>
          <p:cNvSpPr>
            <a:spLocks xmlns:a="http://schemas.openxmlformats.org/drawingml/2006/main" noGrp="1"/>
          </p:cNvSpPr>
          <p:nvPr/>
        </p:nvSpPr>
        <p:spPr>
          <a:xfrm xmlns:a="http://schemas.openxmlformats.org/drawingml/2006/main">
            <a:off x="4953000" y="4714875"/>
            <a:ext cx="514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050B13"/>
                </a:solidFill>
                <a:latin typeface="Microsoft YaHei UI"/>
                <a:ea typeface="Microsoft YaHei UI"/>
                <a:cs typeface="Microsoft YaHei UI"/>
              </a:defRPr>
            </a:pPr>
            <a:r>
              <a:rPr sz="1500" b="1">
                <a:solidFill>
                  <a:srgbClr val="050B13"/>
                </a:solidFill>
                <a:latin typeface="Microsoft YaHei UI"/>
                <a:ea typeface="Microsoft YaHei UI"/>
                <a:cs typeface="Microsoft YaHei UI"/>
              </a:rPr>
              <a:t>4</a:t>
            </a:r>
          </a:p>
        </p:txBody>
      </p:sp>
      <p:sp>
        <p:nvSpPr>
          <p:cNvPr id="27" name="">
            <a:extLst xmlns:a="http://schemas.openxmlformats.org/drawingml/2006/main">
              <a:ext uri="{FF2B5EF4-FFF2-40B4-BE49-F238E27FC236}">
                <a16:creationId xmlns:a16="http://schemas.microsoft.com/office/drawing/2014/main" id="{FC60D3B6-6041-4D7C-83B3-3B6158307FA0}"/>
              </a:ext>
            </a:extLst>
          </p:cNvPr>
          <p:cNvSpPr>
            <a:spLocks xmlns:a="http://schemas.openxmlformats.org/drawingml/2006/main" noGrp="1"/>
          </p:cNvSpPr>
          <p:nvPr/>
        </p:nvSpPr>
        <p:spPr>
          <a:xfrm xmlns:a="http://schemas.openxmlformats.org/drawingml/2006/main">
            <a:off x="5715000" y="46101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8FBFF"/>
                </a:solidFill>
                <a:latin typeface="Microsoft YaHei"/>
                <a:ea typeface="Microsoft YaHei"/>
                <a:cs typeface="Microsoft YaHei"/>
              </a:defRPr>
            </a:pPr>
            <a:r>
              <a:rPr sz="1575" b="1">
                <a:solidFill>
                  <a:srgbClr val="F8FBFF"/>
                </a:solidFill>
                <a:latin typeface="Microsoft YaHei"/>
                <a:ea typeface="Microsoft YaHei"/>
                <a:cs typeface="Microsoft YaHei"/>
              </a:rPr>
              <a:t>赛场验证</a:t>
            </a:r>
          </a:p>
        </p:txBody>
      </p:sp>
      <p:sp>
        <p:nvSpPr>
          <p:cNvPr id="28" name="">
            <a:extLst xmlns:a="http://schemas.openxmlformats.org/drawingml/2006/main">
              <a:ext uri="{FF2B5EF4-FFF2-40B4-BE49-F238E27FC236}">
                <a16:creationId xmlns:a16="http://schemas.microsoft.com/office/drawing/2014/main" id="{7B129572-E0A3-4977-8105-72D19A4FA707}"/>
              </a:ext>
            </a:extLst>
          </p:cNvPr>
          <p:cNvSpPr>
            <a:spLocks xmlns:a="http://schemas.openxmlformats.org/drawingml/2006/main" noGrp="1"/>
          </p:cNvSpPr>
          <p:nvPr/>
        </p:nvSpPr>
        <p:spPr>
          <a:xfrm xmlns:a="http://schemas.openxmlformats.org/drawingml/2006/main">
            <a:off x="5715000" y="49149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A9B6C8"/>
                </a:solidFill>
                <a:latin typeface="Microsoft YaHei"/>
                <a:ea typeface="Microsoft YaHei"/>
                <a:cs typeface="Microsoft YaHei"/>
              </a:defRPr>
            </a:pPr>
            <a:r>
              <a:rPr sz="1275" b="0">
                <a:solidFill>
                  <a:srgbClr val="A9B6C8"/>
                </a:solidFill>
                <a:latin typeface="Microsoft YaHei"/>
                <a:ea typeface="Microsoft YaHei"/>
                <a:cs typeface="Microsoft YaHei"/>
              </a:rPr>
              <a:t>冲刺四级难度与国家级竞赛</a:t>
            </a:r>
          </a:p>
        </p:txBody>
      </p:sp>
      <p:sp>
        <p:nvSpPr>
          <p:cNvPr id="29" name="">
            <a:extLst xmlns:a="http://schemas.openxmlformats.org/drawingml/2006/main">
              <a:ext uri="{FF2B5EF4-FFF2-40B4-BE49-F238E27FC236}">
                <a16:creationId xmlns:a16="http://schemas.microsoft.com/office/drawing/2014/main" id="{3E9E301F-9C69-4061-8D17-22CDAC64F8A4}"/>
              </a:ext>
            </a:extLst>
          </p:cNvPr>
          <p:cNvSpPr>
            <a:spLocks xmlns:a="http://schemas.openxmlformats.org/drawingml/2006/main" noGrp="1"/>
          </p:cNvSpPr>
          <p:nvPr/>
        </p:nvSpPr>
        <p:spPr>
          <a:xfrm xmlns:a="http://schemas.openxmlformats.org/drawingml/2006/main">
            <a:off x="4953000" y="5753100"/>
            <a:ext cx="5391150" cy="19050"/>
          </a:xfrm>
          <a:prstGeom xmlns:a="http://schemas.openxmlformats.org/drawingml/2006/main" prst="rect">
            <a:avLst/>
          </a:prstGeom>
          <a:solidFill xmlns:a="http://schemas.openxmlformats.org/drawingml/2006/main">
            <a:srgbClr val="FF7A1A"/>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C26EE1B3-3C51-4988-9611-213A6F4F255E}"/>
              </a:ext>
            </a:extLst>
          </p:cNvPr>
          <p:cNvSpPr>
            <a:spLocks xmlns:a="http://schemas.openxmlformats.org/drawingml/2006/main" noGrp="1"/>
          </p:cNvSpPr>
          <p:nvPr/>
        </p:nvSpPr>
        <p:spPr>
          <a:xfrm xmlns:a="http://schemas.openxmlformats.org/drawingml/2006/main">
            <a:off x="4953000" y="5962650"/>
            <a:ext cx="4476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8FBFF"/>
                </a:solidFill>
                <a:latin typeface="Microsoft YaHei UI"/>
                <a:ea typeface="Microsoft YaHei UI"/>
                <a:cs typeface="Microsoft YaHei UI"/>
              </a:defRPr>
            </a:pPr>
            <a:r>
              <a:rPr sz="2250" b="1">
                <a:solidFill>
                  <a:srgbClr val="F8FBFF"/>
                </a:solidFill>
                <a:latin typeface="Microsoft YaHei UI"/>
                <a:ea typeface="Microsoft YaHei UI"/>
                <a:cs typeface="Microsoft YaHei UI"/>
              </a:rPr>
              <a:t>感谢垂听，敬请批评指正</a:t>
            </a:r>
          </a:p>
        </p:txBody>
      </p:sp>
      <p:sp>
        <p:nvSpPr>
          <p:cNvPr id="31" name="">
            <a:extLst xmlns:a="http://schemas.openxmlformats.org/drawingml/2006/main">
              <a:ext uri="{FF2B5EF4-FFF2-40B4-BE49-F238E27FC236}">
                <a16:creationId xmlns:a16="http://schemas.microsoft.com/office/drawing/2014/main" id="{DDFEF2D9-83C5-495B-8151-4F971E0AFEDB}"/>
              </a:ext>
            </a:extLst>
          </p:cNvPr>
          <p:cNvSpPr>
            <a:spLocks xmlns:a="http://schemas.openxmlformats.org/drawingml/2006/main" noGrp="1"/>
          </p:cNvSpPr>
          <p:nvPr/>
        </p:nvSpPr>
        <p:spPr>
          <a:xfrm xmlns:a="http://schemas.openxmlformats.org/drawingml/2006/main">
            <a:off x="4953000" y="6438900"/>
            <a:ext cx="3810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7DE3FF"/>
                </a:solidFill>
                <a:latin typeface="Microsoft YaHei"/>
                <a:ea typeface="Microsoft YaHei"/>
                <a:cs typeface="Microsoft YaHei"/>
              </a:defRPr>
            </a:pPr>
            <a:r>
              <a:rPr sz="1200" b="0">
                <a:solidFill>
                  <a:srgbClr val="7DE3FF"/>
                </a:solidFill>
                <a:latin typeface="Microsoft YaHei"/>
                <a:ea typeface="Microsoft YaHei"/>
                <a:cs typeface="Microsoft YaHei"/>
              </a:rPr>
              <a:t>神奇妙妙社会实践队 | 指导老师：王亮</a:t>
            </a:r>
          </a:p>
        </p:txBody>
      </p:sp>
    </p:spTree>
    <p:extLst>
      <p:ext uri="{BB962C8B-B14F-4D97-AF65-F5344CB8AC3E}">
        <p14:creationId xmlns:p14="http://schemas.microsoft.com/office/powerpoint/2010/main" val="1707108309"/>
      </p:ext>
    </p:extLst>
  </p:cSld>
  <p:transition advClick="1">
    <p:fade/>
  </p:transition>
  <p:timing>
    <p:tnLst>
      <p:par>
        <p:cTn id="1" dur="indefinite" restart="never" nodeType="tmRoot">
          <p:childTnLst>
            <p:seq concurrent="1" nextAc="seek">
              <p:cTn id="2" dur="indefinite" nodeType="mainSeq">
                <p:childTnLst>
                  <p:par>
                    <p:cTn id="8"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2026-06-07T05:46:40.8750000Z</dcterms:created>
  <dcterms:modified xsi:type="dcterms:W3CDTF">2026-06-07T05:46:40.8750000Z</dcterms:modified>
</coreProperties>
</file>