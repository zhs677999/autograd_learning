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开场说明项目主题：TinyTensor 自动求导引擎。强调目标不是调用现成框架，而是从零理解 Tensor、计算图和反向传播。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本页强调为什么做这个题：自动求导是深度学习框架的核心，项目能把理论、C++、数据结构和实验训练连起来。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按基础、标准、挑战三档讲项目边界。基础档是整个项目的核心，标准和挑战是在核心跑通后的扩展。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本页从需求角度拆解：不只是写代码，还要能验收、能演示、能形成课程报告材料。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用一条数据流讲总体架构：数据进入 Tensor，经过 Ops 构建计算图，通过 backward 得到梯度，最后由 Loss、SGD、Module 组成训练 demo。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解释 Tensor 的四个核心成员。重点讲清楚：计算图是由 Tensor 之间的父节点指针形成的，链表只是保存父节点集合的容器。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本页讲自动求导怎么实现：每个运算保存局部反向规则，backward 从 loss.grad=1 开始调用这些规则。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说明每个文件的职责，避免把功能堆在 main.cpp。讲清楚集成顺序，先核心求导，再训练组件。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技术路线不要贪多，基础闭环是最重要的。只有基础档稳定，标准档和挑战档才有意义。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介绍三人分工。强调不是按文件孤立开发，而是围绕求导闭环并行推进。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说明时间计划和阶段验收点。第 3 周的 basic demo 是整个项目风险最低化的关键节点。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收尾强调成果和风险控制。最后可以过渡到老师提问。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>
            <a:off x="-1008000" y="-648000"/>
            <a:ext cx="3600000" cy="3600000"/>
          </a:xfrm>
          <a:prstGeom prst="ellipse">
            <a:avLst/>
          </a:prstGeom>
          <a:solidFill>
            <a:srgbClr val="00A896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1" name="TextBox 2"/>
          <p:cNvSpPr/>
          <p:nvPr/>
        </p:nvSpPr>
        <p:spPr>
          <a:xfrm>
            <a:off x="9720000" y="4392000"/>
            <a:ext cx="3240000" cy="3240000"/>
          </a:xfrm>
          <a:prstGeom prst="ellipse">
            <a:avLst/>
          </a:prstGeom>
          <a:solidFill>
            <a:srgbClr val="CADCFC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2" name="TextBox 3"/>
          <p:cNvSpPr/>
          <p:nvPr/>
        </p:nvSpPr>
        <p:spPr>
          <a:xfrm>
            <a:off x="8640000" y="252000"/>
            <a:ext cx="2880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68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01</a:t>
            </a:r>
            <a:endParaRPr lang="en-US" sz="68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3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4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01/12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5" name="TextBox 6"/>
          <p:cNvSpPr/>
          <p:nvPr/>
        </p:nvSpPr>
        <p:spPr>
          <a:xfrm>
            <a:off x="720000" y="1602000"/>
            <a:ext cx="10728000" cy="84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</a:t>
            </a:r>
            <a:endParaRPr lang="en-US" sz="4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6" name="TextBox 7"/>
          <p:cNvSpPr/>
          <p:nvPr/>
        </p:nvSpPr>
        <p:spPr>
          <a:xfrm>
            <a:off x="720000" y="2466000"/>
            <a:ext cx="107280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自动求导引擎开题报告</a:t>
            </a:r>
            <a:endParaRPr lang="en-US" sz="24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7" name="TextBox 8"/>
          <p:cNvSpPr/>
          <p:nvPr/>
        </p:nvSpPr>
        <p:spPr>
          <a:xfrm>
            <a:off x="3690000" y="3114000"/>
            <a:ext cx="1980000" cy="280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课程设计 · 第三选题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8" name="TextBox 9"/>
          <p:cNvSpPr/>
          <p:nvPr/>
        </p:nvSpPr>
        <p:spPr>
          <a:xfrm>
            <a:off x="5886000" y="3114000"/>
            <a:ext cx="2664000" cy="280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Tensor / Graph / Backward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09" name="TextBox 10"/>
          <p:cNvSpPr/>
          <p:nvPr/>
        </p:nvSpPr>
        <p:spPr>
          <a:xfrm>
            <a:off x="3600000" y="4320000"/>
            <a:ext cx="496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70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组长：周获深</a:t>
            </a:r>
            <a:endParaRPr lang="en-US" sz="170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0" name="TextBox 11"/>
          <p:cNvSpPr/>
          <p:nvPr/>
        </p:nvSpPr>
        <p:spPr>
          <a:xfrm>
            <a:off x="3600000" y="4698000"/>
            <a:ext cx="496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组员：靳子桐 · 杜启瑄</a:t>
            </a:r>
            <a:endParaRPr lang="en-US" sz="16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1" name="TextBox 12"/>
          <p:cNvSpPr/>
          <p:nvPr/>
        </p:nvSpPr>
        <p:spPr>
          <a:xfrm>
            <a:off x="1728000" y="5490000"/>
            <a:ext cx="8748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50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从零实现一个迷你张量与自动求导系统，理解深度学习框架的核心机制</a:t>
            </a:r>
            <a:endParaRPr lang="en-US" sz="150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12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3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4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02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5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6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02/12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7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选题背景：从使用框架到理解框架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8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深度学习课程中常用 PyTorch / TensorFlow，但自动求导机制通常被封装在黑盒里。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19" name="TextBox 8"/>
          <p:cNvSpPr/>
          <p:nvPr/>
        </p:nvSpPr>
        <p:spPr>
          <a:xfrm>
            <a:off x="558000" y="1530000"/>
            <a:ext cx="3384000" cy="3096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0" name="TextBox 9"/>
          <p:cNvSpPr/>
          <p:nvPr/>
        </p:nvSpPr>
        <p:spPr>
          <a:xfrm>
            <a:off x="558000" y="1530000"/>
            <a:ext cx="64800" cy="309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1" name="TextBox 10"/>
          <p:cNvSpPr/>
          <p:nvPr/>
        </p:nvSpPr>
        <p:spPr>
          <a:xfrm>
            <a:off x="709200" y="1656000"/>
            <a:ext cx="3114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学习痛点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2" name="TextBox 11"/>
          <p:cNvSpPr/>
          <p:nvPr/>
        </p:nvSpPr>
        <p:spPr>
          <a:xfrm>
            <a:off x="720000" y="20160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会调 API，但不清楚梯度来源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3" name="TextBox 12"/>
          <p:cNvSpPr/>
          <p:nvPr/>
        </p:nvSpPr>
        <p:spPr>
          <a:xfrm>
            <a:off x="720000" y="23112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反向传播公式抽象，调试困难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4" name="TextBox 13"/>
          <p:cNvSpPr/>
          <p:nvPr/>
        </p:nvSpPr>
        <p:spPr>
          <a:xfrm>
            <a:off x="720000" y="26064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框架内部数据结构缺少直观认识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5" name="TextBox 14"/>
          <p:cNvSpPr/>
          <p:nvPr/>
        </p:nvSpPr>
        <p:spPr>
          <a:xfrm>
            <a:off x="4356000" y="1530000"/>
            <a:ext cx="3384000" cy="30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6" name="TextBox 15"/>
          <p:cNvSpPr/>
          <p:nvPr/>
        </p:nvSpPr>
        <p:spPr>
          <a:xfrm>
            <a:off x="4356000" y="1530000"/>
            <a:ext cx="64800" cy="309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7" name="TextBox 16"/>
          <p:cNvSpPr/>
          <p:nvPr/>
        </p:nvSpPr>
        <p:spPr>
          <a:xfrm>
            <a:off x="4507200" y="1656000"/>
            <a:ext cx="3114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课程价值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8" name="TextBox 17"/>
          <p:cNvSpPr/>
          <p:nvPr/>
        </p:nvSpPr>
        <p:spPr>
          <a:xfrm>
            <a:off x="4518000" y="20160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用 C++ 管理内存与对象关系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29" name="TextBox 18"/>
          <p:cNvSpPr/>
          <p:nvPr/>
        </p:nvSpPr>
        <p:spPr>
          <a:xfrm>
            <a:off x="4518000" y="23112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亲手建立计算图和梯度传播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0" name="TextBox 19"/>
          <p:cNvSpPr/>
          <p:nvPr/>
        </p:nvSpPr>
        <p:spPr>
          <a:xfrm>
            <a:off x="4518000" y="26064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连接数据结构、算法与机器学习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1" name="TextBox 20"/>
          <p:cNvSpPr/>
          <p:nvPr/>
        </p:nvSpPr>
        <p:spPr>
          <a:xfrm>
            <a:off x="8154000" y="1530000"/>
            <a:ext cx="3384000" cy="3096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2" name="TextBox 21"/>
          <p:cNvSpPr/>
          <p:nvPr/>
        </p:nvSpPr>
        <p:spPr>
          <a:xfrm>
            <a:off x="8154000" y="1530000"/>
            <a:ext cx="64800" cy="3096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3" name="TextBox 22"/>
          <p:cNvSpPr/>
          <p:nvPr/>
        </p:nvSpPr>
        <p:spPr>
          <a:xfrm>
            <a:off x="8305200" y="1656000"/>
            <a:ext cx="3114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选题意义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4" name="TextBox 23"/>
          <p:cNvSpPr/>
          <p:nvPr/>
        </p:nvSpPr>
        <p:spPr>
          <a:xfrm>
            <a:off x="8316000" y="20160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实现可演示的迷你自动求导引擎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5" name="TextBox 24"/>
          <p:cNvSpPr/>
          <p:nvPr/>
        </p:nvSpPr>
        <p:spPr>
          <a:xfrm>
            <a:off x="8316000" y="23112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为线性回归和 XOR 网络打基础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6" name="TextBox 25"/>
          <p:cNvSpPr/>
          <p:nvPr/>
        </p:nvSpPr>
        <p:spPr>
          <a:xfrm>
            <a:off x="8316000" y="2606400"/>
            <a:ext cx="3096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形成可测试、可汇报的课程成果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7" name="TextBox 26"/>
          <p:cNvSpPr/>
          <p:nvPr/>
        </p:nvSpPr>
        <p:spPr>
          <a:xfrm>
            <a:off x="1152000" y="5148000"/>
            <a:ext cx="2088000" cy="288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核心定位</a:t>
            </a:r>
            <a:endParaRPr lang="en-US" sz="14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38" name="TextBox 27"/>
          <p:cNvSpPr/>
          <p:nvPr/>
        </p:nvSpPr>
        <p:spPr>
          <a:xfrm>
            <a:off x="3262630" y="5130165"/>
            <a:ext cx="7626985" cy="485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不是复刻完整 PyTorch，而是实现一条可解释、可验证的自动求导最小闭环。</a:t>
            </a:r>
            <a:endParaRPr lang="en-US" sz="1800" b="1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39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0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1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03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2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3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03/12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4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项目目标：三档递进的 TinyTensor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5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先跑通标量自动求导，再扩展矩阵运算和训练组件。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6" name="TextBox 8"/>
          <p:cNvSpPr/>
          <p:nvPr/>
        </p:nvSpPr>
        <p:spPr>
          <a:xfrm>
            <a:off x="720000" y="1440000"/>
            <a:ext cx="3168000" cy="1152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7" name="TextBox 9"/>
          <p:cNvSpPr/>
          <p:nvPr/>
        </p:nvSpPr>
        <p:spPr>
          <a:xfrm>
            <a:off x="846000" y="1576800"/>
            <a:ext cx="2916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基础档</a:t>
            </a:r>
            <a:endParaRPr lang="en-US" sz="2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8" name="TextBox 10"/>
          <p:cNvSpPr/>
          <p:nvPr/>
        </p:nvSpPr>
        <p:spPr>
          <a:xfrm>
            <a:off x="882000" y="1998000"/>
            <a:ext cx="2844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标量 Tensor + 四则运算 + backward</a:t>
            </a:r>
            <a:endParaRPr lang="en-US" sz="12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49" name="TextBox 11"/>
          <p:cNvSpPr/>
          <p:nvPr/>
        </p:nvSpPr>
        <p:spPr>
          <a:xfrm>
            <a:off x="4500000" y="1440000"/>
            <a:ext cx="3168000" cy="1152000"/>
          </a:xfrm>
          <a:prstGeom prst="roundRect">
            <a:avLst/>
          </a:prstGeom>
          <a:solidFill>
            <a:srgbClr val="EAF7F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0" name="TextBox 12"/>
          <p:cNvSpPr/>
          <p:nvPr/>
        </p:nvSpPr>
        <p:spPr>
          <a:xfrm>
            <a:off x="4626000" y="1576800"/>
            <a:ext cx="2916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标准档</a:t>
            </a:r>
            <a:endParaRPr lang="en-US" sz="24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1" name="TextBox 13"/>
          <p:cNvSpPr/>
          <p:nvPr/>
        </p:nvSpPr>
        <p:spPr>
          <a:xfrm>
            <a:off x="4662000" y="1998000"/>
            <a:ext cx="2844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二维 Tensor + matmul + MSE + 线性回归</a:t>
            </a:r>
            <a:endParaRPr lang="en-US" sz="12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2" name="TextBox 14"/>
          <p:cNvSpPr/>
          <p:nvPr/>
        </p:nvSpPr>
        <p:spPr>
          <a:xfrm>
            <a:off x="8280000" y="1440000"/>
            <a:ext cx="3168000" cy="11520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3" name="TextBox 15"/>
          <p:cNvSpPr/>
          <p:nvPr/>
        </p:nvSpPr>
        <p:spPr>
          <a:xfrm>
            <a:off x="8406000" y="1576800"/>
            <a:ext cx="2916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4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挑战档</a:t>
            </a:r>
            <a:endParaRPr lang="en-US" sz="24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4" name="TextBox 16"/>
          <p:cNvSpPr/>
          <p:nvPr/>
        </p:nvSpPr>
        <p:spPr>
          <a:xfrm>
            <a:off x="8442000" y="1998000"/>
            <a:ext cx="2844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激活函数 + Linear + SGD + XOR</a:t>
            </a:r>
            <a:endParaRPr lang="en-US" sz="12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5" name="TextBox 17"/>
          <p:cNvSpPr/>
          <p:nvPr/>
        </p:nvSpPr>
        <p:spPr>
          <a:xfrm>
            <a:off x="1476000" y="3276000"/>
            <a:ext cx="9288000" cy="1494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6" name="TextBox 18"/>
          <p:cNvSpPr/>
          <p:nvPr/>
        </p:nvSpPr>
        <p:spPr>
          <a:xfrm>
            <a:off x="1800000" y="3438000"/>
            <a:ext cx="3528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最小验收表达式</a:t>
            </a:r>
            <a:endParaRPr lang="en-US" sz="1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7" name="TextBox 19"/>
          <p:cNvSpPr/>
          <p:nvPr/>
        </p:nvSpPr>
        <p:spPr>
          <a:xfrm>
            <a:off x="1800000" y="3870000"/>
            <a:ext cx="8568000" cy="61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x = 2, w = 3, b = 1, y = w * x + b; loss = (y - 10) * (y - 10); 期望：loss = 9, w.grad = -12, b.grad = -6</a:t>
            </a:r>
            <a:endParaRPr lang="en-US" sz="15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058" name="TextBox 20"/>
          <p:cNvSpPr/>
          <p:nvPr/>
        </p:nvSpPr>
        <p:spPr>
          <a:xfrm>
            <a:off x="1548000" y="5112000"/>
            <a:ext cx="1980000" cy="28800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目标结果</a:t>
            </a:r>
            <a:endParaRPr lang="en-US" sz="14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59" name="TextBox 21"/>
          <p:cNvSpPr/>
          <p:nvPr/>
        </p:nvSpPr>
        <p:spPr>
          <a:xfrm>
            <a:off x="3708000" y="5076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形成可编译、可运行、可测试、可展示的 C++ 自动求导课程项目。</a:t>
            </a:r>
            <a:endParaRPr lang="en-US" sz="1800" b="1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60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1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2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04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3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4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04/12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5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需求分析：功能、数据、验收、非功能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6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围绕课程设计交付，功能必须能被最小表达式和训练 demo 验证。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7" name="TextBox 8"/>
          <p:cNvSpPr/>
          <p:nvPr/>
        </p:nvSpPr>
        <p:spPr>
          <a:xfrm>
            <a:off x="648000" y="1440000"/>
            <a:ext cx="5112000" cy="1656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8" name="TextBox 9"/>
          <p:cNvSpPr/>
          <p:nvPr/>
        </p:nvSpPr>
        <p:spPr>
          <a:xfrm>
            <a:off x="648000" y="1440000"/>
            <a:ext cx="64800" cy="165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69" name="TextBox 10"/>
          <p:cNvSpPr/>
          <p:nvPr/>
        </p:nvSpPr>
        <p:spPr>
          <a:xfrm>
            <a:off x="799200" y="1566000"/>
            <a:ext cx="48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功能需求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0" name="TextBox 11"/>
          <p:cNvSpPr/>
          <p:nvPr/>
        </p:nvSpPr>
        <p:spPr>
          <a:xfrm>
            <a:off x="810000" y="19260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保存标量、向量、矩阵数据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1" name="TextBox 12"/>
          <p:cNvSpPr/>
          <p:nvPr/>
        </p:nvSpPr>
        <p:spPr>
          <a:xfrm>
            <a:off x="810000" y="22212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支持 + - * / 与 matmul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2" name="TextBox 13"/>
          <p:cNvSpPr/>
          <p:nvPr/>
        </p:nvSpPr>
        <p:spPr>
          <a:xfrm>
            <a:off x="810000" y="25164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记录计算图并执行 backward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3" name="TextBox 14"/>
          <p:cNvSpPr/>
          <p:nvPr/>
        </p:nvSpPr>
        <p:spPr>
          <a:xfrm>
            <a:off x="6120000" y="1440000"/>
            <a:ext cx="5112000" cy="165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4" name="TextBox 15"/>
          <p:cNvSpPr/>
          <p:nvPr/>
        </p:nvSpPr>
        <p:spPr>
          <a:xfrm>
            <a:off x="6120000" y="1440000"/>
            <a:ext cx="64800" cy="1656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5" name="TextBox 16"/>
          <p:cNvSpPr/>
          <p:nvPr/>
        </p:nvSpPr>
        <p:spPr>
          <a:xfrm>
            <a:off x="6271200" y="1566000"/>
            <a:ext cx="48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训练需求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6" name="TextBox 17"/>
          <p:cNvSpPr/>
          <p:nvPr/>
        </p:nvSpPr>
        <p:spPr>
          <a:xfrm>
            <a:off x="6282000" y="19260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MSE 损失函数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7" name="TextBox 18"/>
          <p:cNvSpPr/>
          <p:nvPr/>
        </p:nvSpPr>
        <p:spPr>
          <a:xfrm>
            <a:off x="6282000" y="22212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SGD 参数更新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8" name="TextBox 19"/>
          <p:cNvSpPr/>
          <p:nvPr/>
        </p:nvSpPr>
        <p:spPr>
          <a:xfrm>
            <a:off x="6282000" y="25164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线性回归和 XOR 示例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79" name="TextBox 20"/>
          <p:cNvSpPr/>
          <p:nvPr/>
        </p:nvSpPr>
        <p:spPr>
          <a:xfrm>
            <a:off x="648000" y="3600000"/>
            <a:ext cx="5112000" cy="165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0" name="TextBox 21"/>
          <p:cNvSpPr/>
          <p:nvPr/>
        </p:nvSpPr>
        <p:spPr>
          <a:xfrm>
            <a:off x="648000" y="3600000"/>
            <a:ext cx="64800" cy="165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1" name="TextBox 22"/>
          <p:cNvSpPr/>
          <p:nvPr/>
        </p:nvSpPr>
        <p:spPr>
          <a:xfrm>
            <a:off x="799200" y="3726000"/>
            <a:ext cx="48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验收需求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2" name="TextBox 23"/>
          <p:cNvSpPr/>
          <p:nvPr/>
        </p:nvSpPr>
        <p:spPr>
          <a:xfrm>
            <a:off x="810000" y="40860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基础求导与手算结果一致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3" name="TextBox 24"/>
          <p:cNvSpPr/>
          <p:nvPr/>
        </p:nvSpPr>
        <p:spPr>
          <a:xfrm>
            <a:off x="810000" y="43812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训练 loss 逐步下降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4" name="TextBox 25"/>
          <p:cNvSpPr/>
          <p:nvPr/>
        </p:nvSpPr>
        <p:spPr>
          <a:xfrm>
            <a:off x="810000" y="46764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日志与 result 文件可展示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5" name="TextBox 26"/>
          <p:cNvSpPr/>
          <p:nvPr/>
        </p:nvSpPr>
        <p:spPr>
          <a:xfrm>
            <a:off x="6120000" y="3600000"/>
            <a:ext cx="5112000" cy="1656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6" name="TextBox 27"/>
          <p:cNvSpPr/>
          <p:nvPr/>
        </p:nvSpPr>
        <p:spPr>
          <a:xfrm>
            <a:off x="6120000" y="3600000"/>
            <a:ext cx="64800" cy="165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7" name="TextBox 28"/>
          <p:cNvSpPr/>
          <p:nvPr/>
        </p:nvSpPr>
        <p:spPr>
          <a:xfrm>
            <a:off x="6271200" y="3726000"/>
            <a:ext cx="48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工程需求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8" name="TextBox 29"/>
          <p:cNvSpPr/>
          <p:nvPr/>
        </p:nvSpPr>
        <p:spPr>
          <a:xfrm>
            <a:off x="6282000" y="40860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模块职责清晰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89" name="TextBox 30"/>
          <p:cNvSpPr/>
          <p:nvPr/>
        </p:nvSpPr>
        <p:spPr>
          <a:xfrm>
            <a:off x="6282000" y="43812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单元测试覆盖关键路径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0" name="TextBox 31"/>
          <p:cNvSpPr/>
          <p:nvPr/>
        </p:nvSpPr>
        <p:spPr>
          <a:xfrm>
            <a:off x="6282000" y="4676400"/>
            <a:ext cx="48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避免 main.cpp 堆满实现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91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2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3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05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4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5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05/12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6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总体架构：从数据到训练 demo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7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采用分层结构：容器层、核心 Tensor、运算层、自动求导、训练组件与演示入口。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8" name="TextBox 8"/>
          <p:cNvSpPr/>
          <p:nvPr/>
        </p:nvSpPr>
        <p:spPr>
          <a:xfrm>
            <a:off x="1080000" y="1584000"/>
            <a:ext cx="2520000" cy="288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当前仓库模块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99" name="TextBox 9"/>
          <p:cNvSpPr/>
          <p:nvPr/>
        </p:nvSpPr>
        <p:spPr>
          <a:xfrm>
            <a:off x="3780000" y="1576800"/>
            <a:ext cx="74880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6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include/ 与 src/ 分离：LinkedList、Tensor、Ops、Loss、Optimizer、Module、Dataset、Logger</a:t>
            </a:r>
            <a:endParaRPr lang="en-US" sz="16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0" name="TextBox 10"/>
          <p:cNvSpPr/>
          <p:nvPr/>
        </p:nvSpPr>
        <p:spPr>
          <a:xfrm>
            <a:off x="576000" y="2880000"/>
            <a:ext cx="1656000" cy="936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Data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Dataset / linear / xor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1" name="TextBox 11"/>
          <p:cNvSpPr/>
          <p:nvPr/>
        </p:nvSpPr>
        <p:spPr>
          <a:xfrm>
            <a:off x="2322000" y="3258000"/>
            <a:ext cx="360000" cy="180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2" name="TextBox 12"/>
          <p:cNvSpPr/>
          <p:nvPr/>
        </p:nvSpPr>
        <p:spPr>
          <a:xfrm>
            <a:off x="2466000" y="2880000"/>
            <a:ext cx="1656000" cy="9360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Tensor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data / grad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3" name="TextBox 13"/>
          <p:cNvSpPr/>
          <p:nvPr/>
        </p:nvSpPr>
        <p:spPr>
          <a:xfrm>
            <a:off x="4212000" y="3258000"/>
            <a:ext cx="360000" cy="180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4" name="TextBox 14"/>
          <p:cNvSpPr/>
          <p:nvPr/>
        </p:nvSpPr>
        <p:spPr>
          <a:xfrm>
            <a:off x="4356000" y="2880000"/>
            <a:ext cx="1656000" cy="936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Ops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+ - * /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5" name="TextBox 15"/>
          <p:cNvSpPr/>
          <p:nvPr/>
        </p:nvSpPr>
        <p:spPr>
          <a:xfrm>
            <a:off x="6102000" y="3258000"/>
            <a:ext cx="360000" cy="180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6" name="TextBox 16"/>
          <p:cNvSpPr/>
          <p:nvPr/>
        </p:nvSpPr>
        <p:spPr>
          <a:xfrm>
            <a:off x="6246000" y="2880000"/>
            <a:ext cx="1656000" cy="9360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Autograd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backward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7" name="TextBox 17"/>
          <p:cNvSpPr/>
          <p:nvPr/>
        </p:nvSpPr>
        <p:spPr>
          <a:xfrm>
            <a:off x="7992000" y="3258000"/>
            <a:ext cx="360000" cy="180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8" name="TextBox 18"/>
          <p:cNvSpPr/>
          <p:nvPr/>
        </p:nvSpPr>
        <p:spPr>
          <a:xfrm>
            <a:off x="8136000" y="2880000"/>
            <a:ext cx="1656000" cy="936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Train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Loss / SGD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09" name="TextBox 19"/>
          <p:cNvSpPr/>
          <p:nvPr/>
        </p:nvSpPr>
        <p:spPr>
          <a:xfrm>
            <a:off x="9882000" y="3258000"/>
            <a:ext cx="360000" cy="180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0" name="TextBox 20"/>
          <p:cNvSpPr/>
          <p:nvPr/>
        </p:nvSpPr>
        <p:spPr>
          <a:xfrm>
            <a:off x="10026000" y="2880000"/>
            <a:ext cx="1656000" cy="9360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Demo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basic / standard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1" name="TextBox 21"/>
          <p:cNvSpPr/>
          <p:nvPr/>
        </p:nvSpPr>
        <p:spPr>
          <a:xfrm>
            <a:off x="1080000" y="4716000"/>
            <a:ext cx="2232000" cy="288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设计原则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2" name="TextBox 22"/>
          <p:cNvSpPr/>
          <p:nvPr/>
        </p:nvSpPr>
        <p:spPr>
          <a:xfrm>
            <a:off x="3528000" y="4698000"/>
            <a:ext cx="7560000" cy="34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单一职责、先标量后矩阵、每个运算同时考虑前向值与反向梯度。</a:t>
            </a:r>
            <a:endParaRPr lang="en-US" sz="1700" b="1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13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4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5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06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6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7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06/12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8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核心原理一：Tensor 即计算图节点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19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第一版不单独建立 Node / Graph 类，而是让 Tensor 保存父节点和反向规则。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0" name="TextBox 8"/>
          <p:cNvSpPr/>
          <p:nvPr/>
        </p:nvSpPr>
        <p:spPr>
          <a:xfrm>
            <a:off x="4752000" y="2232000"/>
            <a:ext cx="2664000" cy="1080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Tensor</a:t>
            </a:r>
            <a:endParaRPr lang="en-US" sz="15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1" name="TextBox 9"/>
          <p:cNvSpPr/>
          <p:nvPr/>
        </p:nvSpPr>
        <p:spPr>
          <a:xfrm>
            <a:off x="1188000" y="1656000"/>
            <a:ext cx="2304000" cy="792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data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当前值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2" name="TextBox 10"/>
          <p:cNvSpPr/>
          <p:nvPr/>
        </p:nvSpPr>
        <p:spPr>
          <a:xfrm>
            <a:off x="8568000" y="1656000"/>
            <a:ext cx="2304000" cy="792000"/>
          </a:xfrm>
          <a:prstGeom prst="roundRect">
            <a:avLst/>
          </a:prstGeom>
          <a:solidFill>
            <a:srgbClr val="EAF7F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grad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当前梯度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3" name="TextBox 11"/>
          <p:cNvSpPr/>
          <p:nvPr/>
        </p:nvSpPr>
        <p:spPr>
          <a:xfrm>
            <a:off x="1188000" y="3888000"/>
            <a:ext cx="2304000" cy="7920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parents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父节点列表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4" name="TextBox 12"/>
          <p:cNvSpPr/>
          <p:nvPr/>
        </p:nvSpPr>
        <p:spPr>
          <a:xfrm>
            <a:off x="8568000" y="3888000"/>
            <a:ext cx="2304000" cy="792000"/>
          </a:xfrm>
          <a:prstGeom prst="roundRect">
            <a:avLst/>
          </a:prstGeom>
          <a:solidFill>
            <a:srgbClr val="EEF4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backwardFunc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反向传播规则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5" name="TextBox 13"/>
          <p:cNvSpPr/>
          <p:nvPr/>
        </p:nvSpPr>
        <p:spPr>
          <a:xfrm>
            <a:off x="3636000" y="1980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6" name="TextBox 14"/>
          <p:cNvSpPr/>
          <p:nvPr/>
        </p:nvSpPr>
        <p:spPr>
          <a:xfrm>
            <a:off x="7560000" y="1980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7" name="TextBox 15"/>
          <p:cNvSpPr/>
          <p:nvPr/>
        </p:nvSpPr>
        <p:spPr>
          <a:xfrm>
            <a:off x="3636000" y="4212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8" name="TextBox 16"/>
          <p:cNvSpPr/>
          <p:nvPr/>
        </p:nvSpPr>
        <p:spPr>
          <a:xfrm rot="10800000">
            <a:off x="7560000" y="4212000"/>
            <a:ext cx="792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29" name="TextBox 17"/>
          <p:cNvSpPr/>
          <p:nvPr/>
        </p:nvSpPr>
        <p:spPr>
          <a:xfrm>
            <a:off x="1116000" y="5472000"/>
            <a:ext cx="10008000" cy="396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图不是链表：链表只是每个 Tensor 内部保存 parents 的邻接表。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30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1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2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07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3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4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07/12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5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核心原理二：链式法则驱动 backward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6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梯度不是预先知道的，而是从 loss.grad = 1 开始沿计算图向前累加。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7" name="TextBox 8"/>
          <p:cNvSpPr/>
          <p:nvPr/>
        </p:nvSpPr>
        <p:spPr>
          <a:xfrm>
            <a:off x="720000" y="1656000"/>
            <a:ext cx="450000" cy="45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8" name="TextBox 9"/>
          <p:cNvSpPr/>
          <p:nvPr/>
        </p:nvSpPr>
        <p:spPr>
          <a:xfrm>
            <a:off x="1278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前向计算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39" name="TextBox 10"/>
          <p:cNvSpPr/>
          <p:nvPr/>
        </p:nvSpPr>
        <p:spPr>
          <a:xfrm>
            <a:off x="1278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保存 out.data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40" name="TextBox 11"/>
          <p:cNvSpPr/>
          <p:nvPr/>
        </p:nvSpPr>
        <p:spPr>
          <a:xfrm>
            <a:off x="3132000" y="1818000"/>
            <a:ext cx="324000" cy="1368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1" name="TextBox 12"/>
          <p:cNvSpPr/>
          <p:nvPr/>
        </p:nvSpPr>
        <p:spPr>
          <a:xfrm>
            <a:off x="3528000" y="1656000"/>
            <a:ext cx="450000" cy="45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2" name="TextBox 13"/>
          <p:cNvSpPr/>
          <p:nvPr/>
        </p:nvSpPr>
        <p:spPr>
          <a:xfrm>
            <a:off x="4086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记录父节点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3" name="TextBox 14"/>
          <p:cNvSpPr/>
          <p:nvPr/>
        </p:nvSpPr>
        <p:spPr>
          <a:xfrm>
            <a:off x="4086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out.parents = [a, b]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44" name="TextBox 15"/>
          <p:cNvSpPr/>
          <p:nvPr/>
        </p:nvSpPr>
        <p:spPr>
          <a:xfrm>
            <a:off x="5940000" y="1818000"/>
            <a:ext cx="324000" cy="1368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5" name="TextBox 16"/>
          <p:cNvSpPr/>
          <p:nvPr/>
        </p:nvSpPr>
        <p:spPr>
          <a:xfrm>
            <a:off x="6336000" y="1656000"/>
            <a:ext cx="450000" cy="45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6" name="TextBox 17"/>
          <p:cNvSpPr/>
          <p:nvPr/>
        </p:nvSpPr>
        <p:spPr>
          <a:xfrm>
            <a:off x="6894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绑定规则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7" name="TextBox 18"/>
          <p:cNvSpPr/>
          <p:nvPr/>
        </p:nvSpPr>
        <p:spPr>
          <a:xfrm>
            <a:off x="6894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out.backwardFunc = mulBackward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48" name="TextBox 19"/>
          <p:cNvSpPr/>
          <p:nvPr/>
        </p:nvSpPr>
        <p:spPr>
          <a:xfrm>
            <a:off x="8748000" y="1818000"/>
            <a:ext cx="324000" cy="1368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49" name="TextBox 20"/>
          <p:cNvSpPr/>
          <p:nvPr/>
        </p:nvSpPr>
        <p:spPr>
          <a:xfrm>
            <a:off x="9144000" y="1656000"/>
            <a:ext cx="450000" cy="450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0" name="TextBox 21"/>
          <p:cNvSpPr/>
          <p:nvPr/>
        </p:nvSpPr>
        <p:spPr>
          <a:xfrm>
            <a:off x="9702000" y="1620000"/>
            <a:ext cx="2016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7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反向传播</a:t>
            </a:r>
            <a:endParaRPr lang="en-US" sz="17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1" name="TextBox 22"/>
          <p:cNvSpPr/>
          <p:nvPr/>
        </p:nvSpPr>
        <p:spPr>
          <a:xfrm>
            <a:off x="9702000" y="1962000"/>
            <a:ext cx="2016000" cy="3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Consolas" panose="020B0609020204030204"/>
                <a:ea typeface="Consolas" panose="020B0609020204030204"/>
              </a:rPr>
              <a:t>a.grad += b.data * out.grad</a:t>
            </a:r>
            <a:endParaRPr lang="en-US" sz="1300">
              <a:solidFill>
                <a:srgbClr val="26323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52" name="TextBox 23"/>
          <p:cNvSpPr/>
          <p:nvPr/>
        </p:nvSpPr>
        <p:spPr>
          <a:xfrm>
            <a:off x="1476000" y="3276000"/>
            <a:ext cx="9288000" cy="1494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3" name="TextBox 24"/>
          <p:cNvSpPr/>
          <p:nvPr/>
        </p:nvSpPr>
        <p:spPr>
          <a:xfrm>
            <a:off x="1800000" y="3438000"/>
            <a:ext cx="3528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示例：loss = diff * diff</a:t>
            </a:r>
            <a:endParaRPr lang="en-US" sz="1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4" name="TextBox 25"/>
          <p:cNvSpPr/>
          <p:nvPr/>
        </p:nvSpPr>
        <p:spPr>
          <a:xfrm>
            <a:off x="1800000" y="3834000"/>
            <a:ext cx="8568000" cy="61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loss.grad = 1; diff.grad += diff.data * loss.grad; diff.grad += diff.data * loss.grad; 当 diff = -3 时，diff.grad = -6</a:t>
            </a:r>
            <a:endParaRPr lang="en-US" sz="15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55" name="TextBox 26"/>
          <p:cNvSpPr/>
          <p:nvPr/>
        </p:nvSpPr>
        <p:spPr>
          <a:xfrm>
            <a:off x="1476000" y="5256000"/>
            <a:ext cx="9288000" cy="342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关键点：同一个 diff 被使用两次，parents 中可以出现两个相同地址，梯度用 addGrad 累加。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56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7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8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08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59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0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08/12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1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模块划分：让每个文件只做一类事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2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从基础容器到训练 demo，按依赖关系逐层集成。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3" name="TextBox 8"/>
          <p:cNvSpPr/>
          <p:nvPr/>
        </p:nvSpPr>
        <p:spPr>
          <a:xfrm>
            <a:off x="630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4" name="TextBox 9"/>
          <p:cNvSpPr/>
          <p:nvPr/>
        </p:nvSpPr>
        <p:spPr>
          <a:xfrm>
            <a:off x="756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LinkedList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5" name="TextBox 10"/>
          <p:cNvSpPr/>
          <p:nvPr/>
        </p:nvSpPr>
        <p:spPr>
          <a:xfrm>
            <a:off x="828000" y="2178000"/>
            <a:ext cx="2088000" cy="43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保存 parents、参数、样本列表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6" name="TextBox 11"/>
          <p:cNvSpPr/>
          <p:nvPr/>
        </p:nvSpPr>
        <p:spPr>
          <a:xfrm>
            <a:off x="3438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7" name="TextBox 12"/>
          <p:cNvSpPr/>
          <p:nvPr/>
        </p:nvSpPr>
        <p:spPr>
          <a:xfrm>
            <a:off x="3564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Tensor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8" name="TextBox 13"/>
          <p:cNvSpPr/>
          <p:nvPr/>
        </p:nvSpPr>
        <p:spPr>
          <a:xfrm>
            <a:off x="3636000" y="2178000"/>
            <a:ext cx="2088000" cy="43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data / grad / parents / backward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69" name="TextBox 14"/>
          <p:cNvSpPr/>
          <p:nvPr/>
        </p:nvSpPr>
        <p:spPr>
          <a:xfrm>
            <a:off x="6246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0" name="TextBox 15"/>
          <p:cNvSpPr/>
          <p:nvPr/>
        </p:nvSpPr>
        <p:spPr>
          <a:xfrm>
            <a:off x="6372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Ops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1" name="TextBox 16"/>
          <p:cNvSpPr/>
          <p:nvPr/>
        </p:nvSpPr>
        <p:spPr>
          <a:xfrm>
            <a:off x="6444000" y="2178000"/>
            <a:ext cx="2088000" cy="43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+ - * / matmul / 激活函数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2" name="TextBox 17"/>
          <p:cNvSpPr/>
          <p:nvPr/>
        </p:nvSpPr>
        <p:spPr>
          <a:xfrm>
            <a:off x="9054000" y="1620000"/>
            <a:ext cx="2484000" cy="1296000"/>
          </a:xfrm>
          <a:prstGeom prst="roundRect">
            <a:avLst/>
          </a:prstGeom>
          <a:solidFill>
            <a:srgbClr val="EEF4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3" name="TextBox 18"/>
          <p:cNvSpPr/>
          <p:nvPr/>
        </p:nvSpPr>
        <p:spPr>
          <a:xfrm>
            <a:off x="9180000" y="17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Loss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4" name="TextBox 19"/>
          <p:cNvSpPr/>
          <p:nvPr/>
        </p:nvSpPr>
        <p:spPr>
          <a:xfrm>
            <a:off x="9252000" y="2178000"/>
            <a:ext cx="2088000" cy="43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MSE 等损失函数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5" name="TextBox 20"/>
          <p:cNvSpPr/>
          <p:nvPr/>
        </p:nvSpPr>
        <p:spPr>
          <a:xfrm>
            <a:off x="630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6" name="TextBox 21"/>
          <p:cNvSpPr/>
          <p:nvPr/>
        </p:nvSpPr>
        <p:spPr>
          <a:xfrm>
            <a:off x="756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Optimizer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7" name="TextBox 22"/>
          <p:cNvSpPr/>
          <p:nvPr/>
        </p:nvSpPr>
        <p:spPr>
          <a:xfrm>
            <a:off x="828000" y="3978000"/>
            <a:ext cx="2088000" cy="43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SGD step / zeroGrad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8" name="TextBox 23"/>
          <p:cNvSpPr/>
          <p:nvPr/>
        </p:nvSpPr>
        <p:spPr>
          <a:xfrm>
            <a:off x="3438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79" name="TextBox 24"/>
          <p:cNvSpPr/>
          <p:nvPr/>
        </p:nvSpPr>
        <p:spPr>
          <a:xfrm>
            <a:off x="3564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Module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0" name="TextBox 25"/>
          <p:cNvSpPr/>
          <p:nvPr/>
        </p:nvSpPr>
        <p:spPr>
          <a:xfrm>
            <a:off x="3636000" y="3978000"/>
            <a:ext cx="2088000" cy="43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Linear 层与参数访问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1" name="TextBox 26"/>
          <p:cNvSpPr/>
          <p:nvPr/>
        </p:nvSpPr>
        <p:spPr>
          <a:xfrm>
            <a:off x="6246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2" name="TextBox 27"/>
          <p:cNvSpPr/>
          <p:nvPr/>
        </p:nvSpPr>
        <p:spPr>
          <a:xfrm>
            <a:off x="6372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Dataset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3" name="TextBox 28"/>
          <p:cNvSpPr/>
          <p:nvPr/>
        </p:nvSpPr>
        <p:spPr>
          <a:xfrm>
            <a:off x="6444000" y="3978000"/>
            <a:ext cx="2088000" cy="43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读取 linear / xor 数据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4" name="TextBox 29"/>
          <p:cNvSpPr/>
          <p:nvPr/>
        </p:nvSpPr>
        <p:spPr>
          <a:xfrm>
            <a:off x="9054000" y="3420000"/>
            <a:ext cx="2484000" cy="129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5" name="TextBox 30"/>
          <p:cNvSpPr/>
          <p:nvPr/>
        </p:nvSpPr>
        <p:spPr>
          <a:xfrm>
            <a:off x="9180000" y="3571200"/>
            <a:ext cx="2232000" cy="28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Logger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6" name="TextBox 31"/>
          <p:cNvSpPr/>
          <p:nvPr/>
        </p:nvSpPr>
        <p:spPr>
          <a:xfrm>
            <a:off x="9252000" y="3978000"/>
            <a:ext cx="2088000" cy="43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2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记录训练过程与结果</a:t>
            </a:r>
            <a:endParaRPr lang="en-US" sz="12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7" name="TextBox 32"/>
          <p:cNvSpPr/>
          <p:nvPr/>
        </p:nvSpPr>
        <p:spPr>
          <a:xfrm>
            <a:off x="864000" y="5472000"/>
            <a:ext cx="10080000" cy="378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集成顺序：LinkedList/Tensor → Ops → backward → Loss/SGD → Linear/Dataset/Demo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88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89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0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09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1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2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09/12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3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技术路线：基础闭环优先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4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按三阶段推进，每阶段都有明确可验收结果。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5" name="TextBox 8"/>
          <p:cNvSpPr/>
          <p:nvPr/>
        </p:nvSpPr>
        <p:spPr>
          <a:xfrm>
            <a:off x="720000" y="1620000"/>
            <a:ext cx="3204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6" name="TextBox 9"/>
          <p:cNvSpPr/>
          <p:nvPr/>
        </p:nvSpPr>
        <p:spPr>
          <a:xfrm>
            <a:off x="972000" y="1800000"/>
            <a:ext cx="2700000" cy="324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基础档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7" name="TextBox 10"/>
          <p:cNvSpPr/>
          <p:nvPr/>
        </p:nvSpPr>
        <p:spPr>
          <a:xfrm>
            <a:off x="1026000" y="23220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标量 Tensor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8" name="TextBox 11"/>
          <p:cNvSpPr/>
          <p:nvPr/>
        </p:nvSpPr>
        <p:spPr>
          <a:xfrm>
            <a:off x="1026000" y="26028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四则运算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199" name="TextBox 12"/>
          <p:cNvSpPr/>
          <p:nvPr/>
        </p:nvSpPr>
        <p:spPr>
          <a:xfrm>
            <a:off x="1026000" y="28836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loss.backward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0" name="TextBox 13"/>
          <p:cNvSpPr/>
          <p:nvPr/>
        </p:nvSpPr>
        <p:spPr>
          <a:xfrm>
            <a:off x="1026000" y="3744000"/>
            <a:ext cx="648000" cy="198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验收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1" name="TextBox 14"/>
          <p:cNvSpPr/>
          <p:nvPr/>
        </p:nvSpPr>
        <p:spPr>
          <a:xfrm>
            <a:off x="1026000" y="40500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3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输出正确 loss / w.grad / b.grad</a:t>
            </a:r>
            <a:endParaRPr lang="en-US" sz="13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2" name="TextBox 15"/>
          <p:cNvSpPr/>
          <p:nvPr/>
        </p:nvSpPr>
        <p:spPr>
          <a:xfrm>
            <a:off x="4050000" y="3150000"/>
            <a:ext cx="324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3" name="TextBox 16"/>
          <p:cNvSpPr/>
          <p:nvPr/>
        </p:nvSpPr>
        <p:spPr>
          <a:xfrm>
            <a:off x="4464000" y="1620000"/>
            <a:ext cx="3204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4" name="TextBox 17"/>
          <p:cNvSpPr/>
          <p:nvPr/>
        </p:nvSpPr>
        <p:spPr>
          <a:xfrm>
            <a:off x="4716000" y="1800000"/>
            <a:ext cx="2700000" cy="32400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标准档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5" name="TextBox 18"/>
          <p:cNvSpPr/>
          <p:nvPr/>
        </p:nvSpPr>
        <p:spPr>
          <a:xfrm>
            <a:off x="4770000" y="23220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二维矩阵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6" name="TextBox 19"/>
          <p:cNvSpPr/>
          <p:nvPr/>
        </p:nvSpPr>
        <p:spPr>
          <a:xfrm>
            <a:off x="4770000" y="26028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matmul + MSE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7" name="TextBox 20"/>
          <p:cNvSpPr/>
          <p:nvPr/>
        </p:nvSpPr>
        <p:spPr>
          <a:xfrm>
            <a:off x="4770000" y="28836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线性回归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8" name="TextBox 21"/>
          <p:cNvSpPr/>
          <p:nvPr/>
        </p:nvSpPr>
        <p:spPr>
          <a:xfrm>
            <a:off x="4770000" y="3744000"/>
            <a:ext cx="648000" cy="198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验收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09" name="TextBox 22"/>
          <p:cNvSpPr/>
          <p:nvPr/>
        </p:nvSpPr>
        <p:spPr>
          <a:xfrm>
            <a:off x="4770000" y="40500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3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训练 loss 下降，参数接近真实值</a:t>
            </a:r>
            <a:endParaRPr lang="en-US" sz="13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0" name="TextBox 23"/>
          <p:cNvSpPr/>
          <p:nvPr/>
        </p:nvSpPr>
        <p:spPr>
          <a:xfrm>
            <a:off x="7794000" y="3150000"/>
            <a:ext cx="324000" cy="162000"/>
          </a:xfrm>
          <a:prstGeom prst="rightArrow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1" name="TextBox 24"/>
          <p:cNvSpPr/>
          <p:nvPr/>
        </p:nvSpPr>
        <p:spPr>
          <a:xfrm>
            <a:off x="8208000" y="1620000"/>
            <a:ext cx="3204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2" name="TextBox 25"/>
          <p:cNvSpPr/>
          <p:nvPr/>
        </p:nvSpPr>
        <p:spPr>
          <a:xfrm>
            <a:off x="8460000" y="1800000"/>
            <a:ext cx="2700000" cy="324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挑战档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3" name="TextBox 26"/>
          <p:cNvSpPr/>
          <p:nvPr/>
        </p:nvSpPr>
        <p:spPr>
          <a:xfrm>
            <a:off x="8514000" y="23220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relu / sigmoid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4" name="TextBox 27"/>
          <p:cNvSpPr/>
          <p:nvPr/>
        </p:nvSpPr>
        <p:spPr>
          <a:xfrm>
            <a:off x="8514000" y="26028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Linear + SGD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5" name="TextBox 28"/>
          <p:cNvSpPr/>
          <p:nvPr/>
        </p:nvSpPr>
        <p:spPr>
          <a:xfrm>
            <a:off x="8514000" y="2883600"/>
            <a:ext cx="2592000" cy="22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4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XOR 网络</a:t>
            </a:r>
            <a:endParaRPr lang="en-US" sz="14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6" name="TextBox 29"/>
          <p:cNvSpPr/>
          <p:nvPr/>
        </p:nvSpPr>
        <p:spPr>
          <a:xfrm>
            <a:off x="8514000" y="3744000"/>
            <a:ext cx="648000" cy="1980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验收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7" name="TextBox 30"/>
          <p:cNvSpPr/>
          <p:nvPr/>
        </p:nvSpPr>
        <p:spPr>
          <a:xfrm>
            <a:off x="8514000" y="4050000"/>
            <a:ext cx="2592000" cy="50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3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四组 XOR 预测接近 0/1/1/0</a:t>
            </a:r>
            <a:endParaRPr lang="en-US" sz="13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18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19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0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10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1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2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10/12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3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小组分工：核心、运算、验收并行推进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4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三人分工围绕当前开发状态设计，先保证 basic demo 跑通。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5" name="TextBox 8"/>
          <p:cNvSpPr/>
          <p:nvPr/>
        </p:nvSpPr>
        <p:spPr>
          <a:xfrm>
            <a:off x="792000" y="1620000"/>
            <a:ext cx="3168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6" name="TextBox 9"/>
          <p:cNvSpPr/>
          <p:nvPr/>
        </p:nvSpPr>
        <p:spPr>
          <a:xfrm>
            <a:off x="1980000" y="1818000"/>
            <a:ext cx="756000" cy="756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周</a:t>
            </a:r>
            <a:endParaRPr lang="en-US" sz="2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7" name="TextBox 10"/>
          <p:cNvSpPr/>
          <p:nvPr/>
        </p:nvSpPr>
        <p:spPr>
          <a:xfrm>
            <a:off x="972000" y="2718000"/>
            <a:ext cx="280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周获深</a:t>
            </a:r>
            <a:endParaRPr lang="en-US" sz="20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8" name="TextBox 11"/>
          <p:cNvSpPr/>
          <p:nvPr/>
        </p:nvSpPr>
        <p:spPr>
          <a:xfrm>
            <a:off x="1854000" y="3078000"/>
            <a:ext cx="1044000" cy="2232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组长</a:t>
            </a:r>
            <a:endParaRPr lang="en-US" sz="12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29" name="TextBox 12"/>
          <p:cNvSpPr/>
          <p:nvPr/>
        </p:nvSpPr>
        <p:spPr>
          <a:xfrm>
            <a:off x="1080000" y="36000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总体设计与集成协调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0" name="TextBox 13"/>
          <p:cNvSpPr/>
          <p:nvPr/>
        </p:nvSpPr>
        <p:spPr>
          <a:xfrm>
            <a:off x="1080000" y="38952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LinkedList / Tensor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1" name="TextBox 14"/>
          <p:cNvSpPr/>
          <p:nvPr/>
        </p:nvSpPr>
        <p:spPr>
          <a:xfrm>
            <a:off x="1080000" y="41904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backward 机制设计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2" name="TextBox 15"/>
          <p:cNvSpPr/>
          <p:nvPr/>
        </p:nvSpPr>
        <p:spPr>
          <a:xfrm>
            <a:off x="4500000" y="1620000"/>
            <a:ext cx="3168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3" name="TextBox 16"/>
          <p:cNvSpPr/>
          <p:nvPr/>
        </p:nvSpPr>
        <p:spPr>
          <a:xfrm>
            <a:off x="5688000" y="1818000"/>
            <a:ext cx="756000" cy="756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靳</a:t>
            </a:r>
            <a:endParaRPr lang="en-US" sz="2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4" name="TextBox 17"/>
          <p:cNvSpPr/>
          <p:nvPr/>
        </p:nvSpPr>
        <p:spPr>
          <a:xfrm>
            <a:off x="4680000" y="2718000"/>
            <a:ext cx="280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靳子桐</a:t>
            </a:r>
            <a:endParaRPr lang="en-US" sz="20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5" name="TextBox 18"/>
          <p:cNvSpPr/>
          <p:nvPr/>
        </p:nvSpPr>
        <p:spPr>
          <a:xfrm>
            <a:off x="5562000" y="3078000"/>
            <a:ext cx="1044000" cy="2232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组员</a:t>
            </a:r>
            <a:endParaRPr lang="en-US" sz="12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6" name="TextBox 19"/>
          <p:cNvSpPr/>
          <p:nvPr/>
        </p:nvSpPr>
        <p:spPr>
          <a:xfrm>
            <a:off x="4788000" y="36000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Ops 运算实现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7" name="TextBox 20"/>
          <p:cNvSpPr/>
          <p:nvPr/>
        </p:nvSpPr>
        <p:spPr>
          <a:xfrm>
            <a:off x="4788000" y="38952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反向传播公式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8" name="TextBox 21"/>
          <p:cNvSpPr/>
          <p:nvPr/>
        </p:nvSpPr>
        <p:spPr>
          <a:xfrm>
            <a:off x="4788000" y="41904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matmul / 激活函数扩展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39" name="TextBox 22"/>
          <p:cNvSpPr/>
          <p:nvPr/>
        </p:nvSpPr>
        <p:spPr>
          <a:xfrm>
            <a:off x="8208000" y="1620000"/>
            <a:ext cx="3168000" cy="331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0" name="TextBox 23"/>
          <p:cNvSpPr/>
          <p:nvPr/>
        </p:nvSpPr>
        <p:spPr>
          <a:xfrm>
            <a:off x="9396000" y="1818000"/>
            <a:ext cx="756000" cy="756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杜</a:t>
            </a:r>
            <a:endParaRPr lang="en-US" sz="2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1" name="TextBox 24"/>
          <p:cNvSpPr/>
          <p:nvPr/>
        </p:nvSpPr>
        <p:spPr>
          <a:xfrm>
            <a:off x="8388000" y="2718000"/>
            <a:ext cx="2808000" cy="30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杜启瑄</a:t>
            </a:r>
            <a:endParaRPr lang="en-US" sz="20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2" name="TextBox 25"/>
          <p:cNvSpPr/>
          <p:nvPr/>
        </p:nvSpPr>
        <p:spPr>
          <a:xfrm>
            <a:off x="9270000" y="3078000"/>
            <a:ext cx="1044000" cy="22320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组员</a:t>
            </a:r>
            <a:endParaRPr lang="en-US" sz="12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3" name="TextBox 26"/>
          <p:cNvSpPr/>
          <p:nvPr/>
        </p:nvSpPr>
        <p:spPr>
          <a:xfrm>
            <a:off x="8496000" y="36000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测试与 basic demo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4" name="TextBox 27"/>
          <p:cNvSpPr/>
          <p:nvPr/>
        </p:nvSpPr>
        <p:spPr>
          <a:xfrm>
            <a:off x="8496000" y="38952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日志、README、报告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5" name="TextBox 28"/>
          <p:cNvSpPr/>
          <p:nvPr/>
        </p:nvSpPr>
        <p:spPr>
          <a:xfrm>
            <a:off x="8496000" y="4190400"/>
            <a:ext cx="2520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线性回归 / XOR 验收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6" name="TextBox 29"/>
          <p:cNvSpPr/>
          <p:nvPr/>
        </p:nvSpPr>
        <p:spPr>
          <a:xfrm>
            <a:off x="1116000" y="5436000"/>
            <a:ext cx="9936000" cy="3780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协作规则：每个模块提交前先跑最小测试；遇到 bug 优先构造最小表达式。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7" name="TextBox 1"/>
          <p:cNvSpPr/>
          <p:nvPr/>
        </p:nvSpPr>
        <p:spPr>
          <a:xfrm>
            <a:off x="0" y="0"/>
            <a:ext cx="1512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8" name="TextBox 2"/>
          <p:cNvSpPr/>
          <p:nvPr/>
        </p:nvSpPr>
        <p:spPr>
          <a:xfrm>
            <a:off x="151200" y="0"/>
            <a:ext cx="57600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49" name="TextBox 3"/>
          <p:cNvSpPr/>
          <p:nvPr/>
        </p:nvSpPr>
        <p:spPr>
          <a:xfrm>
            <a:off x="9072000" y="198000"/>
            <a:ext cx="2340000" cy="12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56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11</a:t>
            </a:r>
            <a:endParaRPr lang="en-US" sz="56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0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1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11/12</a:t>
            </a:r>
            <a:endParaRPr lang="en-US" sz="9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2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进度计划：按验收节点推进</a:t>
            </a:r>
            <a:endParaRPr lang="en-US" sz="34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3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6B7B8D"/>
                </a:solidFill>
                <a:latin typeface="Microsoft YaHei" panose="020B0503020204020204" charset="-122"/>
                <a:ea typeface="Microsoft YaHei" panose="020B0503020204020204" charset="-122"/>
              </a:rPr>
              <a:t>每一阶段都要有可运行结果，避免最后集中集成。</a:t>
            </a:r>
            <a:endParaRPr lang="en-US" sz="1500">
              <a:solidFill>
                <a:srgbClr val="6B7B8D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4" name="TextBox 8"/>
          <p:cNvSpPr/>
          <p:nvPr/>
        </p:nvSpPr>
        <p:spPr>
          <a:xfrm>
            <a:off x="1080000" y="3096000"/>
            <a:ext cx="9864000" cy="43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5" name="TextBox 9"/>
          <p:cNvSpPr/>
          <p:nvPr/>
        </p:nvSpPr>
        <p:spPr>
          <a:xfrm>
            <a:off x="1296000" y="2779200"/>
            <a:ext cx="522000" cy="522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6" name="TextBox 10"/>
          <p:cNvSpPr/>
          <p:nvPr/>
        </p:nvSpPr>
        <p:spPr>
          <a:xfrm>
            <a:off x="792000" y="1746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第1周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7" name="TextBox 11"/>
          <p:cNvSpPr/>
          <p:nvPr/>
        </p:nvSpPr>
        <p:spPr>
          <a:xfrm>
            <a:off x="792000" y="2070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框架搭建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8" name="TextBox 12"/>
          <p:cNvSpPr/>
          <p:nvPr/>
        </p:nvSpPr>
        <p:spPr>
          <a:xfrm>
            <a:off x="792000" y="2278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LinkedList / Tensor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59" name="TextBox 13"/>
          <p:cNvSpPr/>
          <p:nvPr/>
        </p:nvSpPr>
        <p:spPr>
          <a:xfrm>
            <a:off x="3186000" y="2779200"/>
            <a:ext cx="522000" cy="522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0" name="TextBox 14"/>
          <p:cNvSpPr/>
          <p:nvPr/>
        </p:nvSpPr>
        <p:spPr>
          <a:xfrm>
            <a:off x="2682000" y="3960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第2周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1" name="TextBox 15"/>
          <p:cNvSpPr/>
          <p:nvPr/>
        </p:nvSpPr>
        <p:spPr>
          <a:xfrm>
            <a:off x="2682000" y="4284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Ops 四则运算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2" name="TextBox 16"/>
          <p:cNvSpPr/>
          <p:nvPr/>
        </p:nvSpPr>
        <p:spPr>
          <a:xfrm>
            <a:off x="2682000" y="4492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标量前向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3" name="TextBox 17"/>
          <p:cNvSpPr/>
          <p:nvPr/>
        </p:nvSpPr>
        <p:spPr>
          <a:xfrm>
            <a:off x="5076000" y="2779200"/>
            <a:ext cx="522000" cy="522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4" name="TextBox 18"/>
          <p:cNvSpPr/>
          <p:nvPr/>
        </p:nvSpPr>
        <p:spPr>
          <a:xfrm>
            <a:off x="4572000" y="1746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第3周</a:t>
            </a:r>
            <a:endParaRPr lang="en-US" sz="16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5" name="TextBox 19"/>
          <p:cNvSpPr/>
          <p:nvPr/>
        </p:nvSpPr>
        <p:spPr>
          <a:xfrm>
            <a:off x="4572000" y="2070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backward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6" name="TextBox 20"/>
          <p:cNvSpPr/>
          <p:nvPr/>
        </p:nvSpPr>
        <p:spPr>
          <a:xfrm>
            <a:off x="4572000" y="2278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基础求导验收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7" name="TextBox 21"/>
          <p:cNvSpPr/>
          <p:nvPr/>
        </p:nvSpPr>
        <p:spPr>
          <a:xfrm>
            <a:off x="6966000" y="2779200"/>
            <a:ext cx="522000" cy="522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8" name="TextBox 22"/>
          <p:cNvSpPr/>
          <p:nvPr/>
        </p:nvSpPr>
        <p:spPr>
          <a:xfrm>
            <a:off x="6462000" y="3960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第4周</a:t>
            </a:r>
            <a:endParaRPr lang="en-US" sz="16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69" name="TextBox 23"/>
          <p:cNvSpPr/>
          <p:nvPr/>
        </p:nvSpPr>
        <p:spPr>
          <a:xfrm>
            <a:off x="6462000" y="4284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矩阵 / matmul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0" name="TextBox 24"/>
          <p:cNvSpPr/>
          <p:nvPr/>
        </p:nvSpPr>
        <p:spPr>
          <a:xfrm>
            <a:off x="6462000" y="4492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MSE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1" name="TextBox 25"/>
          <p:cNvSpPr/>
          <p:nvPr/>
        </p:nvSpPr>
        <p:spPr>
          <a:xfrm>
            <a:off x="8856000" y="2779200"/>
            <a:ext cx="522000" cy="522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5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2" name="TextBox 26"/>
          <p:cNvSpPr/>
          <p:nvPr/>
        </p:nvSpPr>
        <p:spPr>
          <a:xfrm>
            <a:off x="8352000" y="1746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第5周</a:t>
            </a:r>
            <a:endParaRPr lang="en-US" sz="16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3" name="TextBox 27"/>
          <p:cNvSpPr/>
          <p:nvPr/>
        </p:nvSpPr>
        <p:spPr>
          <a:xfrm>
            <a:off x="8352000" y="2070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SGD / Linear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4" name="TextBox 28"/>
          <p:cNvSpPr/>
          <p:nvPr/>
        </p:nvSpPr>
        <p:spPr>
          <a:xfrm>
            <a:off x="8352000" y="2278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线性回归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5" name="TextBox 29"/>
          <p:cNvSpPr/>
          <p:nvPr/>
        </p:nvSpPr>
        <p:spPr>
          <a:xfrm>
            <a:off x="10746000" y="2779200"/>
            <a:ext cx="522000" cy="522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6</a:t>
            </a:r>
            <a:endParaRPr lang="en-US" sz="1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6" name="TextBox 30"/>
          <p:cNvSpPr/>
          <p:nvPr/>
        </p:nvSpPr>
        <p:spPr>
          <a:xfrm>
            <a:off x="10242000" y="3960000"/>
            <a:ext cx="1512000" cy="23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第6周</a:t>
            </a:r>
            <a:endParaRPr lang="en-US" sz="16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7" name="TextBox 31"/>
          <p:cNvSpPr/>
          <p:nvPr/>
        </p:nvSpPr>
        <p:spPr>
          <a:xfrm>
            <a:off x="10242000" y="42840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XOR / 测试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8" name="TextBox 32"/>
          <p:cNvSpPr/>
          <p:nvPr/>
        </p:nvSpPr>
        <p:spPr>
          <a:xfrm>
            <a:off x="10242000" y="4492800"/>
            <a:ext cx="1512000" cy="1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11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报告答辩</a:t>
            </a:r>
            <a:endParaRPr lang="en-US" sz="11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79" name="TextBox 33"/>
          <p:cNvSpPr/>
          <p:nvPr/>
        </p:nvSpPr>
        <p:spPr>
          <a:xfrm>
            <a:off x="1512000" y="5472000"/>
            <a:ext cx="1728000" cy="27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阶段门槛</a:t>
            </a:r>
            <a:endParaRPr lang="en-US" sz="14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0" name="TextBox 34"/>
          <p:cNvSpPr/>
          <p:nvPr/>
        </p:nvSpPr>
        <p:spPr>
          <a:xfrm>
            <a:off x="3456000" y="5450400"/>
            <a:ext cx="7380000" cy="43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 b="1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第 3 周必须跑通 basic；第 5 周必须看到线性回归 loss 下降；第 6 周完成演示材料。</a:t>
            </a:r>
            <a:endParaRPr lang="en-US" sz="1500" b="1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81" name="TextBox 1"/>
          <p:cNvSpPr/>
          <p:nvPr/>
        </p:nvSpPr>
        <p:spPr>
          <a:xfrm>
            <a:off x="-1008000" y="-648000"/>
            <a:ext cx="3600000" cy="3600000"/>
          </a:xfrm>
          <a:prstGeom prst="ellipse">
            <a:avLst/>
          </a:prstGeom>
          <a:solidFill>
            <a:srgbClr val="00A896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2" name="TextBox 2"/>
          <p:cNvSpPr/>
          <p:nvPr/>
        </p:nvSpPr>
        <p:spPr>
          <a:xfrm>
            <a:off x="9720000" y="4392000"/>
            <a:ext cx="3240000" cy="3240000"/>
          </a:xfrm>
          <a:prstGeom prst="ellipse">
            <a:avLst/>
          </a:prstGeom>
          <a:solidFill>
            <a:srgbClr val="CADCFC">
              <a:alpha val="18000"/>
            </a:srgbClr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3" name="TextBox 3"/>
          <p:cNvSpPr/>
          <p:nvPr/>
        </p:nvSpPr>
        <p:spPr>
          <a:xfrm>
            <a:off x="8640000" y="252000"/>
            <a:ext cx="2880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68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12</a:t>
            </a:r>
            <a:endParaRPr lang="en-US" sz="68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4" name="TextBox 4"/>
          <p:cNvSpPr/>
          <p:nvPr/>
        </p:nvSpPr>
        <p:spPr>
          <a:xfrm>
            <a:off x="540000" y="6498000"/>
            <a:ext cx="3240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自动求导引擎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5" name="TextBox 5"/>
          <p:cNvSpPr/>
          <p:nvPr/>
        </p:nvSpPr>
        <p:spPr>
          <a:xfrm>
            <a:off x="11052000" y="6498000"/>
            <a:ext cx="576000" cy="1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r"/>
            <a:r>
              <a:rPr lang="en-US" sz="9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12/12</a:t>
            </a:r>
            <a:endParaRPr lang="en-US" sz="9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6" name="TextBox 6"/>
          <p:cNvSpPr/>
          <p:nvPr/>
        </p:nvSpPr>
        <p:spPr>
          <a:xfrm>
            <a:off x="522000" y="324000"/>
            <a:ext cx="10260000" cy="59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预期成果与风险控制</a:t>
            </a:r>
            <a:endParaRPr lang="en-US" sz="34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7" name="TextBox 7"/>
          <p:cNvSpPr/>
          <p:nvPr/>
        </p:nvSpPr>
        <p:spPr>
          <a:xfrm>
            <a:off x="540000" y="918000"/>
            <a:ext cx="918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500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最终交付可运行程序、实验结果、测试和答辩材料。</a:t>
            </a:r>
            <a:endParaRPr lang="en-US" sz="1500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8" name="TextBox 8"/>
          <p:cNvSpPr/>
          <p:nvPr/>
        </p:nvSpPr>
        <p:spPr>
          <a:xfrm>
            <a:off x="720000" y="1566000"/>
            <a:ext cx="3312000" cy="259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89" name="TextBox 9"/>
          <p:cNvSpPr/>
          <p:nvPr/>
        </p:nvSpPr>
        <p:spPr>
          <a:xfrm>
            <a:off x="720000" y="1566000"/>
            <a:ext cx="64800" cy="2592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0" name="TextBox 10"/>
          <p:cNvSpPr/>
          <p:nvPr/>
        </p:nvSpPr>
        <p:spPr>
          <a:xfrm>
            <a:off x="871200" y="1692000"/>
            <a:ext cx="30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00A896"/>
                </a:solidFill>
                <a:latin typeface="Microsoft YaHei" panose="020B0503020204020204" charset="-122"/>
                <a:ea typeface="Microsoft YaHei" panose="020B0503020204020204" charset="-122"/>
              </a:rPr>
              <a:t>预期成果</a:t>
            </a:r>
            <a:endParaRPr lang="en-US" sz="1800" b="1">
              <a:solidFill>
                <a:srgbClr val="00A89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1" name="TextBox 11"/>
          <p:cNvSpPr/>
          <p:nvPr/>
        </p:nvSpPr>
        <p:spPr>
          <a:xfrm>
            <a:off x="882000" y="20520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tinytensor.exe basic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2" name="TextBox 12"/>
          <p:cNvSpPr/>
          <p:nvPr/>
        </p:nvSpPr>
        <p:spPr>
          <a:xfrm>
            <a:off x="882000" y="23472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standard 线性回归训练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3" name="TextBox 13"/>
          <p:cNvSpPr/>
          <p:nvPr/>
        </p:nvSpPr>
        <p:spPr>
          <a:xfrm>
            <a:off x="882000" y="26424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output 日志与结果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4" name="TextBox 14"/>
          <p:cNvSpPr/>
          <p:nvPr/>
        </p:nvSpPr>
        <p:spPr>
          <a:xfrm>
            <a:off x="882000" y="29376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开题/结题展示材料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5" name="TextBox 15"/>
          <p:cNvSpPr/>
          <p:nvPr/>
        </p:nvSpPr>
        <p:spPr>
          <a:xfrm>
            <a:off x="4446000" y="1566000"/>
            <a:ext cx="3312000" cy="259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6" name="TextBox 16"/>
          <p:cNvSpPr/>
          <p:nvPr/>
        </p:nvSpPr>
        <p:spPr>
          <a:xfrm>
            <a:off x="4446000" y="1566000"/>
            <a:ext cx="64800" cy="259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7" name="TextBox 17"/>
          <p:cNvSpPr/>
          <p:nvPr/>
        </p:nvSpPr>
        <p:spPr>
          <a:xfrm>
            <a:off x="4597200" y="1692000"/>
            <a:ext cx="30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F59E0B"/>
                </a:solidFill>
                <a:latin typeface="Microsoft YaHei" panose="020B0503020204020204" charset="-122"/>
                <a:ea typeface="Microsoft YaHei" panose="020B0503020204020204" charset="-122"/>
              </a:rPr>
              <a:t>主要风险</a:t>
            </a:r>
            <a:endParaRPr lang="en-US" sz="1800" b="1">
              <a:solidFill>
                <a:srgbClr val="F59E0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8" name="TextBox 18"/>
          <p:cNvSpPr/>
          <p:nvPr/>
        </p:nvSpPr>
        <p:spPr>
          <a:xfrm>
            <a:off x="4608000" y="20520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临时 Tensor 生命周期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299" name="TextBox 19"/>
          <p:cNvSpPr/>
          <p:nvPr/>
        </p:nvSpPr>
        <p:spPr>
          <a:xfrm>
            <a:off x="4608000" y="23472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梯度覆盖而非累加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0" name="TextBox 20"/>
          <p:cNvSpPr/>
          <p:nvPr/>
        </p:nvSpPr>
        <p:spPr>
          <a:xfrm>
            <a:off x="4608000" y="26424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矩阵 shape 与内存管理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1" name="TextBox 21"/>
          <p:cNvSpPr/>
          <p:nvPr/>
        </p:nvSpPr>
        <p:spPr>
          <a:xfrm>
            <a:off x="4608000" y="29376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最后集成时间不足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2" name="TextBox 22"/>
          <p:cNvSpPr/>
          <p:nvPr/>
        </p:nvSpPr>
        <p:spPr>
          <a:xfrm>
            <a:off x="8172000" y="1566000"/>
            <a:ext cx="3312000" cy="259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3" name="TextBox 23"/>
          <p:cNvSpPr/>
          <p:nvPr/>
        </p:nvSpPr>
        <p:spPr>
          <a:xfrm>
            <a:off x="8172000" y="1566000"/>
            <a:ext cx="64800" cy="2592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lIns="43200" tIns="43200" rIns="43200" bIns="43200" anchor="t"/>
          <a:lstStyle/>
          <a:p>
            <a:pPr algn="l"/>
            <a:endParaRPr lang="en-US" sz="18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4" name="TextBox 24"/>
          <p:cNvSpPr/>
          <p:nvPr/>
        </p:nvSpPr>
        <p:spPr>
          <a:xfrm>
            <a:off x="8323200" y="1692000"/>
            <a:ext cx="3042000" cy="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解决策略</a:t>
            </a:r>
            <a:endParaRPr lang="en-US" sz="18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5" name="TextBox 25"/>
          <p:cNvSpPr/>
          <p:nvPr/>
        </p:nvSpPr>
        <p:spPr>
          <a:xfrm>
            <a:off x="8334000" y="20520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先标量后矩阵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6" name="TextBox 26"/>
          <p:cNvSpPr/>
          <p:nvPr/>
        </p:nvSpPr>
        <p:spPr>
          <a:xfrm>
            <a:off x="8334000" y="23472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每个运算配手算测试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7" name="TextBox 27"/>
          <p:cNvSpPr/>
          <p:nvPr/>
        </p:nvSpPr>
        <p:spPr>
          <a:xfrm>
            <a:off x="8334000" y="26424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中间 Tensor 显式命名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8" name="TextBox 28"/>
          <p:cNvSpPr/>
          <p:nvPr/>
        </p:nvSpPr>
        <p:spPr>
          <a:xfrm>
            <a:off x="8334000" y="2937600"/>
            <a:ext cx="3024000" cy="2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300">
                <a:solidFill>
                  <a:srgbClr val="263238"/>
                </a:solidFill>
                <a:latin typeface="Microsoft YaHei" panose="020B0503020204020204" charset="-122"/>
                <a:ea typeface="Microsoft YaHei" panose="020B0503020204020204" charset="-122"/>
              </a:rPr>
              <a:t>- 按阶段验收而非最后验收</a:t>
            </a:r>
            <a:endParaRPr lang="en-US" sz="1300">
              <a:solidFill>
                <a:srgbClr val="26323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09" name="TextBox 29"/>
          <p:cNvSpPr/>
          <p:nvPr/>
        </p:nvSpPr>
        <p:spPr>
          <a:xfrm>
            <a:off x="1836000" y="5076000"/>
            <a:ext cx="1440000" cy="2880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500" b="1">
                <a:solidFill>
                  <a:srgbClr val="1E2761"/>
                </a:solidFill>
                <a:latin typeface="Microsoft YaHei" panose="020B0503020204020204" charset="-122"/>
                <a:ea typeface="Microsoft YaHei" panose="020B0503020204020204" charset="-122"/>
              </a:rPr>
              <a:t>结论</a:t>
            </a:r>
            <a:endParaRPr lang="en-US" sz="1500" b="1">
              <a:solidFill>
                <a:srgbClr val="1E276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10" name="TextBox 30"/>
          <p:cNvSpPr/>
          <p:nvPr/>
        </p:nvSpPr>
        <p:spPr>
          <a:xfrm>
            <a:off x="3528000" y="5040000"/>
            <a:ext cx="7200000" cy="50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l"/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TinyTensor 项目以最小自动求导闭环为核心，逐步扩展到训练任务，具备明确的学习价值与可验收成果。</a:t>
            </a:r>
            <a:endParaRPr lang="en-US"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311" name="TextBox 31"/>
          <p:cNvSpPr/>
          <p:nvPr/>
        </p:nvSpPr>
        <p:spPr>
          <a:xfrm>
            <a:off x="3600000" y="5922000"/>
            <a:ext cx="5040000" cy="32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en-US" sz="2000" b="1">
                <a:solidFill>
                  <a:srgbClr val="CADCFC"/>
                </a:solidFill>
                <a:latin typeface="Microsoft YaHei" panose="020B0503020204020204" charset="-122"/>
                <a:ea typeface="Microsoft YaHei" panose="020B0503020204020204" charset="-122"/>
              </a:rPr>
              <a:t>谢谢聆听</a:t>
            </a:r>
            <a:endParaRPr lang="en-US" sz="2000" b="1">
              <a:solidFill>
                <a:srgbClr val="CADCF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3168</Words>
  <Application>WPS 演示</Application>
  <PresentationFormat/>
  <Paragraphs>478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Microsoft YaHei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OfficeCLI</dc:creator>
  <cp:lastModifiedBy>周获深</cp:lastModifiedBy>
  <cp:revision>1</cp:revision>
  <dcterms:created xsi:type="dcterms:W3CDTF">2026-05-14T11:50:12Z</dcterms:created>
  <dcterms:modified xsi:type="dcterms:W3CDTF">2026-05-14T11:50:12Z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8F8C1B2D884148D48DA129B1E58EED87_12</vt:lpwstr>
  </property>
</Properties>
</file>