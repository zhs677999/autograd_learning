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开场说明项目主题：TinyTensor 自动求导引擎。强调目标不是调用现成框架，而是从零理解 Tensor、计算图和反向传播。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本页强调为什么做这个题：自动求导是深度学习框架的核心，项目能把理论、C++、数据结构和实验训练连起来。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按基础、标准、挑战三档讲项目边界。基础档是整个项目的核心，标准和挑战是在核心跑通后的扩展。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解释 Tensor 的四个核心成员。重点讲清楚：计算图是由 Tensor 之间的父节点指针形成的，链表只是保存父节点集合的容器。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本页讲自动求导怎么实现：每个运算保存局部反向规则，backward 从 loss.grad=1 开始调用这些规则。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说明每个文件的职责，避免把功能堆在 main.cpp。讲清楚集成顺序，先核心求导，再训练组件。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介绍三人分工。强调不是按文件孤立开发，而是围绕求导闭环并行推进。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说明时间计划和阶段验收点。第 3 周的 basic demo 是整个项目风险最低化的关键节点。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收尾强调成果和风险控制。最后可以过渡到老师提问。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收尾强调成果和风险控制。最后可以过渡到老师提问。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收尾强调成果和风险控制。最后可以过渡到老师提问。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>
            <a:off x="-1008000" y="-648000"/>
            <a:ext cx="3600000" cy="3600000"/>
          </a:xfrm>
          <a:prstGeom prst="ellipse">
            <a:avLst/>
          </a:prstGeom>
          <a:solidFill>
            <a:srgbClr val="00A896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1" name="TextBox 2"/>
          <p:cNvSpPr/>
          <p:nvPr/>
        </p:nvSpPr>
        <p:spPr>
          <a:xfrm>
            <a:off x="9720000" y="4392000"/>
            <a:ext cx="3240000" cy="3240000"/>
          </a:xfrm>
          <a:prstGeom prst="ellipse">
            <a:avLst/>
          </a:prstGeom>
          <a:solidFill>
            <a:srgbClr val="CADCFC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2" name="TextBox 3"/>
          <p:cNvSpPr/>
          <p:nvPr/>
        </p:nvSpPr>
        <p:spPr>
          <a:xfrm>
            <a:off x="8640000" y="252000"/>
            <a:ext cx="2880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68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01</a:t>
            </a:r>
            <a:endParaRPr lang="en-US" sz="68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3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4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01/12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5" name="TextBox 6"/>
          <p:cNvSpPr/>
          <p:nvPr/>
        </p:nvSpPr>
        <p:spPr>
          <a:xfrm>
            <a:off x="720000" y="1602000"/>
            <a:ext cx="10728000" cy="84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</a:t>
            </a:r>
            <a:endParaRPr lang="en-US" sz="4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6" name="TextBox 7"/>
          <p:cNvSpPr/>
          <p:nvPr/>
        </p:nvSpPr>
        <p:spPr>
          <a:xfrm>
            <a:off x="720000" y="2466000"/>
            <a:ext cx="10728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自动求导引擎开题报告</a:t>
            </a:r>
            <a:endParaRPr lang="en-US" sz="24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7" name="TextBox 8"/>
          <p:cNvSpPr/>
          <p:nvPr/>
        </p:nvSpPr>
        <p:spPr>
          <a:xfrm>
            <a:off x="3690000" y="3114000"/>
            <a:ext cx="1980000" cy="280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课程设计 · 第三选题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8" name="TextBox 9"/>
          <p:cNvSpPr/>
          <p:nvPr/>
        </p:nvSpPr>
        <p:spPr>
          <a:xfrm>
            <a:off x="5886000" y="3114000"/>
            <a:ext cx="2664000" cy="280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Tensor / Graph / Backward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9" name="TextBox 10"/>
          <p:cNvSpPr/>
          <p:nvPr/>
        </p:nvSpPr>
        <p:spPr>
          <a:xfrm>
            <a:off x="3600000" y="4320000"/>
            <a:ext cx="496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组长：周获深</a:t>
            </a:r>
            <a:endParaRPr lang="en-US" sz="170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0" name="TextBox 11"/>
          <p:cNvSpPr/>
          <p:nvPr/>
        </p:nvSpPr>
        <p:spPr>
          <a:xfrm>
            <a:off x="3600000" y="4698000"/>
            <a:ext cx="496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组员：靳子桐 · 杜启瑄</a:t>
            </a:r>
            <a:endParaRPr lang="en-US" sz="16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1" name="TextBox 12"/>
          <p:cNvSpPr/>
          <p:nvPr/>
        </p:nvSpPr>
        <p:spPr>
          <a:xfrm>
            <a:off x="1728000" y="5490000"/>
            <a:ext cx="8748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50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从零实现迷你 Tensor 与自动求导核心</a:t>
            </a:r>
            <a:endParaRPr lang="en-US" sz="150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5" grpId="0"/>
      <p:bldP spid="10006" grpId="1"/>
      <p:bldP spid="10007" grpId="2"/>
      <p:bldP spid="10008" grpId="3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12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3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4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02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5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6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02/12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7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选题背景：从使用框架到理解框架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8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自动求导常被框架封装，本项目尝试拆开实现。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9" name="TextBox 8"/>
          <p:cNvSpPr/>
          <p:nvPr/>
        </p:nvSpPr>
        <p:spPr>
          <a:xfrm>
            <a:off x="558000" y="1530000"/>
            <a:ext cx="3384000" cy="309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0" name="TextBox 9"/>
          <p:cNvSpPr/>
          <p:nvPr/>
        </p:nvSpPr>
        <p:spPr>
          <a:xfrm>
            <a:off x="558000" y="1530000"/>
            <a:ext cx="64800" cy="309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1" name="TextBox 10"/>
          <p:cNvSpPr/>
          <p:nvPr/>
        </p:nvSpPr>
        <p:spPr>
          <a:xfrm>
            <a:off x="709200" y="1656000"/>
            <a:ext cx="3114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学习痛点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2" name="TextBox 11"/>
          <p:cNvSpPr/>
          <p:nvPr/>
        </p:nvSpPr>
        <p:spPr>
          <a:xfrm>
            <a:off x="720000" y="20160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API 会用，梯度不清楚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3" name="TextBox 12"/>
          <p:cNvSpPr/>
          <p:nvPr/>
        </p:nvSpPr>
        <p:spPr>
          <a:xfrm>
            <a:off x="720000" y="23112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反向传播难调试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5" name="TextBox 14"/>
          <p:cNvSpPr/>
          <p:nvPr/>
        </p:nvSpPr>
        <p:spPr>
          <a:xfrm>
            <a:off x="4356000" y="1530000"/>
            <a:ext cx="3384000" cy="30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6" name="TextBox 15"/>
          <p:cNvSpPr/>
          <p:nvPr/>
        </p:nvSpPr>
        <p:spPr>
          <a:xfrm>
            <a:off x="4356000" y="1530000"/>
            <a:ext cx="64800" cy="309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7" name="TextBox 16"/>
          <p:cNvSpPr/>
          <p:nvPr/>
        </p:nvSpPr>
        <p:spPr>
          <a:xfrm>
            <a:off x="4507200" y="1656000"/>
            <a:ext cx="3114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课程价值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8" name="TextBox 17"/>
          <p:cNvSpPr/>
          <p:nvPr/>
        </p:nvSpPr>
        <p:spPr>
          <a:xfrm>
            <a:off x="4518000" y="20160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练习 C++ 内存与对象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9" name="TextBox 18"/>
          <p:cNvSpPr/>
          <p:nvPr/>
        </p:nvSpPr>
        <p:spPr>
          <a:xfrm>
            <a:off x="4518000" y="23112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亲手建立计算图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1" name="TextBox 20"/>
          <p:cNvSpPr/>
          <p:nvPr/>
        </p:nvSpPr>
        <p:spPr>
          <a:xfrm>
            <a:off x="8154000" y="1530000"/>
            <a:ext cx="3384000" cy="309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2" name="TextBox 21"/>
          <p:cNvSpPr/>
          <p:nvPr/>
        </p:nvSpPr>
        <p:spPr>
          <a:xfrm>
            <a:off x="8154000" y="1530000"/>
            <a:ext cx="64800" cy="309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3" name="TextBox 22"/>
          <p:cNvSpPr/>
          <p:nvPr/>
        </p:nvSpPr>
        <p:spPr>
          <a:xfrm>
            <a:off x="8305200" y="1656000"/>
            <a:ext cx="3114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选题意义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4" name="TextBox 23"/>
          <p:cNvSpPr/>
          <p:nvPr/>
        </p:nvSpPr>
        <p:spPr>
          <a:xfrm>
            <a:off x="8316000" y="20160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实现迷你自动求导引擎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5" name="TextBox 24"/>
          <p:cNvSpPr/>
          <p:nvPr/>
        </p:nvSpPr>
        <p:spPr>
          <a:xfrm>
            <a:off x="8316000" y="23112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支持线性回归与 XOR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7" name="TextBox 26"/>
          <p:cNvSpPr/>
          <p:nvPr/>
        </p:nvSpPr>
        <p:spPr>
          <a:xfrm>
            <a:off x="1152000" y="5148000"/>
            <a:ext cx="2088000" cy="28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核心定位</a:t>
            </a:r>
            <a:endParaRPr lang="en-US" sz="1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8" name="TextBox 27"/>
          <p:cNvSpPr/>
          <p:nvPr/>
        </p:nvSpPr>
        <p:spPr>
          <a:xfrm>
            <a:off x="3262630" y="5130165"/>
            <a:ext cx="7626985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目标：可解释、可验证的自动求导最小闭环。</a:t>
            </a:r>
            <a:endParaRPr lang="en-US" sz="18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9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0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1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03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2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3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03/12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4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项目目标：三档递进的 TinyTensor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5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先求导闭环，再扩展训练组件。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6" name="TextBox 8"/>
          <p:cNvSpPr/>
          <p:nvPr/>
        </p:nvSpPr>
        <p:spPr>
          <a:xfrm>
            <a:off x="720000" y="1440000"/>
            <a:ext cx="3168000" cy="1152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7" name="TextBox 9"/>
          <p:cNvSpPr/>
          <p:nvPr/>
        </p:nvSpPr>
        <p:spPr>
          <a:xfrm>
            <a:off x="846000" y="1576800"/>
            <a:ext cx="2916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基础档</a:t>
            </a:r>
            <a:endParaRPr lang="en-US" sz="2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8" name="TextBox 10"/>
          <p:cNvSpPr/>
          <p:nvPr/>
        </p:nvSpPr>
        <p:spPr>
          <a:xfrm>
            <a:off x="882000" y="1998000"/>
            <a:ext cx="2844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标量 + 四则运算 + backward</a:t>
            </a:r>
            <a:endParaRPr lang="en-US" sz="12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9" name="TextBox 11"/>
          <p:cNvSpPr/>
          <p:nvPr/>
        </p:nvSpPr>
        <p:spPr>
          <a:xfrm>
            <a:off x="4500000" y="1440000"/>
            <a:ext cx="3168000" cy="1152000"/>
          </a:xfrm>
          <a:prstGeom prst="roundRect">
            <a:avLst/>
          </a:prstGeom>
          <a:solidFill>
            <a:srgbClr val="EAF7F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0" name="TextBox 12"/>
          <p:cNvSpPr/>
          <p:nvPr/>
        </p:nvSpPr>
        <p:spPr>
          <a:xfrm>
            <a:off x="4626000" y="1576800"/>
            <a:ext cx="2916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标准档</a:t>
            </a:r>
            <a:endParaRPr lang="en-US" sz="24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1" name="TextBox 13"/>
          <p:cNvSpPr/>
          <p:nvPr/>
        </p:nvSpPr>
        <p:spPr>
          <a:xfrm>
            <a:off x="4662000" y="1998000"/>
            <a:ext cx="2844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矩阵 + matmul + 线性回归</a:t>
            </a:r>
            <a:endParaRPr lang="en-US" sz="12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2" name="TextBox 14"/>
          <p:cNvSpPr/>
          <p:nvPr/>
        </p:nvSpPr>
        <p:spPr>
          <a:xfrm>
            <a:off x="8280000" y="1440000"/>
            <a:ext cx="3168000" cy="11520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3" name="TextBox 15"/>
          <p:cNvSpPr/>
          <p:nvPr/>
        </p:nvSpPr>
        <p:spPr>
          <a:xfrm>
            <a:off x="8406000" y="1576800"/>
            <a:ext cx="2916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挑战档</a:t>
            </a:r>
            <a:endParaRPr lang="en-US" sz="24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4" name="TextBox 16"/>
          <p:cNvSpPr/>
          <p:nvPr/>
        </p:nvSpPr>
        <p:spPr>
          <a:xfrm>
            <a:off x="8442000" y="1998000"/>
            <a:ext cx="2844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Linear + SGD + XOR</a:t>
            </a:r>
            <a:endParaRPr lang="en-US" sz="12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5" name="TextBox 17"/>
          <p:cNvSpPr/>
          <p:nvPr/>
        </p:nvSpPr>
        <p:spPr>
          <a:xfrm>
            <a:off x="1476000" y="3276000"/>
            <a:ext cx="9288000" cy="1494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6" name="TextBox 18"/>
          <p:cNvSpPr/>
          <p:nvPr/>
        </p:nvSpPr>
        <p:spPr>
          <a:xfrm>
            <a:off x="1800000" y="3438000"/>
            <a:ext cx="3528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最小验收表达式</a:t>
            </a:r>
            <a:endParaRPr lang="en-US" sz="1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7" name="TextBox 19"/>
          <p:cNvSpPr/>
          <p:nvPr/>
        </p:nvSpPr>
        <p:spPr>
          <a:xfrm>
            <a:off x="1800000" y="3870000"/>
            <a:ext cx="8568000" cy="61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y = w*x + b；loss = (y-10)^2；期望：loss=9, w.grad=-12, b.grad=-6</a:t>
            </a:r>
            <a:endParaRPr lang="en-US" sz="15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058" name="TextBox 20"/>
          <p:cNvSpPr/>
          <p:nvPr/>
        </p:nvSpPr>
        <p:spPr>
          <a:xfrm>
            <a:off x="1548000" y="5112000"/>
            <a:ext cx="1980000" cy="28800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目标结果</a:t>
            </a:r>
            <a:endParaRPr lang="en-US" sz="1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9" name="TextBox 21"/>
          <p:cNvSpPr/>
          <p:nvPr/>
        </p:nvSpPr>
        <p:spPr>
          <a:xfrm>
            <a:off x="3708000" y="5076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交付可运行、可测试、可展示的 C++ 项目。</a:t>
            </a:r>
            <a:endParaRPr lang="en-US" sz="18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13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4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5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04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6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7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06/12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8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核心原理一：Tensor 即计算图节点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9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第一版让 Tensor 自己保存父节点和反向规则。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0" name="TextBox 8"/>
          <p:cNvSpPr/>
          <p:nvPr/>
        </p:nvSpPr>
        <p:spPr>
          <a:xfrm>
            <a:off x="4752000" y="2232000"/>
            <a:ext cx="2664000" cy="1080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Tensor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1" name="TextBox 9"/>
          <p:cNvSpPr/>
          <p:nvPr/>
        </p:nvSpPr>
        <p:spPr>
          <a:xfrm>
            <a:off x="1188000" y="1656000"/>
            <a:ext cx="2304000" cy="792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data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当前值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2" name="TextBox 10"/>
          <p:cNvSpPr/>
          <p:nvPr/>
        </p:nvSpPr>
        <p:spPr>
          <a:xfrm>
            <a:off x="8568000" y="1656000"/>
            <a:ext cx="2304000" cy="792000"/>
          </a:xfrm>
          <a:prstGeom prst="roundRect">
            <a:avLst/>
          </a:prstGeom>
          <a:solidFill>
            <a:srgbClr val="EAF7F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grad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当前梯度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3" name="TextBox 11"/>
          <p:cNvSpPr/>
          <p:nvPr/>
        </p:nvSpPr>
        <p:spPr>
          <a:xfrm>
            <a:off x="1188000" y="3888000"/>
            <a:ext cx="2304000" cy="7920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parents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父节点列表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4" name="TextBox 12"/>
          <p:cNvSpPr/>
          <p:nvPr/>
        </p:nvSpPr>
        <p:spPr>
          <a:xfrm>
            <a:off x="8568000" y="3888000"/>
            <a:ext cx="2304000" cy="792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backwardFunc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反向传播规则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5" name="TextBox 13"/>
          <p:cNvSpPr/>
          <p:nvPr/>
        </p:nvSpPr>
        <p:spPr>
          <a:xfrm>
            <a:off x="3636000" y="1980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6" name="TextBox 14"/>
          <p:cNvSpPr/>
          <p:nvPr/>
        </p:nvSpPr>
        <p:spPr>
          <a:xfrm>
            <a:off x="7560000" y="1980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7" name="TextBox 15"/>
          <p:cNvSpPr/>
          <p:nvPr/>
        </p:nvSpPr>
        <p:spPr>
          <a:xfrm>
            <a:off x="3636000" y="4212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8" name="TextBox 16"/>
          <p:cNvSpPr/>
          <p:nvPr/>
        </p:nvSpPr>
        <p:spPr>
          <a:xfrm rot="10800000">
            <a:off x="7560000" y="4212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9" name="TextBox 17"/>
          <p:cNvSpPr/>
          <p:nvPr/>
        </p:nvSpPr>
        <p:spPr>
          <a:xfrm>
            <a:off x="1116000" y="5472000"/>
            <a:ext cx="10008000" cy="396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链表只是 parents 容器，真正的图由 Tensor 指针连接。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30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1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2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05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3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4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07/12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5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核心原理二：链式法则驱动 backward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6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从 loss.grad = 1 开始，沿计算图反向累加。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7" name="TextBox 8"/>
          <p:cNvSpPr/>
          <p:nvPr/>
        </p:nvSpPr>
        <p:spPr>
          <a:xfrm>
            <a:off x="720000" y="1656000"/>
            <a:ext cx="450000" cy="45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8" name="TextBox 9"/>
          <p:cNvSpPr/>
          <p:nvPr/>
        </p:nvSpPr>
        <p:spPr>
          <a:xfrm>
            <a:off x="1278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前向计算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9" name="TextBox 10"/>
          <p:cNvSpPr/>
          <p:nvPr/>
        </p:nvSpPr>
        <p:spPr>
          <a:xfrm>
            <a:off x="1278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保存 out.data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40" name="TextBox 11"/>
          <p:cNvSpPr/>
          <p:nvPr/>
        </p:nvSpPr>
        <p:spPr>
          <a:xfrm>
            <a:off x="3132000" y="1818000"/>
            <a:ext cx="324000" cy="1368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1" name="TextBox 12"/>
          <p:cNvSpPr/>
          <p:nvPr/>
        </p:nvSpPr>
        <p:spPr>
          <a:xfrm>
            <a:off x="3528000" y="1656000"/>
            <a:ext cx="450000" cy="45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2" name="TextBox 13"/>
          <p:cNvSpPr/>
          <p:nvPr/>
        </p:nvSpPr>
        <p:spPr>
          <a:xfrm>
            <a:off x="4086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记录父节点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3" name="TextBox 14"/>
          <p:cNvSpPr/>
          <p:nvPr/>
        </p:nvSpPr>
        <p:spPr>
          <a:xfrm>
            <a:off x="4086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out.parents = [a, b]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44" name="TextBox 15"/>
          <p:cNvSpPr/>
          <p:nvPr/>
        </p:nvSpPr>
        <p:spPr>
          <a:xfrm>
            <a:off x="5940000" y="1818000"/>
            <a:ext cx="324000" cy="1368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5" name="TextBox 16"/>
          <p:cNvSpPr/>
          <p:nvPr/>
        </p:nvSpPr>
        <p:spPr>
          <a:xfrm>
            <a:off x="6336000" y="1656000"/>
            <a:ext cx="450000" cy="45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6" name="TextBox 17"/>
          <p:cNvSpPr/>
          <p:nvPr/>
        </p:nvSpPr>
        <p:spPr>
          <a:xfrm>
            <a:off x="6894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绑定规则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7" name="TextBox 18"/>
          <p:cNvSpPr/>
          <p:nvPr/>
        </p:nvSpPr>
        <p:spPr>
          <a:xfrm>
            <a:off x="6894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out.backwardFunc = mulBackward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48" name="TextBox 19"/>
          <p:cNvSpPr/>
          <p:nvPr/>
        </p:nvSpPr>
        <p:spPr>
          <a:xfrm>
            <a:off x="8748000" y="1818000"/>
            <a:ext cx="324000" cy="1368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9" name="TextBox 20"/>
          <p:cNvSpPr/>
          <p:nvPr/>
        </p:nvSpPr>
        <p:spPr>
          <a:xfrm>
            <a:off x="9144000" y="1656000"/>
            <a:ext cx="450000" cy="45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0" name="TextBox 21"/>
          <p:cNvSpPr/>
          <p:nvPr/>
        </p:nvSpPr>
        <p:spPr>
          <a:xfrm>
            <a:off x="9702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反向传播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1" name="TextBox 22"/>
          <p:cNvSpPr/>
          <p:nvPr/>
        </p:nvSpPr>
        <p:spPr>
          <a:xfrm>
            <a:off x="9702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a.grad += b.data * out.grad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52" name="TextBox 23"/>
          <p:cNvSpPr/>
          <p:nvPr/>
        </p:nvSpPr>
        <p:spPr>
          <a:xfrm>
            <a:off x="1476000" y="3276000"/>
            <a:ext cx="9288000" cy="1494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3" name="TextBox 24"/>
          <p:cNvSpPr/>
          <p:nvPr/>
        </p:nvSpPr>
        <p:spPr>
          <a:xfrm>
            <a:off x="1800000" y="3438000"/>
            <a:ext cx="3528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示例：loss = diff * diff</a:t>
            </a:r>
            <a:endParaRPr lang="en-US" sz="1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4" name="TextBox 25"/>
          <p:cNvSpPr/>
          <p:nvPr/>
        </p:nvSpPr>
        <p:spPr>
          <a:xfrm>
            <a:off x="1800000" y="3834000"/>
            <a:ext cx="8568000" cy="61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loss.grad=1；diff 被用两次，所以 diff.grad = 2*diff = -6</a:t>
            </a:r>
            <a:endParaRPr lang="en-US" sz="15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55" name="TextBox 26"/>
          <p:cNvSpPr/>
          <p:nvPr/>
        </p:nvSpPr>
        <p:spPr>
          <a:xfrm>
            <a:off x="1476000" y="5256000"/>
            <a:ext cx="9288000" cy="342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关键：同一节点可出现两次，梯度必须累加。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56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7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8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06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9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0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08/12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1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模块划分：让每个文件只做一类事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2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按依赖关系逐层集成。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3" name="TextBox 8"/>
          <p:cNvSpPr/>
          <p:nvPr/>
        </p:nvSpPr>
        <p:spPr>
          <a:xfrm>
            <a:off x="630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4" name="TextBox 9"/>
          <p:cNvSpPr/>
          <p:nvPr/>
        </p:nvSpPr>
        <p:spPr>
          <a:xfrm>
            <a:off x="756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LinkedList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5" name="TextBox 10"/>
          <p:cNvSpPr/>
          <p:nvPr/>
        </p:nvSpPr>
        <p:spPr>
          <a:xfrm>
            <a:off x="828000" y="21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保存父节点/参数/样本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6" name="TextBox 11"/>
          <p:cNvSpPr/>
          <p:nvPr/>
        </p:nvSpPr>
        <p:spPr>
          <a:xfrm>
            <a:off x="3438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7" name="TextBox 12"/>
          <p:cNvSpPr/>
          <p:nvPr/>
        </p:nvSpPr>
        <p:spPr>
          <a:xfrm>
            <a:off x="3564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Tensor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8" name="TextBox 13"/>
          <p:cNvSpPr/>
          <p:nvPr/>
        </p:nvSpPr>
        <p:spPr>
          <a:xfrm>
            <a:off x="3636000" y="21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保存 data/grad/parents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9" name="TextBox 14"/>
          <p:cNvSpPr/>
          <p:nvPr/>
        </p:nvSpPr>
        <p:spPr>
          <a:xfrm>
            <a:off x="6246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0" name="TextBox 15"/>
          <p:cNvSpPr/>
          <p:nvPr/>
        </p:nvSpPr>
        <p:spPr>
          <a:xfrm>
            <a:off x="6372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Ops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1" name="TextBox 16"/>
          <p:cNvSpPr/>
          <p:nvPr/>
        </p:nvSpPr>
        <p:spPr>
          <a:xfrm>
            <a:off x="6444000" y="21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创建结果，绑定反向公式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2" name="TextBox 17"/>
          <p:cNvSpPr/>
          <p:nvPr/>
        </p:nvSpPr>
        <p:spPr>
          <a:xfrm>
            <a:off x="9054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3" name="TextBox 18"/>
          <p:cNvSpPr/>
          <p:nvPr/>
        </p:nvSpPr>
        <p:spPr>
          <a:xfrm>
            <a:off x="9180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Loss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4" name="TextBox 19"/>
          <p:cNvSpPr/>
          <p:nvPr/>
        </p:nvSpPr>
        <p:spPr>
          <a:xfrm>
            <a:off x="9252000" y="21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生成标量 loss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5" name="TextBox 20"/>
          <p:cNvSpPr/>
          <p:nvPr/>
        </p:nvSpPr>
        <p:spPr>
          <a:xfrm>
            <a:off x="630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6" name="TextBox 21"/>
          <p:cNvSpPr/>
          <p:nvPr/>
        </p:nvSpPr>
        <p:spPr>
          <a:xfrm>
            <a:off x="756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Optimizer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7" name="TextBox 22"/>
          <p:cNvSpPr/>
          <p:nvPr/>
        </p:nvSpPr>
        <p:spPr>
          <a:xfrm>
            <a:off x="828000" y="39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按 grad 更新参数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8" name="TextBox 23"/>
          <p:cNvSpPr/>
          <p:nvPr/>
        </p:nvSpPr>
        <p:spPr>
          <a:xfrm>
            <a:off x="3438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9" name="TextBox 24"/>
          <p:cNvSpPr/>
          <p:nvPr/>
        </p:nvSpPr>
        <p:spPr>
          <a:xfrm>
            <a:off x="3564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Module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0" name="TextBox 25"/>
          <p:cNvSpPr/>
          <p:nvPr/>
        </p:nvSpPr>
        <p:spPr>
          <a:xfrm>
            <a:off x="3636000" y="39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封装 Linear 层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1" name="TextBox 26"/>
          <p:cNvSpPr/>
          <p:nvPr/>
        </p:nvSpPr>
        <p:spPr>
          <a:xfrm>
            <a:off x="6246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2" name="TextBox 27"/>
          <p:cNvSpPr/>
          <p:nvPr/>
        </p:nvSpPr>
        <p:spPr>
          <a:xfrm>
            <a:off x="6372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Dataset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3" name="TextBox 28"/>
          <p:cNvSpPr/>
          <p:nvPr/>
        </p:nvSpPr>
        <p:spPr>
          <a:xfrm>
            <a:off x="6444000" y="39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读取训练样本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4" name="TextBox 29"/>
          <p:cNvSpPr/>
          <p:nvPr/>
        </p:nvSpPr>
        <p:spPr>
          <a:xfrm>
            <a:off x="9054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5" name="TextBox 30"/>
          <p:cNvSpPr/>
          <p:nvPr/>
        </p:nvSpPr>
        <p:spPr>
          <a:xfrm>
            <a:off x="9180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Logger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6" name="TextBox 31"/>
          <p:cNvSpPr/>
          <p:nvPr/>
        </p:nvSpPr>
        <p:spPr>
          <a:xfrm>
            <a:off x="9252000" y="3978000"/>
            <a:ext cx="2088000" cy="52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0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记录 loss 与结果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7" name="TextBox 32"/>
          <p:cNvSpPr/>
          <p:nvPr/>
        </p:nvSpPr>
        <p:spPr>
          <a:xfrm>
            <a:off x="864000" y="5472000"/>
            <a:ext cx="10080000" cy="37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集成顺序：Tensor → Ops → backward → Loss/SGD → Demo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18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9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0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07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1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2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10/12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3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小组分工：核心、运算、验收并行推进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4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先保证 basic demo 跑通，再扩展训练。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5" name="TextBox 8"/>
          <p:cNvSpPr/>
          <p:nvPr/>
        </p:nvSpPr>
        <p:spPr>
          <a:xfrm>
            <a:off x="792000" y="1620000"/>
            <a:ext cx="3168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6" name="TextBox 9"/>
          <p:cNvSpPr/>
          <p:nvPr/>
        </p:nvSpPr>
        <p:spPr>
          <a:xfrm>
            <a:off x="1980000" y="1818000"/>
            <a:ext cx="756000" cy="756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周</a:t>
            </a:r>
            <a:endParaRPr lang="en-US" sz="2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7" name="TextBox 10"/>
          <p:cNvSpPr/>
          <p:nvPr/>
        </p:nvSpPr>
        <p:spPr>
          <a:xfrm>
            <a:off x="972000" y="2718000"/>
            <a:ext cx="280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周获深</a:t>
            </a:r>
            <a:endParaRPr lang="en-US" sz="20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8" name="TextBox 11"/>
          <p:cNvSpPr/>
          <p:nvPr/>
        </p:nvSpPr>
        <p:spPr>
          <a:xfrm>
            <a:off x="1854000" y="3078000"/>
            <a:ext cx="1044000" cy="2232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组长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9" name="TextBox 12"/>
          <p:cNvSpPr/>
          <p:nvPr/>
        </p:nvSpPr>
        <p:spPr>
          <a:xfrm>
            <a:off x="1080000" y="36000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总体设计与集成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0" name="TextBox 13"/>
          <p:cNvSpPr/>
          <p:nvPr/>
        </p:nvSpPr>
        <p:spPr>
          <a:xfrm>
            <a:off x="1080000" y="38952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LinkedList / Tensor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2" name="TextBox 15"/>
          <p:cNvSpPr/>
          <p:nvPr/>
        </p:nvSpPr>
        <p:spPr>
          <a:xfrm>
            <a:off x="4500000" y="1620000"/>
            <a:ext cx="3168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3" name="TextBox 16"/>
          <p:cNvSpPr/>
          <p:nvPr/>
        </p:nvSpPr>
        <p:spPr>
          <a:xfrm>
            <a:off x="5688000" y="1818000"/>
            <a:ext cx="756000" cy="756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靳</a:t>
            </a:r>
            <a:endParaRPr lang="en-US" sz="2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4" name="TextBox 17"/>
          <p:cNvSpPr/>
          <p:nvPr/>
        </p:nvSpPr>
        <p:spPr>
          <a:xfrm>
            <a:off x="4680000" y="2718000"/>
            <a:ext cx="280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靳子桐</a:t>
            </a:r>
            <a:endParaRPr lang="en-US" sz="20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5" name="TextBox 18"/>
          <p:cNvSpPr/>
          <p:nvPr/>
        </p:nvSpPr>
        <p:spPr>
          <a:xfrm>
            <a:off x="5562000" y="3078000"/>
            <a:ext cx="1044000" cy="2232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组员</a:t>
            </a:r>
            <a:endParaRPr lang="en-US" sz="12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6" name="TextBox 19"/>
          <p:cNvSpPr/>
          <p:nvPr/>
        </p:nvSpPr>
        <p:spPr>
          <a:xfrm>
            <a:off x="4788000" y="36000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Ops 运算实现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7" name="TextBox 20"/>
          <p:cNvSpPr/>
          <p:nvPr/>
        </p:nvSpPr>
        <p:spPr>
          <a:xfrm>
            <a:off x="4788000" y="38952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反向传播公式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9" name="TextBox 22"/>
          <p:cNvSpPr/>
          <p:nvPr/>
        </p:nvSpPr>
        <p:spPr>
          <a:xfrm>
            <a:off x="8208000" y="1620000"/>
            <a:ext cx="3168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0" name="TextBox 23"/>
          <p:cNvSpPr/>
          <p:nvPr/>
        </p:nvSpPr>
        <p:spPr>
          <a:xfrm>
            <a:off x="9396000" y="1818000"/>
            <a:ext cx="756000" cy="756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杜</a:t>
            </a:r>
            <a:endParaRPr lang="en-US" sz="2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1" name="TextBox 24"/>
          <p:cNvSpPr/>
          <p:nvPr/>
        </p:nvSpPr>
        <p:spPr>
          <a:xfrm>
            <a:off x="8388000" y="2718000"/>
            <a:ext cx="280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杜启瑄</a:t>
            </a:r>
            <a:endParaRPr lang="en-US" sz="20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2" name="TextBox 25"/>
          <p:cNvSpPr/>
          <p:nvPr/>
        </p:nvSpPr>
        <p:spPr>
          <a:xfrm>
            <a:off x="9270000" y="3078000"/>
            <a:ext cx="1044000" cy="2232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组员</a:t>
            </a:r>
            <a:endParaRPr lang="en-US" sz="12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3" name="TextBox 26"/>
          <p:cNvSpPr/>
          <p:nvPr/>
        </p:nvSpPr>
        <p:spPr>
          <a:xfrm>
            <a:off x="8496000" y="36000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测试与 Demo</a:t>
            </a:r>
            <a:r>
              <a:rPr lang="zh-CN" alt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，修</a:t>
            </a:r>
            <a:r>
              <a:rPr lang="en-US" altLang="zh-CN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bug</a:t>
            </a:r>
            <a:endParaRPr lang="en-US" altLang="zh-CN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4" name="TextBox 27"/>
          <p:cNvSpPr/>
          <p:nvPr/>
        </p:nvSpPr>
        <p:spPr>
          <a:xfrm>
            <a:off x="8496000" y="38952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日志、README、报告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6" name="TextBox 29"/>
          <p:cNvSpPr/>
          <p:nvPr/>
        </p:nvSpPr>
        <p:spPr>
          <a:xfrm>
            <a:off x="1116000" y="5436000"/>
            <a:ext cx="9936000" cy="37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协作规则：先跑最小测试，再集成。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7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8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9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08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0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1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11/12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2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进度计划：每阶段都有 Demo 验收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3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Demo 贯穿验收：basic 求导，standard 训练，challenge XOR。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4" name="TextBox 8"/>
          <p:cNvSpPr/>
          <p:nvPr/>
        </p:nvSpPr>
        <p:spPr>
          <a:xfrm>
            <a:off x="1080000" y="3096000"/>
            <a:ext cx="9864000" cy="43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5" name="TextBox 9"/>
          <p:cNvSpPr/>
          <p:nvPr/>
        </p:nvSpPr>
        <p:spPr>
          <a:xfrm>
            <a:off x="1296000" y="2779200"/>
            <a:ext cx="522000" cy="522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6" name="TextBox 10"/>
          <p:cNvSpPr/>
          <p:nvPr/>
        </p:nvSpPr>
        <p:spPr>
          <a:xfrm>
            <a:off x="792000" y="1746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第1周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7" name="TextBox 11"/>
          <p:cNvSpPr/>
          <p:nvPr/>
        </p:nvSpPr>
        <p:spPr>
          <a:xfrm>
            <a:off x="792000" y="2070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框架搭建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8" name="TextBox 12"/>
          <p:cNvSpPr/>
          <p:nvPr/>
        </p:nvSpPr>
        <p:spPr>
          <a:xfrm>
            <a:off x="792000" y="2278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LinkedList / Tensor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9" name="TextBox 13"/>
          <p:cNvSpPr/>
          <p:nvPr/>
        </p:nvSpPr>
        <p:spPr>
          <a:xfrm>
            <a:off x="3186000" y="2779200"/>
            <a:ext cx="522000" cy="522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0" name="TextBox 14"/>
          <p:cNvSpPr/>
          <p:nvPr/>
        </p:nvSpPr>
        <p:spPr>
          <a:xfrm>
            <a:off x="2682000" y="3960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第2周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1" name="TextBox 15"/>
          <p:cNvSpPr/>
          <p:nvPr/>
        </p:nvSpPr>
        <p:spPr>
          <a:xfrm>
            <a:off x="2682000" y="4284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Ops 四则运算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2" name="TextBox 16"/>
          <p:cNvSpPr/>
          <p:nvPr/>
        </p:nvSpPr>
        <p:spPr>
          <a:xfrm>
            <a:off x="2682000" y="4492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标量前向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3" name="TextBox 17"/>
          <p:cNvSpPr/>
          <p:nvPr/>
        </p:nvSpPr>
        <p:spPr>
          <a:xfrm>
            <a:off x="5076000" y="2779200"/>
            <a:ext cx="522000" cy="522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4" name="TextBox 18"/>
          <p:cNvSpPr/>
          <p:nvPr/>
        </p:nvSpPr>
        <p:spPr>
          <a:xfrm>
            <a:off x="4572000" y="1746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第3周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5" name="TextBox 19"/>
          <p:cNvSpPr/>
          <p:nvPr/>
        </p:nvSpPr>
        <p:spPr>
          <a:xfrm>
            <a:off x="4572000" y="2070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backward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6" name="TextBox 20"/>
          <p:cNvSpPr/>
          <p:nvPr/>
        </p:nvSpPr>
        <p:spPr>
          <a:xfrm>
            <a:off x="4572000" y="2278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basic demo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7" name="TextBox 21"/>
          <p:cNvSpPr/>
          <p:nvPr/>
        </p:nvSpPr>
        <p:spPr>
          <a:xfrm>
            <a:off x="6966000" y="2779200"/>
            <a:ext cx="522000" cy="522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8" name="TextBox 22"/>
          <p:cNvSpPr/>
          <p:nvPr/>
        </p:nvSpPr>
        <p:spPr>
          <a:xfrm>
            <a:off x="6462000" y="3960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第4周</a:t>
            </a:r>
            <a:endParaRPr lang="en-US" sz="16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9" name="TextBox 23"/>
          <p:cNvSpPr/>
          <p:nvPr/>
        </p:nvSpPr>
        <p:spPr>
          <a:xfrm>
            <a:off x="6462000" y="4284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矩阵 / matmul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0" name="TextBox 24"/>
          <p:cNvSpPr/>
          <p:nvPr/>
        </p:nvSpPr>
        <p:spPr>
          <a:xfrm>
            <a:off x="6462000" y="4492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MSE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1" name="TextBox 25"/>
          <p:cNvSpPr/>
          <p:nvPr/>
        </p:nvSpPr>
        <p:spPr>
          <a:xfrm>
            <a:off x="8856000" y="2779200"/>
            <a:ext cx="522000" cy="522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5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2" name="TextBox 26"/>
          <p:cNvSpPr/>
          <p:nvPr/>
        </p:nvSpPr>
        <p:spPr>
          <a:xfrm>
            <a:off x="8352000" y="1746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第5周</a:t>
            </a:r>
            <a:endParaRPr lang="en-US" sz="16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3" name="TextBox 27"/>
          <p:cNvSpPr/>
          <p:nvPr/>
        </p:nvSpPr>
        <p:spPr>
          <a:xfrm>
            <a:off x="8352000" y="2070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SGD / Linear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4" name="TextBox 28"/>
          <p:cNvSpPr/>
          <p:nvPr/>
        </p:nvSpPr>
        <p:spPr>
          <a:xfrm>
            <a:off x="8352000" y="2278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standard demo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5" name="TextBox 29"/>
          <p:cNvSpPr/>
          <p:nvPr/>
        </p:nvSpPr>
        <p:spPr>
          <a:xfrm>
            <a:off x="10746000" y="2779200"/>
            <a:ext cx="522000" cy="522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6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6" name="TextBox 30"/>
          <p:cNvSpPr/>
          <p:nvPr/>
        </p:nvSpPr>
        <p:spPr>
          <a:xfrm>
            <a:off x="10242000" y="3960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第6周</a:t>
            </a:r>
            <a:endParaRPr lang="en-US" sz="16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7" name="TextBox 31"/>
          <p:cNvSpPr/>
          <p:nvPr/>
        </p:nvSpPr>
        <p:spPr>
          <a:xfrm>
            <a:off x="10242000" y="4284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XOR / 测试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8" name="TextBox 32"/>
          <p:cNvSpPr/>
          <p:nvPr/>
        </p:nvSpPr>
        <p:spPr>
          <a:xfrm>
            <a:off x="10242000" y="4492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答辩演示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9" name="TextBox 33"/>
          <p:cNvSpPr/>
          <p:nvPr/>
        </p:nvSpPr>
        <p:spPr>
          <a:xfrm>
            <a:off x="1512000" y="5472000"/>
            <a:ext cx="1728000" cy="27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Demo演示路线</a:t>
            </a:r>
            <a:endParaRPr lang="en-US" sz="1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0" name="TextBox 34"/>
          <p:cNvSpPr/>
          <p:nvPr/>
        </p:nvSpPr>
        <p:spPr>
          <a:xfrm>
            <a:off x="3456000" y="5450400"/>
            <a:ext cx="7380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第3周演示 basic；第5周演示 loss 下降；第6周演示 XOR 与答辩。</a:t>
            </a:r>
            <a:endParaRPr lang="en-US" sz="15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81" name="TextBox 1"/>
          <p:cNvSpPr/>
          <p:nvPr/>
        </p:nvSpPr>
        <p:spPr>
          <a:xfrm>
            <a:off x="-1008000" y="-648000"/>
            <a:ext cx="3600000" cy="3600000"/>
          </a:xfrm>
          <a:prstGeom prst="ellipse">
            <a:avLst/>
          </a:prstGeom>
          <a:solidFill>
            <a:srgbClr val="00A896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2" name="TextBox 2"/>
          <p:cNvSpPr/>
          <p:nvPr/>
        </p:nvSpPr>
        <p:spPr>
          <a:xfrm>
            <a:off x="9720000" y="4392000"/>
            <a:ext cx="3240000" cy="3240000"/>
          </a:xfrm>
          <a:prstGeom prst="ellipse">
            <a:avLst/>
          </a:prstGeom>
          <a:solidFill>
            <a:srgbClr val="CADCFC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4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5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12/12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10" name="TextBox 30"/>
          <p:cNvSpPr/>
          <p:nvPr/>
        </p:nvSpPr>
        <p:spPr>
          <a:xfrm>
            <a:off x="2207200" y="4725040"/>
            <a:ext cx="7200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11" name="TextBox 31"/>
          <p:cNvSpPr/>
          <p:nvPr/>
        </p:nvSpPr>
        <p:spPr>
          <a:xfrm>
            <a:off x="3524435" y="3428990"/>
            <a:ext cx="504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谢谢聆听</a:t>
            </a:r>
            <a:endParaRPr lang="en-US" sz="20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81" name="TextBox 1"/>
          <p:cNvSpPr/>
          <p:nvPr/>
        </p:nvSpPr>
        <p:spPr>
          <a:xfrm>
            <a:off x="-1008000" y="-648000"/>
            <a:ext cx="3600000" cy="3600000"/>
          </a:xfrm>
          <a:prstGeom prst="ellipse">
            <a:avLst/>
          </a:prstGeom>
          <a:solidFill>
            <a:srgbClr val="00A896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2" name="TextBox 2"/>
          <p:cNvSpPr/>
          <p:nvPr/>
        </p:nvSpPr>
        <p:spPr>
          <a:xfrm>
            <a:off x="9720000" y="4392000"/>
            <a:ext cx="3240000" cy="3240000"/>
          </a:xfrm>
          <a:prstGeom prst="ellipse">
            <a:avLst/>
          </a:prstGeom>
          <a:solidFill>
            <a:srgbClr val="CADCFC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4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5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12/12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10" name="TextBox 30"/>
          <p:cNvSpPr/>
          <p:nvPr/>
        </p:nvSpPr>
        <p:spPr>
          <a:xfrm>
            <a:off x="2207200" y="4725040"/>
            <a:ext cx="7200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11" name="TextBox 31"/>
          <p:cNvSpPr/>
          <p:nvPr/>
        </p:nvSpPr>
        <p:spPr>
          <a:xfrm>
            <a:off x="3524435" y="3428990"/>
            <a:ext cx="504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endParaRPr lang="en-US" sz="20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83840" y="260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前人工作：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55370" y="621030"/>
            <a:ext cx="895921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bg1"/>
                </a:solidFill>
              </a:rPr>
              <a:t>| Paszke, A., et al. (2019). PyTorch: An Imperative Style, High-Performance Deep Learning Library. In NeurIPS 2019. | PyTorch</a:t>
            </a:r>
            <a:r>
              <a:rPr lang="zh-CN" altLang="en-US" sz="1200">
                <a:solidFill>
                  <a:schemeClr val="bg1"/>
                </a:solidFill>
              </a:rPr>
              <a:t>框架论文，其核心</a:t>
            </a:r>
            <a:r>
              <a:rPr lang="en-US" altLang="zh-CN" sz="1200">
                <a:solidFill>
                  <a:schemeClr val="bg1"/>
                </a:solidFill>
              </a:rPr>
              <a:t>autograd</a:t>
            </a:r>
            <a:r>
              <a:rPr lang="zh-CN" altLang="en-US" sz="1200">
                <a:solidFill>
                  <a:schemeClr val="bg1"/>
                </a:solidFill>
              </a:rPr>
              <a:t>机制是反向模式</a:t>
            </a:r>
            <a:r>
              <a:rPr lang="en-US" altLang="zh-CN" sz="1200">
                <a:solidFill>
                  <a:schemeClr val="bg1"/>
                </a:solidFill>
              </a:rPr>
              <a:t>AD</a:t>
            </a:r>
            <a:r>
              <a:rPr lang="zh-CN" altLang="en-US" sz="1200">
                <a:solidFill>
                  <a:schemeClr val="bg1"/>
                </a:solidFill>
              </a:rPr>
              <a:t>的优秀工程实现 |</a:t>
            </a:r>
            <a:endParaRPr lang="zh-CN" altLang="en-US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|  Abadi, M., et al. (2016). TensorFlow: Large-Scale Machine Learning on Heterogeneous Distributed Systems. arXiv:1603.04467. | TensorFlow</a:t>
            </a:r>
            <a:r>
              <a:rPr lang="zh-CN" altLang="en-US" sz="1200">
                <a:solidFill>
                  <a:schemeClr val="bg1"/>
                </a:solidFill>
              </a:rPr>
              <a:t>框架论文，引入了计算图上的自动微分机制 |</a:t>
            </a:r>
            <a:endParaRPr lang="zh-CN" altLang="en-US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|  Frostig, R., Johnson, M. J., &amp; Leary, C. (2018). Compiling machine learning programs via high-level tracing. JAX: Autograd and XLA. | JAX</a:t>
            </a:r>
            <a:r>
              <a:rPr lang="zh-CN" altLang="en-US" sz="1200">
                <a:solidFill>
                  <a:schemeClr val="bg1"/>
                </a:solidFill>
              </a:rPr>
              <a:t>框架基础论文，实现函数式风格的自动微分与即时编译 |</a:t>
            </a:r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| Aubert, P., Di Cesare, N., &amp; Pironneau, O. (2000). Expression templates and forward mode automatic differentiation. Computing and Visualization in Science, 3, 197–208. | </a:t>
            </a:r>
            <a:r>
              <a:rPr lang="zh-CN" altLang="en-US" sz="1200">
                <a:solidFill>
                  <a:schemeClr val="bg1"/>
                </a:solidFill>
              </a:rPr>
              <a:t>早期</a:t>
            </a:r>
            <a:r>
              <a:rPr lang="en-US" altLang="zh-CN" sz="1200">
                <a:solidFill>
                  <a:schemeClr val="bg1"/>
                </a:solidFill>
              </a:rPr>
              <a:t>C++</a:t>
            </a:r>
            <a:r>
              <a:rPr lang="zh-CN" altLang="en-US" sz="1200">
                <a:solidFill>
                  <a:schemeClr val="bg1"/>
                </a:solidFill>
              </a:rPr>
              <a:t>中</a:t>
            </a:r>
            <a:r>
              <a:rPr lang="en-US" altLang="zh-CN" sz="1200">
                <a:solidFill>
                  <a:schemeClr val="bg1"/>
                </a:solidFill>
              </a:rPr>
              <a:t>AD</a:t>
            </a:r>
            <a:r>
              <a:rPr lang="zh-CN" altLang="en-US" sz="1200">
                <a:solidFill>
                  <a:schemeClr val="bg1"/>
                </a:solidFill>
              </a:rPr>
              <a:t>的实现，提出了表达式模板技术，改善线性代数运算混合</a:t>
            </a:r>
            <a:r>
              <a:rPr lang="en-US" altLang="zh-CN" sz="1200">
                <a:solidFill>
                  <a:schemeClr val="bg1"/>
                </a:solidFill>
              </a:rPr>
              <a:t>AD</a:t>
            </a:r>
            <a:r>
              <a:rPr lang="zh-CN" altLang="en-US" sz="1200">
                <a:solidFill>
                  <a:schemeClr val="bg1"/>
                </a:solidFill>
              </a:rPr>
              <a:t>时的性能 |</a:t>
            </a:r>
            <a:endParaRPr lang="zh-CN" altLang="en-US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| Nielsen, H. B. (1999). Automatic differentiation using operator overloading. Technical Report, IMM, DTU. | </a:t>
            </a:r>
            <a:r>
              <a:rPr lang="zh-CN" altLang="en-US" sz="1200">
                <a:solidFill>
                  <a:schemeClr val="bg1"/>
                </a:solidFill>
              </a:rPr>
              <a:t>概述了利用操作符重载实现</a:t>
            </a:r>
            <a:r>
              <a:rPr lang="en-US" altLang="zh-CN" sz="1200">
                <a:solidFill>
                  <a:schemeClr val="bg1"/>
                </a:solidFill>
              </a:rPr>
              <a:t>AD</a:t>
            </a:r>
            <a:r>
              <a:rPr lang="zh-CN" altLang="en-US" sz="1200">
                <a:solidFill>
                  <a:schemeClr val="bg1"/>
                </a:solidFill>
              </a:rPr>
              <a:t>的基本方法，支持前向和反向模式 |</a:t>
            </a:r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| van Merri</a:t>
            </a:r>
            <a:r>
              <a:rPr lang="" altLang="en-US" sz="1200">
                <a:solidFill>
                  <a:schemeClr val="bg1"/>
                </a:solidFill>
              </a:rPr>
              <a:t>ë</a:t>
            </a:r>
            <a:r>
              <a:rPr lang="en-US" altLang="zh-CN" sz="1200">
                <a:solidFill>
                  <a:schemeClr val="bg1"/>
                </a:solidFill>
              </a:rPr>
              <a:t>nboer, B., Moldovan, D., &amp; Wiltschko, A. (2018). Tangent: Automatic differentiation using source-code transformation for dynamically typed array programming. In NeurIPS 2018. | Python</a:t>
            </a:r>
            <a:r>
              <a:rPr lang="zh-CN" altLang="en-US" sz="1200">
                <a:solidFill>
                  <a:schemeClr val="bg1"/>
                </a:solidFill>
              </a:rPr>
              <a:t>源变换</a:t>
            </a:r>
            <a:r>
              <a:rPr lang="en-US" altLang="zh-CN" sz="1200">
                <a:solidFill>
                  <a:schemeClr val="bg1"/>
                </a:solidFill>
              </a:rPr>
              <a:t>AD</a:t>
            </a:r>
            <a:r>
              <a:rPr lang="zh-CN" altLang="en-US" sz="1200">
                <a:solidFill>
                  <a:schemeClr val="bg1"/>
                </a:solidFill>
              </a:rPr>
              <a:t>的代表性工具，将</a:t>
            </a:r>
            <a:r>
              <a:rPr lang="en-US" altLang="zh-CN" sz="1200">
                <a:solidFill>
                  <a:schemeClr val="bg1"/>
                </a:solidFill>
              </a:rPr>
              <a:t>Python/NumPy</a:t>
            </a:r>
            <a:r>
              <a:rPr lang="zh-CN" altLang="en-US" sz="1200">
                <a:solidFill>
                  <a:schemeClr val="bg1"/>
                </a:solidFill>
              </a:rPr>
              <a:t>函数转换为导数计算函数 |</a:t>
            </a:r>
            <a:endParaRPr lang="zh-CN" altLang="en-US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| Moses, W., &amp; Churavy, V. (2020). Instead of rewriting foreign code for machine learning, automatically differentiate it. Clad: bringing automatic differentiation to C++ with compiler-based source transformations. | Clad</a:t>
            </a:r>
            <a:r>
              <a:rPr lang="zh-CN" altLang="en-US" sz="1200">
                <a:solidFill>
                  <a:schemeClr val="bg1"/>
                </a:solidFill>
              </a:rPr>
              <a:t>编译器插件的实现，基于</a:t>
            </a:r>
            <a:r>
              <a:rPr lang="en-US" altLang="zh-CN" sz="1200">
                <a:solidFill>
                  <a:schemeClr val="bg1"/>
                </a:solidFill>
              </a:rPr>
              <a:t>LLVM/Clang</a:t>
            </a:r>
            <a:r>
              <a:rPr lang="zh-CN" altLang="en-US" sz="1200">
                <a:solidFill>
                  <a:schemeClr val="bg1"/>
                </a:solidFill>
              </a:rPr>
              <a:t>实现源到源</a:t>
            </a:r>
            <a:r>
              <a:rPr lang="en-US" altLang="zh-CN" sz="1200">
                <a:solidFill>
                  <a:schemeClr val="bg1"/>
                </a:solidFill>
              </a:rPr>
              <a:t>AD，</a:t>
            </a:r>
            <a:r>
              <a:rPr lang="zh-CN" altLang="en-US" sz="1200">
                <a:solidFill>
                  <a:schemeClr val="bg1"/>
                </a:solidFill>
              </a:rPr>
              <a:t>支持</a:t>
            </a:r>
            <a:r>
              <a:rPr lang="en-US" altLang="zh-CN" sz="1200">
                <a:solidFill>
                  <a:schemeClr val="bg1"/>
                </a:solidFill>
              </a:rPr>
              <a:t>GPU</a:t>
            </a:r>
            <a:r>
              <a:rPr lang="zh-CN" altLang="en-US" sz="1200">
                <a:solidFill>
                  <a:schemeClr val="bg1"/>
                </a:solidFill>
              </a:rPr>
              <a:t>内核微分 |</a:t>
            </a:r>
            <a:endParaRPr lang="zh-CN" altLang="en-US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|  V</a:t>
            </a:r>
            <a:r>
              <a:rPr lang="en-US" altLang="en-US" sz="1200">
                <a:solidFill>
                  <a:schemeClr val="bg1"/>
                </a:solidFill>
              </a:rPr>
              <a:t>á</a:t>
            </a:r>
            <a:r>
              <a:rPr lang="en-US" altLang="zh-CN" sz="1200">
                <a:solidFill>
                  <a:schemeClr val="bg1"/>
                </a:solidFill>
              </a:rPr>
              <a:t>k</a:t>
            </a:r>
            <a:r>
              <a:rPr lang="en-US" altLang="en-US" sz="1200">
                <a:solidFill>
                  <a:schemeClr val="bg1"/>
                </a:solidFill>
              </a:rPr>
              <a:t>á</a:t>
            </a:r>
            <a:r>
              <a:rPr lang="en-US" altLang="zh-CN" sz="1200">
                <a:solidFill>
                  <a:schemeClr val="bg1"/>
                </a:solidFill>
              </a:rPr>
              <a:t>r, M. (2025). Unraveling the iterative CHAD. arXiv:2505.16394. | Combinatory Homomorphic Automatic Differentiation（CHAD）</a:t>
            </a:r>
            <a:r>
              <a:rPr lang="zh-CN" altLang="en-US" sz="1200">
                <a:solidFill>
                  <a:schemeClr val="bg1"/>
                </a:solidFill>
              </a:rPr>
              <a:t>的最新发展，采用语义驱动的源变换实现反向模式</a:t>
            </a:r>
            <a:r>
              <a:rPr lang="en-US" altLang="zh-CN" sz="1200">
                <a:solidFill>
                  <a:schemeClr val="bg1"/>
                </a:solidFill>
              </a:rPr>
              <a:t>AD |</a:t>
            </a:r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| Griewank, A. (1992). Achieving logarithmic growth of temporal and spatial complexity in reverse automatic differentiation. Optimization Methods and Software, 1(1), 35–54. | </a:t>
            </a:r>
            <a:r>
              <a:rPr lang="zh-CN" altLang="en-US" sz="1200">
                <a:solidFill>
                  <a:schemeClr val="bg1"/>
                </a:solidFill>
              </a:rPr>
              <a:t>反向</a:t>
            </a:r>
            <a:r>
              <a:rPr lang="en-US" altLang="zh-CN" sz="1200">
                <a:solidFill>
                  <a:schemeClr val="bg1"/>
                </a:solidFill>
              </a:rPr>
              <a:t>AD</a:t>
            </a:r>
            <a:r>
              <a:rPr lang="zh-CN" altLang="en-US" sz="1200">
                <a:solidFill>
                  <a:schemeClr val="bg1"/>
                </a:solidFill>
              </a:rPr>
              <a:t>中时空复杂度的经典分析，提出了</a:t>
            </a:r>
            <a:r>
              <a:rPr lang="en-US" altLang="zh-CN" sz="1200">
                <a:solidFill>
                  <a:schemeClr val="bg1"/>
                </a:solidFill>
              </a:rPr>
              <a:t>checkpointing</a:t>
            </a:r>
            <a:r>
              <a:rPr lang="zh-CN" altLang="en-US" sz="1200">
                <a:solidFill>
                  <a:schemeClr val="bg1"/>
                </a:solidFill>
              </a:rPr>
              <a:t>技术的理论基础 |</a:t>
            </a:r>
            <a:endParaRPr lang="zh-CN" altLang="en-US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| Chen, Y., et al. (2023). Step-based checkpointing with high-level algorithmic differentiation. Journal of Computational Science, 82, 102405. | </a:t>
            </a:r>
            <a:r>
              <a:rPr lang="zh-CN" altLang="en-US" sz="1200">
                <a:solidFill>
                  <a:schemeClr val="bg1"/>
                </a:solidFill>
              </a:rPr>
              <a:t>将高级</a:t>
            </a:r>
            <a:r>
              <a:rPr lang="en-US" altLang="zh-CN" sz="1200">
                <a:solidFill>
                  <a:schemeClr val="bg1"/>
                </a:solidFill>
              </a:rPr>
              <a:t>AD</a:t>
            </a:r>
            <a:r>
              <a:rPr lang="zh-CN" altLang="en-US" sz="1200">
                <a:solidFill>
                  <a:schemeClr val="bg1"/>
                </a:solidFill>
              </a:rPr>
              <a:t>与分步</a:t>
            </a:r>
            <a:r>
              <a:rPr lang="en-US" altLang="zh-CN" sz="1200">
                <a:solidFill>
                  <a:schemeClr val="bg1"/>
                </a:solidFill>
              </a:rPr>
              <a:t>checkpointing</a:t>
            </a:r>
            <a:r>
              <a:rPr lang="zh-CN" altLang="en-US" sz="1200">
                <a:solidFill>
                  <a:schemeClr val="bg1"/>
                </a:solidFill>
              </a:rPr>
              <a:t>策略结合，应用于时变</a:t>
            </a:r>
            <a:r>
              <a:rPr lang="en-US" altLang="zh-CN" sz="1200">
                <a:solidFill>
                  <a:schemeClr val="bg1"/>
                </a:solidFill>
              </a:rPr>
              <a:t>PDE</a:t>
            </a:r>
            <a:r>
              <a:rPr lang="zh-CN" altLang="en-US" sz="1200">
                <a:solidFill>
                  <a:schemeClr val="bg1"/>
                </a:solidFill>
              </a:rPr>
              <a:t>求解器，通过区分前后向所需数据实现性能优化 |</a:t>
            </a:r>
            <a:endParaRPr lang="zh-CN" altLang="en-US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| Yao, C., et al. (2025). LowDiff: Efficient Frequent Checkpointing via Low-Cost Differential for High-Performance Distributed Training Systems. In SC 2025. | </a:t>
            </a:r>
            <a:r>
              <a:rPr lang="zh-CN" altLang="en-US" sz="1200">
                <a:solidFill>
                  <a:schemeClr val="bg1"/>
                </a:solidFill>
              </a:rPr>
              <a:t>面向大模型分布式训练的高频</a:t>
            </a:r>
            <a:r>
              <a:rPr lang="en-US" altLang="zh-CN" sz="1200">
                <a:solidFill>
                  <a:schemeClr val="bg1"/>
                </a:solidFill>
              </a:rPr>
              <a:t>checkpointing</a:t>
            </a:r>
            <a:r>
              <a:rPr lang="zh-CN" altLang="en-US" sz="1200">
                <a:solidFill>
                  <a:schemeClr val="bg1"/>
                </a:solidFill>
              </a:rPr>
              <a:t>框架，通过复用压缩梯度降低开销，运行时开销&lt;3.1% |</a:t>
            </a:r>
            <a:endParaRPr lang="en-US" altLang="zh-CN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| Boudaoud, A., et al. (2025). DaCe AD: Unifying High-Performance Automatic Differentiation for Machine Learning and Scientific Computing. arXiv:2509.01474. | </a:t>
            </a:r>
            <a:r>
              <a:rPr lang="zh-CN" altLang="en-US" sz="1200">
                <a:solidFill>
                  <a:schemeClr val="bg1"/>
                </a:solidFill>
              </a:rPr>
              <a:t>最新的通用高效</a:t>
            </a:r>
            <a:r>
              <a:rPr lang="en-US" altLang="zh-CN" sz="1200">
                <a:solidFill>
                  <a:schemeClr val="bg1"/>
                </a:solidFill>
              </a:rPr>
              <a:t>AD</a:t>
            </a:r>
            <a:r>
              <a:rPr lang="zh-CN" altLang="en-US" sz="1200">
                <a:solidFill>
                  <a:schemeClr val="bg1"/>
                </a:solidFill>
              </a:rPr>
              <a:t>引擎，无需代码修改，在</a:t>
            </a:r>
            <a:r>
              <a:rPr lang="en-US" altLang="zh-CN" sz="1200">
                <a:solidFill>
                  <a:schemeClr val="bg1"/>
                </a:solidFill>
              </a:rPr>
              <a:t>NPB</a:t>
            </a:r>
            <a:r>
              <a:rPr lang="zh-CN" altLang="en-US" sz="1200">
                <a:solidFill>
                  <a:schemeClr val="bg1"/>
                </a:solidFill>
              </a:rPr>
              <a:t>基准上平均比</a:t>
            </a:r>
            <a:r>
              <a:rPr lang="en-US" altLang="zh-CN" sz="1200">
                <a:solidFill>
                  <a:schemeClr val="bg1"/>
                </a:solidFill>
              </a:rPr>
              <a:t>JAX</a:t>
            </a:r>
            <a:r>
              <a:rPr lang="zh-CN" altLang="en-US" sz="1200">
                <a:solidFill>
                  <a:schemeClr val="bg1"/>
                </a:solidFill>
              </a:rPr>
              <a:t>快92倍 |</a:t>
            </a:r>
            <a:endParaRPr lang="zh-CN" altLang="en-US" sz="1200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| Rey, J. L. (2024). AD-HOC: A C++ Expression Template package for high-order derivatives backpropagation. arXiv:2412.05300. | </a:t>
            </a:r>
            <a:r>
              <a:rPr lang="zh-CN" altLang="en-US" sz="1200">
                <a:solidFill>
                  <a:schemeClr val="bg1"/>
                </a:solidFill>
              </a:rPr>
              <a:t>新</a:t>
            </a:r>
            <a:r>
              <a:rPr lang="en-US" altLang="zh-CN" sz="1200">
                <a:solidFill>
                  <a:schemeClr val="bg1"/>
                </a:solidFill>
              </a:rPr>
              <a:t>C++ AD</a:t>
            </a:r>
            <a:r>
              <a:rPr lang="zh-CN" altLang="en-US" sz="1200">
                <a:solidFill>
                  <a:schemeClr val="bg1"/>
                </a:solidFill>
              </a:rPr>
              <a:t>工具，基于表达式模板实现任意阶导数的单次反向传播计算，速度媲美手写代码 |</a:t>
            </a:r>
            <a:endParaRPr lang="zh-CN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81" name="TextBox 1"/>
          <p:cNvSpPr/>
          <p:nvPr/>
        </p:nvSpPr>
        <p:spPr>
          <a:xfrm>
            <a:off x="-1008000" y="-648000"/>
            <a:ext cx="3600000" cy="3600000"/>
          </a:xfrm>
          <a:prstGeom prst="ellipse">
            <a:avLst/>
          </a:prstGeom>
          <a:solidFill>
            <a:srgbClr val="00A896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2" name="TextBox 2"/>
          <p:cNvSpPr/>
          <p:nvPr/>
        </p:nvSpPr>
        <p:spPr>
          <a:xfrm>
            <a:off x="9720000" y="4392000"/>
            <a:ext cx="3240000" cy="3240000"/>
          </a:xfrm>
          <a:prstGeom prst="ellipse">
            <a:avLst/>
          </a:prstGeom>
          <a:solidFill>
            <a:srgbClr val="CADCFC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4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5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12/12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10" name="TextBox 30"/>
          <p:cNvSpPr/>
          <p:nvPr/>
        </p:nvSpPr>
        <p:spPr>
          <a:xfrm>
            <a:off x="2207200" y="4725040"/>
            <a:ext cx="7200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11" name="TextBox 31"/>
          <p:cNvSpPr/>
          <p:nvPr/>
        </p:nvSpPr>
        <p:spPr>
          <a:xfrm>
            <a:off x="3524435" y="3428990"/>
            <a:ext cx="504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endParaRPr lang="en-US" sz="20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83840" y="260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部分代码</a:t>
            </a:r>
            <a:r>
              <a:rPr lang="zh-CN" altLang="en-US">
                <a:solidFill>
                  <a:schemeClr val="bg1"/>
                </a:solidFill>
              </a:rPr>
              <a:t>示意图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915" y="692785"/>
            <a:ext cx="5278120" cy="23729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605" y="3068955"/>
            <a:ext cx="3423285" cy="35236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90" y="0"/>
            <a:ext cx="479806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4167</Words>
  <Application>WPS 演示</Application>
  <PresentationFormat/>
  <Paragraphs>328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Microsoft YaHei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OfficeCLI</dc:creator>
  <cp:lastModifiedBy>周获深</cp:lastModifiedBy>
  <cp:revision>4</cp:revision>
  <dcterms:created xsi:type="dcterms:W3CDTF">2026-05-14T11:50:00Z</dcterms:created>
  <dcterms:modified xsi:type="dcterms:W3CDTF">2026-05-19T12:52:52Z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8F8C1B2D884148D48DA129B1E58EED87_12</vt:lpwstr>
  </property>
</Properties>
</file>