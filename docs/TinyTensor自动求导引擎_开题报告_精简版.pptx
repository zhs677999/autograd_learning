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61" r:id="rId7"/>
    <p:sldId id="262" r:id="rId8"/>
    <p:sldId id="263" r:id="rId9"/>
    <p:sldId id="265" r:id="rId10"/>
    <p:sldId id="266" r:id="rId11"/>
    <p:sldId id="267" r:id="rId12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en-US"/>
              <a:t>开场说明项目主题：TinyTensor 自动求导引擎。强调目标不是调用现成框架，而是从零理解 Tensor、计算图和反向传播。</a:t>
            </a:r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en-US"/>
              <a:t>本页强调为什么做这个题：自动求导是深度学习框架的核心，项目能把理论、C++、数据结构和实验训练连起来。</a:t>
            </a:r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en-US"/>
              <a:t>按基础、标准、挑战三档讲项目边界。基础档是整个项目的核心，标准和挑战是在核心跑通后的扩展。</a:t>
            </a:r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en-US"/>
              <a:t>解释 Tensor 的四个核心成员。重点讲清楚：计算图是由 Tensor 之间的父节点指针形成的，链表只是保存父节点集合的容器。</a:t>
            </a:r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en-US"/>
              <a:t>本页讲自动求导怎么实现：每个运算保存局部反向规则，backward 从 loss.grad=1 开始调用这些规则。</a:t>
            </a:r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en-US"/>
              <a:t>说明每个文件的职责，避免把功能堆在 main.cpp。讲清楚集成顺序，先核心求导，再训练组件。</a:t>
            </a:r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en-US"/>
              <a:t>介绍三人分工。强调不是按文件孤立开发，而是围绕求导闭环并行推进。</a:t>
            </a:r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en-US"/>
              <a:t>说明时间计划和阶段验收点。第 3 周的 basic demo 是整个项目风险最低化的关键节点。</a:t>
            </a:r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en-US"/>
              <a:t>收尾强调成果和风险控制。最后可以过渡到老师提问。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00" name="TextBox 1"/>
          <p:cNvSpPr/>
          <p:nvPr/>
        </p:nvSpPr>
        <p:spPr>
          <a:xfrm>
            <a:off x="-1008000" y="-648000"/>
            <a:ext cx="3600000" cy="3600000"/>
          </a:xfrm>
          <a:prstGeom prst="ellipse">
            <a:avLst/>
          </a:prstGeom>
          <a:solidFill>
            <a:srgbClr val="00A896">
              <a:alpha val="18000"/>
            </a:srgbClr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01" name="TextBox 2"/>
          <p:cNvSpPr/>
          <p:nvPr/>
        </p:nvSpPr>
        <p:spPr>
          <a:xfrm>
            <a:off x="9720000" y="4392000"/>
            <a:ext cx="3240000" cy="3240000"/>
          </a:xfrm>
          <a:prstGeom prst="ellipse">
            <a:avLst/>
          </a:prstGeom>
          <a:solidFill>
            <a:srgbClr val="CADCFC">
              <a:alpha val="18000"/>
            </a:srgbClr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02" name="TextBox 3"/>
          <p:cNvSpPr/>
          <p:nvPr/>
        </p:nvSpPr>
        <p:spPr>
          <a:xfrm>
            <a:off x="8640000" y="252000"/>
            <a:ext cx="2880000" cy="14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6800" b="1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01</a:t>
            </a:r>
            <a:endParaRPr lang="en-US" sz="6800" b="1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03" name="TextBox 4"/>
          <p:cNvSpPr/>
          <p:nvPr/>
        </p:nvSpPr>
        <p:spPr>
          <a:xfrm>
            <a:off x="540000" y="6498000"/>
            <a:ext cx="3240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900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TinyTensor 自动求导引擎</a:t>
            </a:r>
            <a:endParaRPr lang="en-US" sz="900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04" name="TextBox 5"/>
          <p:cNvSpPr/>
          <p:nvPr/>
        </p:nvSpPr>
        <p:spPr>
          <a:xfrm>
            <a:off x="11052000" y="64980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900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01/12</a:t>
            </a:r>
            <a:endParaRPr lang="en-US" sz="900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05" name="TextBox 6"/>
          <p:cNvSpPr/>
          <p:nvPr/>
        </p:nvSpPr>
        <p:spPr>
          <a:xfrm>
            <a:off x="720000" y="1602000"/>
            <a:ext cx="10728000" cy="846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4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TinyTensor</a:t>
            </a:r>
            <a:endParaRPr lang="en-US" sz="4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06" name="TextBox 7"/>
          <p:cNvSpPr/>
          <p:nvPr/>
        </p:nvSpPr>
        <p:spPr>
          <a:xfrm>
            <a:off x="720000" y="2466000"/>
            <a:ext cx="10728000" cy="45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2400" b="1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自动求导引擎开题报告</a:t>
            </a:r>
            <a:endParaRPr lang="en-US" sz="2400" b="1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07" name="TextBox 8"/>
          <p:cNvSpPr/>
          <p:nvPr/>
        </p:nvSpPr>
        <p:spPr>
          <a:xfrm>
            <a:off x="3690000" y="3114000"/>
            <a:ext cx="1980000" cy="280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2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课程设计 · 第三选题</a:t>
            </a:r>
            <a:endParaRPr lang="en-US" sz="12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08" name="TextBox 9"/>
          <p:cNvSpPr/>
          <p:nvPr/>
        </p:nvSpPr>
        <p:spPr>
          <a:xfrm>
            <a:off x="5886000" y="3114000"/>
            <a:ext cx="2664000" cy="280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2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Tensor / Graph / Backward</a:t>
            </a:r>
            <a:endParaRPr lang="en-US" sz="12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09" name="TextBox 10"/>
          <p:cNvSpPr/>
          <p:nvPr/>
        </p:nvSpPr>
        <p:spPr>
          <a:xfrm>
            <a:off x="3600000" y="4320000"/>
            <a:ext cx="4968000" cy="306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70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组长：周获深</a:t>
            </a:r>
            <a:endParaRPr lang="en-US" sz="170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10" name="TextBox 11"/>
          <p:cNvSpPr/>
          <p:nvPr/>
        </p:nvSpPr>
        <p:spPr>
          <a:xfrm>
            <a:off x="3600000" y="4698000"/>
            <a:ext cx="4968000" cy="306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600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组员：靳子桐 · 杜启瑄</a:t>
            </a:r>
            <a:endParaRPr lang="en-US" sz="1600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11" name="TextBox 12"/>
          <p:cNvSpPr/>
          <p:nvPr/>
        </p:nvSpPr>
        <p:spPr>
          <a:xfrm>
            <a:off x="1728000" y="5490000"/>
            <a:ext cx="8748000" cy="36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50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从零实现迷你 Tensor 与自动求导核心</a:t>
            </a:r>
            <a:endParaRPr lang="en-US" sz="150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0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5" grpId="0"/>
      <p:bldP spid="10006" grpId="1"/>
      <p:bldP spid="10007" grpId="2"/>
      <p:bldP spid="10008" grpId="3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12" name="TextBox 1"/>
          <p:cNvSpPr/>
          <p:nvPr/>
        </p:nvSpPr>
        <p:spPr>
          <a:xfrm>
            <a:off x="0" y="0"/>
            <a:ext cx="151200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13" name="TextBox 2"/>
          <p:cNvSpPr/>
          <p:nvPr/>
        </p:nvSpPr>
        <p:spPr>
          <a:xfrm>
            <a:off x="151200" y="0"/>
            <a:ext cx="57600" cy="6858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14" name="TextBox 3"/>
          <p:cNvSpPr/>
          <p:nvPr/>
        </p:nvSpPr>
        <p:spPr>
          <a:xfrm>
            <a:off x="9072000" y="198000"/>
            <a:ext cx="2340000" cy="12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5600" b="1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02</a:t>
            </a:r>
            <a:endParaRPr lang="en-US" sz="5600" b="1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15" name="TextBox 4"/>
          <p:cNvSpPr/>
          <p:nvPr/>
        </p:nvSpPr>
        <p:spPr>
          <a:xfrm>
            <a:off x="540000" y="6498000"/>
            <a:ext cx="3240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TinyTensor 自动求导引擎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16" name="TextBox 5"/>
          <p:cNvSpPr/>
          <p:nvPr/>
        </p:nvSpPr>
        <p:spPr>
          <a:xfrm>
            <a:off x="11052000" y="64980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02/12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17" name="TextBox 6"/>
          <p:cNvSpPr/>
          <p:nvPr/>
        </p:nvSpPr>
        <p:spPr>
          <a:xfrm>
            <a:off x="522000" y="324000"/>
            <a:ext cx="10260000" cy="59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34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选题背景：从使用框架到理解框架</a:t>
            </a:r>
            <a:endParaRPr lang="en-US" sz="34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18" name="TextBox 7"/>
          <p:cNvSpPr/>
          <p:nvPr/>
        </p:nvSpPr>
        <p:spPr>
          <a:xfrm>
            <a:off x="540000" y="918000"/>
            <a:ext cx="9180000" cy="3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5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自动求导常被框架封装，本项目尝试拆开实现。</a:t>
            </a:r>
            <a:endParaRPr lang="en-US" sz="15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19" name="TextBox 8"/>
          <p:cNvSpPr/>
          <p:nvPr/>
        </p:nvSpPr>
        <p:spPr>
          <a:xfrm>
            <a:off x="558000" y="1530000"/>
            <a:ext cx="3384000" cy="3096000"/>
          </a:xfrm>
          <a:prstGeom prst="roundRect">
            <a:avLst/>
          </a:prstGeom>
          <a:solidFill>
            <a:srgbClr val="EEF4FF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20" name="TextBox 9"/>
          <p:cNvSpPr/>
          <p:nvPr/>
        </p:nvSpPr>
        <p:spPr>
          <a:xfrm>
            <a:off x="558000" y="1530000"/>
            <a:ext cx="64800" cy="309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21" name="TextBox 10"/>
          <p:cNvSpPr/>
          <p:nvPr/>
        </p:nvSpPr>
        <p:spPr>
          <a:xfrm>
            <a:off x="709200" y="1656000"/>
            <a:ext cx="3114000" cy="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800" b="1">
                <a:solidFill>
                  <a:srgbClr val="F59E0B"/>
                </a:solidFill>
                <a:latin typeface="Microsoft YaHei" panose="020B0503020204020204" charset="-122"/>
                <a:ea typeface="Microsoft YaHei" panose="020B0503020204020204" charset="-122"/>
              </a:rPr>
              <a:t>学习痛点</a:t>
            </a:r>
            <a:endParaRPr lang="en-US" sz="1800" b="1">
              <a:solidFill>
                <a:srgbClr val="F59E0B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22" name="TextBox 11"/>
          <p:cNvSpPr/>
          <p:nvPr/>
        </p:nvSpPr>
        <p:spPr>
          <a:xfrm>
            <a:off x="720000" y="2016000"/>
            <a:ext cx="3096000" cy="259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- API 会用，梯度不清楚</a:t>
            </a:r>
            <a:endParaRPr lang="en-US" sz="13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23" name="TextBox 12"/>
          <p:cNvSpPr/>
          <p:nvPr/>
        </p:nvSpPr>
        <p:spPr>
          <a:xfrm>
            <a:off x="720000" y="2311200"/>
            <a:ext cx="3096000" cy="259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- 反向传播难调试</a:t>
            </a:r>
            <a:endParaRPr lang="en-US" sz="13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25" name="TextBox 14"/>
          <p:cNvSpPr/>
          <p:nvPr/>
        </p:nvSpPr>
        <p:spPr>
          <a:xfrm>
            <a:off x="4356000" y="1530000"/>
            <a:ext cx="3384000" cy="309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26" name="TextBox 15"/>
          <p:cNvSpPr/>
          <p:nvPr/>
        </p:nvSpPr>
        <p:spPr>
          <a:xfrm>
            <a:off x="4356000" y="1530000"/>
            <a:ext cx="64800" cy="3096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27" name="TextBox 16"/>
          <p:cNvSpPr/>
          <p:nvPr/>
        </p:nvSpPr>
        <p:spPr>
          <a:xfrm>
            <a:off x="4507200" y="1656000"/>
            <a:ext cx="3114000" cy="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8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课程价值</a:t>
            </a:r>
            <a:endParaRPr lang="en-US" sz="18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28" name="TextBox 17"/>
          <p:cNvSpPr/>
          <p:nvPr/>
        </p:nvSpPr>
        <p:spPr>
          <a:xfrm>
            <a:off x="4518000" y="2016000"/>
            <a:ext cx="3096000" cy="259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- 练习 C++ 内存与对象</a:t>
            </a:r>
            <a:endParaRPr lang="en-US" sz="13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29" name="TextBox 18"/>
          <p:cNvSpPr/>
          <p:nvPr/>
        </p:nvSpPr>
        <p:spPr>
          <a:xfrm>
            <a:off x="4518000" y="2311200"/>
            <a:ext cx="3096000" cy="259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- 亲手建立计算图</a:t>
            </a:r>
            <a:endParaRPr lang="en-US" sz="13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31" name="TextBox 20"/>
          <p:cNvSpPr/>
          <p:nvPr/>
        </p:nvSpPr>
        <p:spPr>
          <a:xfrm>
            <a:off x="8154000" y="1530000"/>
            <a:ext cx="3384000" cy="3096000"/>
          </a:xfrm>
          <a:prstGeom prst="roundRect">
            <a:avLst/>
          </a:prstGeom>
          <a:solidFill>
            <a:srgbClr val="EEF4FF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32" name="TextBox 21"/>
          <p:cNvSpPr/>
          <p:nvPr/>
        </p:nvSpPr>
        <p:spPr>
          <a:xfrm>
            <a:off x="8154000" y="1530000"/>
            <a:ext cx="64800" cy="3096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33" name="TextBox 22"/>
          <p:cNvSpPr/>
          <p:nvPr/>
        </p:nvSpPr>
        <p:spPr>
          <a:xfrm>
            <a:off x="8305200" y="1656000"/>
            <a:ext cx="3114000" cy="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800" b="1">
                <a:solidFill>
                  <a:srgbClr val="00A896"/>
                </a:solidFill>
                <a:latin typeface="Microsoft YaHei" panose="020B0503020204020204" charset="-122"/>
                <a:ea typeface="Microsoft YaHei" panose="020B0503020204020204" charset="-122"/>
              </a:rPr>
              <a:t>选题意义</a:t>
            </a:r>
            <a:endParaRPr lang="en-US" sz="1800" b="1">
              <a:solidFill>
                <a:srgbClr val="00A8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34" name="TextBox 23"/>
          <p:cNvSpPr/>
          <p:nvPr/>
        </p:nvSpPr>
        <p:spPr>
          <a:xfrm>
            <a:off x="8316000" y="2016000"/>
            <a:ext cx="3096000" cy="259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- 实现迷你自动求导引擎</a:t>
            </a:r>
            <a:endParaRPr lang="en-US" sz="13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35" name="TextBox 24"/>
          <p:cNvSpPr/>
          <p:nvPr/>
        </p:nvSpPr>
        <p:spPr>
          <a:xfrm>
            <a:off x="8316000" y="2311200"/>
            <a:ext cx="3096000" cy="259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- 支持线性回归与 XOR</a:t>
            </a:r>
            <a:endParaRPr lang="en-US" sz="13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37" name="TextBox 26"/>
          <p:cNvSpPr/>
          <p:nvPr/>
        </p:nvSpPr>
        <p:spPr>
          <a:xfrm>
            <a:off x="1152000" y="5148000"/>
            <a:ext cx="2088000" cy="2880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核心定位</a:t>
            </a:r>
            <a:endParaRPr lang="en-US"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38" name="TextBox 27"/>
          <p:cNvSpPr/>
          <p:nvPr/>
        </p:nvSpPr>
        <p:spPr>
          <a:xfrm>
            <a:off x="3262630" y="5130165"/>
            <a:ext cx="7626985" cy="4857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800" b="1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目标：可解释、可验证的自动求导最小闭环。</a:t>
            </a:r>
            <a:endParaRPr lang="en-US" sz="1800" b="1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39" name="TextBox 1"/>
          <p:cNvSpPr/>
          <p:nvPr/>
        </p:nvSpPr>
        <p:spPr>
          <a:xfrm>
            <a:off x="0" y="0"/>
            <a:ext cx="151200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40" name="TextBox 2"/>
          <p:cNvSpPr/>
          <p:nvPr/>
        </p:nvSpPr>
        <p:spPr>
          <a:xfrm>
            <a:off x="151200" y="0"/>
            <a:ext cx="57600" cy="6858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41" name="TextBox 3"/>
          <p:cNvSpPr/>
          <p:nvPr/>
        </p:nvSpPr>
        <p:spPr>
          <a:xfrm>
            <a:off x="9072000" y="198000"/>
            <a:ext cx="2340000" cy="12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5600" b="1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03</a:t>
            </a:r>
            <a:endParaRPr lang="en-US" sz="5600" b="1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42" name="TextBox 4"/>
          <p:cNvSpPr/>
          <p:nvPr/>
        </p:nvSpPr>
        <p:spPr>
          <a:xfrm>
            <a:off x="540000" y="6498000"/>
            <a:ext cx="3240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TinyTensor 自动求导引擎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43" name="TextBox 5"/>
          <p:cNvSpPr/>
          <p:nvPr/>
        </p:nvSpPr>
        <p:spPr>
          <a:xfrm>
            <a:off x="11052000" y="64980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03/12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44" name="TextBox 6"/>
          <p:cNvSpPr/>
          <p:nvPr/>
        </p:nvSpPr>
        <p:spPr>
          <a:xfrm>
            <a:off x="522000" y="324000"/>
            <a:ext cx="10260000" cy="59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34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项目目标：三档递进的 TinyTensor</a:t>
            </a:r>
            <a:endParaRPr lang="en-US" sz="34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45" name="TextBox 7"/>
          <p:cNvSpPr/>
          <p:nvPr/>
        </p:nvSpPr>
        <p:spPr>
          <a:xfrm>
            <a:off x="540000" y="918000"/>
            <a:ext cx="9180000" cy="3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5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先求导闭环，再扩展训练组件。</a:t>
            </a:r>
            <a:endParaRPr lang="en-US" sz="15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46" name="TextBox 8"/>
          <p:cNvSpPr/>
          <p:nvPr/>
        </p:nvSpPr>
        <p:spPr>
          <a:xfrm>
            <a:off x="720000" y="1440000"/>
            <a:ext cx="3168000" cy="1152000"/>
          </a:xfrm>
          <a:prstGeom prst="roundRect">
            <a:avLst/>
          </a:prstGeom>
          <a:solidFill>
            <a:srgbClr val="EEF4FF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47" name="TextBox 9"/>
          <p:cNvSpPr/>
          <p:nvPr/>
        </p:nvSpPr>
        <p:spPr>
          <a:xfrm>
            <a:off x="846000" y="1576800"/>
            <a:ext cx="2916000" cy="36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24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基础档</a:t>
            </a:r>
            <a:endParaRPr lang="en-US" sz="24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48" name="TextBox 10"/>
          <p:cNvSpPr/>
          <p:nvPr/>
        </p:nvSpPr>
        <p:spPr>
          <a:xfrm>
            <a:off x="882000" y="1998000"/>
            <a:ext cx="2844000" cy="306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2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标量 + 四则运算 + backward</a:t>
            </a:r>
            <a:endParaRPr lang="en-US" sz="12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49" name="TextBox 11"/>
          <p:cNvSpPr/>
          <p:nvPr/>
        </p:nvSpPr>
        <p:spPr>
          <a:xfrm>
            <a:off x="4500000" y="1440000"/>
            <a:ext cx="3168000" cy="1152000"/>
          </a:xfrm>
          <a:prstGeom prst="roundRect">
            <a:avLst/>
          </a:prstGeom>
          <a:solidFill>
            <a:srgbClr val="EAF7F4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50" name="TextBox 12"/>
          <p:cNvSpPr/>
          <p:nvPr/>
        </p:nvSpPr>
        <p:spPr>
          <a:xfrm>
            <a:off x="4626000" y="1576800"/>
            <a:ext cx="2916000" cy="36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2400" b="1">
                <a:solidFill>
                  <a:srgbClr val="00A896"/>
                </a:solidFill>
                <a:latin typeface="Microsoft YaHei" panose="020B0503020204020204" charset="-122"/>
                <a:ea typeface="Microsoft YaHei" panose="020B0503020204020204" charset="-122"/>
              </a:rPr>
              <a:t>标准档</a:t>
            </a:r>
            <a:endParaRPr lang="en-US" sz="2400" b="1">
              <a:solidFill>
                <a:srgbClr val="00A8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51" name="TextBox 13"/>
          <p:cNvSpPr/>
          <p:nvPr/>
        </p:nvSpPr>
        <p:spPr>
          <a:xfrm>
            <a:off x="4662000" y="1998000"/>
            <a:ext cx="2844000" cy="306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2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矩阵 + matmul + 线性回归</a:t>
            </a:r>
            <a:endParaRPr lang="en-US" sz="12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52" name="TextBox 14"/>
          <p:cNvSpPr/>
          <p:nvPr/>
        </p:nvSpPr>
        <p:spPr>
          <a:xfrm>
            <a:off x="8280000" y="1440000"/>
            <a:ext cx="3168000" cy="1152000"/>
          </a:xfrm>
          <a:prstGeom prst="roundRect">
            <a:avLst/>
          </a:prstGeom>
          <a:solidFill>
            <a:srgbClr val="FFF6E5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53" name="TextBox 15"/>
          <p:cNvSpPr/>
          <p:nvPr/>
        </p:nvSpPr>
        <p:spPr>
          <a:xfrm>
            <a:off x="8406000" y="1576800"/>
            <a:ext cx="2916000" cy="36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2400" b="1">
                <a:solidFill>
                  <a:srgbClr val="F59E0B"/>
                </a:solidFill>
                <a:latin typeface="Microsoft YaHei" panose="020B0503020204020204" charset="-122"/>
                <a:ea typeface="Microsoft YaHei" panose="020B0503020204020204" charset="-122"/>
              </a:rPr>
              <a:t>挑战档</a:t>
            </a:r>
            <a:endParaRPr lang="en-US" sz="2400" b="1">
              <a:solidFill>
                <a:srgbClr val="F59E0B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54" name="TextBox 16"/>
          <p:cNvSpPr/>
          <p:nvPr/>
        </p:nvSpPr>
        <p:spPr>
          <a:xfrm>
            <a:off x="8442000" y="1998000"/>
            <a:ext cx="2844000" cy="306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2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Linear + SGD + XOR</a:t>
            </a:r>
            <a:endParaRPr lang="en-US" sz="12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55" name="TextBox 17"/>
          <p:cNvSpPr/>
          <p:nvPr/>
        </p:nvSpPr>
        <p:spPr>
          <a:xfrm>
            <a:off x="1476000" y="3276000"/>
            <a:ext cx="9288000" cy="14940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56" name="TextBox 18"/>
          <p:cNvSpPr/>
          <p:nvPr/>
        </p:nvSpPr>
        <p:spPr>
          <a:xfrm>
            <a:off x="1800000" y="3438000"/>
            <a:ext cx="3528000" cy="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600" b="1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最小验收表达式</a:t>
            </a:r>
            <a:endParaRPr lang="en-US" sz="1600" b="1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57" name="TextBox 19"/>
          <p:cNvSpPr/>
          <p:nvPr/>
        </p:nvSpPr>
        <p:spPr>
          <a:xfrm>
            <a:off x="1800000" y="3870000"/>
            <a:ext cx="8568000" cy="61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5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y = w*x + b；loss = (y-10)^2；期望：loss=9, w.grad=-12, b.grad=-6</a:t>
            </a:r>
            <a:endParaRPr lang="en-US" sz="15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058" name="TextBox 20"/>
          <p:cNvSpPr/>
          <p:nvPr/>
        </p:nvSpPr>
        <p:spPr>
          <a:xfrm>
            <a:off x="1548000" y="5112000"/>
            <a:ext cx="1980000" cy="28800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目标结果</a:t>
            </a:r>
            <a:endParaRPr lang="en-US"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59" name="TextBox 21"/>
          <p:cNvSpPr/>
          <p:nvPr/>
        </p:nvSpPr>
        <p:spPr>
          <a:xfrm>
            <a:off x="3708000" y="5076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800" b="1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交付可运行、可测试、可展示的 C++ 项目。</a:t>
            </a:r>
            <a:endParaRPr lang="en-US" sz="1800" b="1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113" name="TextBox 1"/>
          <p:cNvSpPr/>
          <p:nvPr/>
        </p:nvSpPr>
        <p:spPr>
          <a:xfrm>
            <a:off x="0" y="0"/>
            <a:ext cx="151200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14" name="TextBox 2"/>
          <p:cNvSpPr/>
          <p:nvPr/>
        </p:nvSpPr>
        <p:spPr>
          <a:xfrm>
            <a:off x="151200" y="0"/>
            <a:ext cx="57600" cy="6858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15" name="TextBox 3"/>
          <p:cNvSpPr/>
          <p:nvPr/>
        </p:nvSpPr>
        <p:spPr>
          <a:xfrm>
            <a:off x="9072000" y="198000"/>
            <a:ext cx="2340000" cy="12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5600" b="1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06</a:t>
            </a:r>
            <a:endParaRPr lang="en-US" sz="5600" b="1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16" name="TextBox 4"/>
          <p:cNvSpPr/>
          <p:nvPr/>
        </p:nvSpPr>
        <p:spPr>
          <a:xfrm>
            <a:off x="540000" y="6498000"/>
            <a:ext cx="3240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TinyTensor 自动求导引擎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17" name="TextBox 5"/>
          <p:cNvSpPr/>
          <p:nvPr/>
        </p:nvSpPr>
        <p:spPr>
          <a:xfrm>
            <a:off x="11052000" y="64980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06/12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18" name="TextBox 6"/>
          <p:cNvSpPr/>
          <p:nvPr/>
        </p:nvSpPr>
        <p:spPr>
          <a:xfrm>
            <a:off x="522000" y="324000"/>
            <a:ext cx="10260000" cy="59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34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核心原理一：Tensor 即计算图节点</a:t>
            </a:r>
            <a:endParaRPr lang="en-US" sz="34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19" name="TextBox 7"/>
          <p:cNvSpPr/>
          <p:nvPr/>
        </p:nvSpPr>
        <p:spPr>
          <a:xfrm>
            <a:off x="540000" y="918000"/>
            <a:ext cx="9180000" cy="3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5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第一版让 Tensor 自己保存父节点和反向规则。</a:t>
            </a:r>
            <a:endParaRPr lang="en-US" sz="15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20" name="TextBox 8"/>
          <p:cNvSpPr/>
          <p:nvPr/>
        </p:nvSpPr>
        <p:spPr>
          <a:xfrm>
            <a:off x="4752000" y="2232000"/>
            <a:ext cx="2664000" cy="108000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Tensor</a:t>
            </a:r>
            <a:endParaRPr lang="en-US" sz="15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21" name="TextBox 9"/>
          <p:cNvSpPr/>
          <p:nvPr/>
        </p:nvSpPr>
        <p:spPr>
          <a:xfrm>
            <a:off x="1188000" y="1656000"/>
            <a:ext cx="2304000" cy="792000"/>
          </a:xfrm>
          <a:prstGeom prst="roundRect">
            <a:avLst/>
          </a:prstGeom>
          <a:solidFill>
            <a:srgbClr val="EEF4FF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5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data</a:t>
            </a:r>
            <a:endParaRPr lang="en-US" sz="15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/>
            <a:r>
              <a:rPr lang="en-US" sz="15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当前值</a:t>
            </a:r>
            <a:endParaRPr lang="en-US" sz="15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22" name="TextBox 10"/>
          <p:cNvSpPr/>
          <p:nvPr/>
        </p:nvSpPr>
        <p:spPr>
          <a:xfrm>
            <a:off x="8568000" y="1656000"/>
            <a:ext cx="2304000" cy="792000"/>
          </a:xfrm>
          <a:prstGeom prst="roundRect">
            <a:avLst/>
          </a:prstGeom>
          <a:solidFill>
            <a:srgbClr val="EAF7F4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5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grad</a:t>
            </a:r>
            <a:endParaRPr lang="en-US" sz="15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/>
            <a:r>
              <a:rPr lang="en-US" sz="15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当前梯度</a:t>
            </a:r>
            <a:endParaRPr lang="en-US" sz="15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23" name="TextBox 11"/>
          <p:cNvSpPr/>
          <p:nvPr/>
        </p:nvSpPr>
        <p:spPr>
          <a:xfrm>
            <a:off x="1188000" y="3888000"/>
            <a:ext cx="2304000" cy="792000"/>
          </a:xfrm>
          <a:prstGeom prst="roundRect">
            <a:avLst/>
          </a:prstGeom>
          <a:solidFill>
            <a:srgbClr val="FFF6E5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5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parents</a:t>
            </a:r>
            <a:endParaRPr lang="en-US" sz="15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/>
            <a:r>
              <a:rPr lang="en-US" sz="15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父节点列表</a:t>
            </a:r>
            <a:endParaRPr lang="en-US" sz="15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24" name="TextBox 12"/>
          <p:cNvSpPr/>
          <p:nvPr/>
        </p:nvSpPr>
        <p:spPr>
          <a:xfrm>
            <a:off x="8568000" y="3888000"/>
            <a:ext cx="2304000" cy="792000"/>
          </a:xfrm>
          <a:prstGeom prst="roundRect">
            <a:avLst/>
          </a:prstGeom>
          <a:solidFill>
            <a:srgbClr val="EEF4FF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5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backwardFunc</a:t>
            </a:r>
            <a:endParaRPr lang="en-US" sz="15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/>
            <a:r>
              <a:rPr lang="en-US" sz="15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反向传播规则</a:t>
            </a:r>
            <a:endParaRPr lang="en-US" sz="15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25" name="TextBox 13"/>
          <p:cNvSpPr/>
          <p:nvPr/>
        </p:nvSpPr>
        <p:spPr>
          <a:xfrm>
            <a:off x="3636000" y="1980000"/>
            <a:ext cx="792000" cy="162000"/>
          </a:xfrm>
          <a:prstGeom prst="rightArrow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26" name="TextBox 14"/>
          <p:cNvSpPr/>
          <p:nvPr/>
        </p:nvSpPr>
        <p:spPr>
          <a:xfrm>
            <a:off x="7560000" y="1980000"/>
            <a:ext cx="792000" cy="162000"/>
          </a:xfrm>
          <a:prstGeom prst="rightArrow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27" name="TextBox 15"/>
          <p:cNvSpPr/>
          <p:nvPr/>
        </p:nvSpPr>
        <p:spPr>
          <a:xfrm>
            <a:off x="3636000" y="4212000"/>
            <a:ext cx="792000" cy="162000"/>
          </a:xfrm>
          <a:prstGeom prst="rightArrow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28" name="TextBox 16"/>
          <p:cNvSpPr/>
          <p:nvPr/>
        </p:nvSpPr>
        <p:spPr>
          <a:xfrm rot="10800000">
            <a:off x="7560000" y="4212000"/>
            <a:ext cx="792000" cy="162000"/>
          </a:xfrm>
          <a:prstGeom prst="rightArrow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29" name="TextBox 17"/>
          <p:cNvSpPr/>
          <p:nvPr/>
        </p:nvSpPr>
        <p:spPr>
          <a:xfrm>
            <a:off x="1116000" y="5472000"/>
            <a:ext cx="10008000" cy="3960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链表只是 parents 容器，真正的图由 Tensor 指针连接。</a:t>
            </a:r>
            <a:endParaRPr lang="en-US"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130" name="TextBox 1"/>
          <p:cNvSpPr/>
          <p:nvPr/>
        </p:nvSpPr>
        <p:spPr>
          <a:xfrm>
            <a:off x="0" y="0"/>
            <a:ext cx="151200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31" name="TextBox 2"/>
          <p:cNvSpPr/>
          <p:nvPr/>
        </p:nvSpPr>
        <p:spPr>
          <a:xfrm>
            <a:off x="151200" y="0"/>
            <a:ext cx="57600" cy="6858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32" name="TextBox 3"/>
          <p:cNvSpPr/>
          <p:nvPr/>
        </p:nvSpPr>
        <p:spPr>
          <a:xfrm>
            <a:off x="9072000" y="198000"/>
            <a:ext cx="2340000" cy="12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5600" b="1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07</a:t>
            </a:r>
            <a:endParaRPr lang="en-US" sz="5600" b="1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33" name="TextBox 4"/>
          <p:cNvSpPr/>
          <p:nvPr/>
        </p:nvSpPr>
        <p:spPr>
          <a:xfrm>
            <a:off x="540000" y="6498000"/>
            <a:ext cx="3240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TinyTensor 自动求导引擎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34" name="TextBox 5"/>
          <p:cNvSpPr/>
          <p:nvPr/>
        </p:nvSpPr>
        <p:spPr>
          <a:xfrm>
            <a:off x="11052000" y="64980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07/12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35" name="TextBox 6"/>
          <p:cNvSpPr/>
          <p:nvPr/>
        </p:nvSpPr>
        <p:spPr>
          <a:xfrm>
            <a:off x="522000" y="324000"/>
            <a:ext cx="10260000" cy="59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34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核心原理二：链式法则驱动 backward</a:t>
            </a:r>
            <a:endParaRPr lang="en-US" sz="34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36" name="TextBox 7"/>
          <p:cNvSpPr/>
          <p:nvPr/>
        </p:nvSpPr>
        <p:spPr>
          <a:xfrm>
            <a:off x="540000" y="918000"/>
            <a:ext cx="9180000" cy="3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5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从 loss.grad = 1 开始，沿计算图反向累加。</a:t>
            </a:r>
            <a:endParaRPr lang="en-US" sz="15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37" name="TextBox 8"/>
          <p:cNvSpPr/>
          <p:nvPr/>
        </p:nvSpPr>
        <p:spPr>
          <a:xfrm>
            <a:off x="720000" y="1656000"/>
            <a:ext cx="450000" cy="4500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1</a:t>
            </a:r>
            <a:endParaRPr lang="en-US"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38" name="TextBox 9"/>
          <p:cNvSpPr/>
          <p:nvPr/>
        </p:nvSpPr>
        <p:spPr>
          <a:xfrm>
            <a:off x="1278000" y="1620000"/>
            <a:ext cx="2016000" cy="28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7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前向计算</a:t>
            </a:r>
            <a:endParaRPr lang="en-US" sz="17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39" name="TextBox 10"/>
          <p:cNvSpPr/>
          <p:nvPr/>
        </p:nvSpPr>
        <p:spPr>
          <a:xfrm>
            <a:off x="1278000" y="1962000"/>
            <a:ext cx="2016000" cy="396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Consolas" panose="020B0609020204030204"/>
                <a:ea typeface="Consolas" panose="020B0609020204030204"/>
              </a:rPr>
              <a:t>保存 out.data</a:t>
            </a:r>
            <a:endParaRPr lang="en-US" sz="1300">
              <a:solidFill>
                <a:srgbClr val="263238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140" name="TextBox 11"/>
          <p:cNvSpPr/>
          <p:nvPr/>
        </p:nvSpPr>
        <p:spPr>
          <a:xfrm>
            <a:off x="3132000" y="1818000"/>
            <a:ext cx="324000" cy="136800"/>
          </a:xfrm>
          <a:prstGeom prst="rightArrow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41" name="TextBox 12"/>
          <p:cNvSpPr/>
          <p:nvPr/>
        </p:nvSpPr>
        <p:spPr>
          <a:xfrm>
            <a:off x="3528000" y="1656000"/>
            <a:ext cx="450000" cy="4500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2</a:t>
            </a:r>
            <a:endParaRPr lang="en-US"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42" name="TextBox 13"/>
          <p:cNvSpPr/>
          <p:nvPr/>
        </p:nvSpPr>
        <p:spPr>
          <a:xfrm>
            <a:off x="4086000" y="1620000"/>
            <a:ext cx="2016000" cy="28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7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记录父节点</a:t>
            </a:r>
            <a:endParaRPr lang="en-US" sz="17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43" name="TextBox 14"/>
          <p:cNvSpPr/>
          <p:nvPr/>
        </p:nvSpPr>
        <p:spPr>
          <a:xfrm>
            <a:off x="4086000" y="1962000"/>
            <a:ext cx="2016000" cy="396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Consolas" panose="020B0609020204030204"/>
                <a:ea typeface="Consolas" panose="020B0609020204030204"/>
              </a:rPr>
              <a:t>out.parents = [a, b]</a:t>
            </a:r>
            <a:endParaRPr lang="en-US" sz="1300">
              <a:solidFill>
                <a:srgbClr val="263238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144" name="TextBox 15"/>
          <p:cNvSpPr/>
          <p:nvPr/>
        </p:nvSpPr>
        <p:spPr>
          <a:xfrm>
            <a:off x="5940000" y="1818000"/>
            <a:ext cx="324000" cy="136800"/>
          </a:xfrm>
          <a:prstGeom prst="rightArrow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45" name="TextBox 16"/>
          <p:cNvSpPr/>
          <p:nvPr/>
        </p:nvSpPr>
        <p:spPr>
          <a:xfrm>
            <a:off x="6336000" y="1656000"/>
            <a:ext cx="450000" cy="4500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3</a:t>
            </a:r>
            <a:endParaRPr lang="en-US"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46" name="TextBox 17"/>
          <p:cNvSpPr/>
          <p:nvPr/>
        </p:nvSpPr>
        <p:spPr>
          <a:xfrm>
            <a:off x="6894000" y="1620000"/>
            <a:ext cx="2016000" cy="28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7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绑定规则</a:t>
            </a:r>
            <a:endParaRPr lang="en-US" sz="17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47" name="TextBox 18"/>
          <p:cNvSpPr/>
          <p:nvPr/>
        </p:nvSpPr>
        <p:spPr>
          <a:xfrm>
            <a:off x="6894000" y="1962000"/>
            <a:ext cx="2016000" cy="396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Consolas" panose="020B0609020204030204"/>
                <a:ea typeface="Consolas" panose="020B0609020204030204"/>
              </a:rPr>
              <a:t>out.backwardFunc = mulBackward</a:t>
            </a:r>
            <a:endParaRPr lang="en-US" sz="1300">
              <a:solidFill>
                <a:srgbClr val="263238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148" name="TextBox 19"/>
          <p:cNvSpPr/>
          <p:nvPr/>
        </p:nvSpPr>
        <p:spPr>
          <a:xfrm>
            <a:off x="8748000" y="1818000"/>
            <a:ext cx="324000" cy="136800"/>
          </a:xfrm>
          <a:prstGeom prst="rightArrow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49" name="TextBox 20"/>
          <p:cNvSpPr/>
          <p:nvPr/>
        </p:nvSpPr>
        <p:spPr>
          <a:xfrm>
            <a:off x="9144000" y="1656000"/>
            <a:ext cx="450000" cy="450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4</a:t>
            </a:r>
            <a:endParaRPr lang="en-US"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50" name="TextBox 21"/>
          <p:cNvSpPr/>
          <p:nvPr/>
        </p:nvSpPr>
        <p:spPr>
          <a:xfrm>
            <a:off x="9702000" y="1620000"/>
            <a:ext cx="2016000" cy="28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7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反向传播</a:t>
            </a:r>
            <a:endParaRPr lang="en-US" sz="17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51" name="TextBox 22"/>
          <p:cNvSpPr/>
          <p:nvPr/>
        </p:nvSpPr>
        <p:spPr>
          <a:xfrm>
            <a:off x="9702000" y="1962000"/>
            <a:ext cx="2016000" cy="396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Consolas" panose="020B0609020204030204"/>
                <a:ea typeface="Consolas" panose="020B0609020204030204"/>
              </a:rPr>
              <a:t>a.grad += b.data * out.grad</a:t>
            </a:r>
            <a:endParaRPr lang="en-US" sz="1300">
              <a:solidFill>
                <a:srgbClr val="263238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152" name="TextBox 23"/>
          <p:cNvSpPr/>
          <p:nvPr/>
        </p:nvSpPr>
        <p:spPr>
          <a:xfrm>
            <a:off x="1476000" y="3276000"/>
            <a:ext cx="9288000" cy="14940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53" name="TextBox 24"/>
          <p:cNvSpPr/>
          <p:nvPr/>
        </p:nvSpPr>
        <p:spPr>
          <a:xfrm>
            <a:off x="1800000" y="3438000"/>
            <a:ext cx="3528000" cy="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600" b="1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示例：loss = diff * diff</a:t>
            </a:r>
            <a:endParaRPr lang="en-US" sz="1600" b="1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54" name="TextBox 25"/>
          <p:cNvSpPr/>
          <p:nvPr/>
        </p:nvSpPr>
        <p:spPr>
          <a:xfrm>
            <a:off x="1800000" y="3834000"/>
            <a:ext cx="8568000" cy="61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5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loss.grad=1；diff 被用两次，所以 diff.grad = 2*diff = -6</a:t>
            </a:r>
            <a:endParaRPr lang="en-US" sz="15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155" name="TextBox 26"/>
          <p:cNvSpPr/>
          <p:nvPr/>
        </p:nvSpPr>
        <p:spPr>
          <a:xfrm>
            <a:off x="1476000" y="5256000"/>
            <a:ext cx="9288000" cy="34200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6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关键：同一节点可出现两次，梯度必须累加。</a:t>
            </a:r>
            <a:endParaRPr lang="en-US" sz="16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156" name="TextBox 1"/>
          <p:cNvSpPr/>
          <p:nvPr/>
        </p:nvSpPr>
        <p:spPr>
          <a:xfrm>
            <a:off x="0" y="0"/>
            <a:ext cx="151200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57" name="TextBox 2"/>
          <p:cNvSpPr/>
          <p:nvPr/>
        </p:nvSpPr>
        <p:spPr>
          <a:xfrm>
            <a:off x="151200" y="0"/>
            <a:ext cx="57600" cy="6858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58" name="TextBox 3"/>
          <p:cNvSpPr/>
          <p:nvPr/>
        </p:nvSpPr>
        <p:spPr>
          <a:xfrm>
            <a:off x="9072000" y="198000"/>
            <a:ext cx="2340000" cy="12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5600" b="1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08</a:t>
            </a:r>
            <a:endParaRPr lang="en-US" sz="5600" b="1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59" name="TextBox 4"/>
          <p:cNvSpPr/>
          <p:nvPr/>
        </p:nvSpPr>
        <p:spPr>
          <a:xfrm>
            <a:off x="540000" y="6498000"/>
            <a:ext cx="3240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TinyTensor 自动求导引擎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60" name="TextBox 5"/>
          <p:cNvSpPr/>
          <p:nvPr/>
        </p:nvSpPr>
        <p:spPr>
          <a:xfrm>
            <a:off x="11052000" y="64980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08/12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61" name="TextBox 6"/>
          <p:cNvSpPr/>
          <p:nvPr/>
        </p:nvSpPr>
        <p:spPr>
          <a:xfrm>
            <a:off x="522000" y="324000"/>
            <a:ext cx="10260000" cy="59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34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模块划分：让每个文件只做一类事</a:t>
            </a:r>
            <a:endParaRPr lang="en-US" sz="34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62" name="TextBox 7"/>
          <p:cNvSpPr/>
          <p:nvPr/>
        </p:nvSpPr>
        <p:spPr>
          <a:xfrm>
            <a:off x="540000" y="918000"/>
            <a:ext cx="9180000" cy="3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5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按依赖关系逐层集成。</a:t>
            </a:r>
            <a:endParaRPr lang="en-US" sz="15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63" name="TextBox 8"/>
          <p:cNvSpPr/>
          <p:nvPr/>
        </p:nvSpPr>
        <p:spPr>
          <a:xfrm>
            <a:off x="630000" y="1620000"/>
            <a:ext cx="2484000" cy="1296000"/>
          </a:xfrm>
          <a:prstGeom prst="roundRect">
            <a:avLst/>
          </a:prstGeom>
          <a:solidFill>
            <a:srgbClr val="EEF4FF"/>
          </a:solidFill>
          <a:ln>
            <a:solidFill>
              <a:srgbClr val="E2E8F0"/>
            </a:solidFill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64" name="TextBox 9"/>
          <p:cNvSpPr/>
          <p:nvPr/>
        </p:nvSpPr>
        <p:spPr>
          <a:xfrm>
            <a:off x="756000" y="1771200"/>
            <a:ext cx="2232000" cy="28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8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LinkedList</a:t>
            </a:r>
            <a:endParaRPr lang="en-US" sz="18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65" name="TextBox 10"/>
          <p:cNvSpPr/>
          <p:nvPr/>
        </p:nvSpPr>
        <p:spPr>
          <a:xfrm>
            <a:off x="828000" y="2178000"/>
            <a:ext cx="2088000" cy="52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0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保存父节点/参数/样本</a:t>
            </a:r>
            <a:endParaRPr lang="en-US" sz="12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66" name="TextBox 11"/>
          <p:cNvSpPr/>
          <p:nvPr/>
        </p:nvSpPr>
        <p:spPr>
          <a:xfrm>
            <a:off x="3438000" y="1620000"/>
            <a:ext cx="2484000" cy="1296000"/>
          </a:xfrm>
          <a:prstGeom prst="roundRect">
            <a:avLst/>
          </a:prstGeom>
          <a:solidFill>
            <a:srgbClr val="EEF4FF"/>
          </a:solidFill>
          <a:ln>
            <a:solidFill>
              <a:srgbClr val="E2E8F0"/>
            </a:solidFill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67" name="TextBox 12"/>
          <p:cNvSpPr/>
          <p:nvPr/>
        </p:nvSpPr>
        <p:spPr>
          <a:xfrm>
            <a:off x="3564000" y="1771200"/>
            <a:ext cx="2232000" cy="28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800" b="1">
                <a:solidFill>
                  <a:srgbClr val="00A896"/>
                </a:solidFill>
                <a:latin typeface="Microsoft YaHei" panose="020B0503020204020204" charset="-122"/>
                <a:ea typeface="Microsoft YaHei" panose="020B0503020204020204" charset="-122"/>
              </a:rPr>
              <a:t>Tensor</a:t>
            </a:r>
            <a:endParaRPr lang="en-US" sz="1800" b="1">
              <a:solidFill>
                <a:srgbClr val="00A8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68" name="TextBox 13"/>
          <p:cNvSpPr/>
          <p:nvPr/>
        </p:nvSpPr>
        <p:spPr>
          <a:xfrm>
            <a:off x="3636000" y="2178000"/>
            <a:ext cx="2088000" cy="52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0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保存 data/grad/parents</a:t>
            </a:r>
            <a:endParaRPr lang="en-US" sz="12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69" name="TextBox 14"/>
          <p:cNvSpPr/>
          <p:nvPr/>
        </p:nvSpPr>
        <p:spPr>
          <a:xfrm>
            <a:off x="6246000" y="1620000"/>
            <a:ext cx="2484000" cy="1296000"/>
          </a:xfrm>
          <a:prstGeom prst="roundRect">
            <a:avLst/>
          </a:prstGeom>
          <a:solidFill>
            <a:srgbClr val="EEF4FF"/>
          </a:solidFill>
          <a:ln>
            <a:solidFill>
              <a:srgbClr val="E2E8F0"/>
            </a:solidFill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70" name="TextBox 15"/>
          <p:cNvSpPr/>
          <p:nvPr/>
        </p:nvSpPr>
        <p:spPr>
          <a:xfrm>
            <a:off x="6372000" y="1771200"/>
            <a:ext cx="2232000" cy="28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8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Ops</a:t>
            </a:r>
            <a:endParaRPr lang="en-US" sz="18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71" name="TextBox 16"/>
          <p:cNvSpPr/>
          <p:nvPr/>
        </p:nvSpPr>
        <p:spPr>
          <a:xfrm>
            <a:off x="6444000" y="2178000"/>
            <a:ext cx="2088000" cy="52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0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创建结果，绑定反向公式</a:t>
            </a:r>
            <a:endParaRPr lang="en-US" sz="12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72" name="TextBox 17"/>
          <p:cNvSpPr/>
          <p:nvPr/>
        </p:nvSpPr>
        <p:spPr>
          <a:xfrm>
            <a:off x="9054000" y="1620000"/>
            <a:ext cx="2484000" cy="1296000"/>
          </a:xfrm>
          <a:prstGeom prst="roundRect">
            <a:avLst/>
          </a:prstGeom>
          <a:solidFill>
            <a:srgbClr val="EEF4FF"/>
          </a:solidFill>
          <a:ln>
            <a:solidFill>
              <a:srgbClr val="E2E8F0"/>
            </a:solidFill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73" name="TextBox 18"/>
          <p:cNvSpPr/>
          <p:nvPr/>
        </p:nvSpPr>
        <p:spPr>
          <a:xfrm>
            <a:off x="9180000" y="1771200"/>
            <a:ext cx="2232000" cy="28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800" b="1">
                <a:solidFill>
                  <a:srgbClr val="F59E0B"/>
                </a:solidFill>
                <a:latin typeface="Microsoft YaHei" panose="020B0503020204020204" charset="-122"/>
                <a:ea typeface="Microsoft YaHei" panose="020B0503020204020204" charset="-122"/>
              </a:rPr>
              <a:t>Loss</a:t>
            </a:r>
            <a:endParaRPr lang="en-US" sz="1800" b="1">
              <a:solidFill>
                <a:srgbClr val="F59E0B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74" name="TextBox 19"/>
          <p:cNvSpPr/>
          <p:nvPr/>
        </p:nvSpPr>
        <p:spPr>
          <a:xfrm>
            <a:off x="9252000" y="2178000"/>
            <a:ext cx="2088000" cy="52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0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生成标量 loss</a:t>
            </a:r>
            <a:endParaRPr lang="en-US" sz="12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75" name="TextBox 20"/>
          <p:cNvSpPr/>
          <p:nvPr/>
        </p:nvSpPr>
        <p:spPr>
          <a:xfrm>
            <a:off x="630000" y="3420000"/>
            <a:ext cx="2484000" cy="129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76" name="TextBox 21"/>
          <p:cNvSpPr/>
          <p:nvPr/>
        </p:nvSpPr>
        <p:spPr>
          <a:xfrm>
            <a:off x="756000" y="3571200"/>
            <a:ext cx="2232000" cy="28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800" b="1">
                <a:solidFill>
                  <a:srgbClr val="00A896"/>
                </a:solidFill>
                <a:latin typeface="Microsoft YaHei" panose="020B0503020204020204" charset="-122"/>
                <a:ea typeface="Microsoft YaHei" panose="020B0503020204020204" charset="-122"/>
              </a:rPr>
              <a:t>Optimizer</a:t>
            </a:r>
            <a:endParaRPr lang="en-US" sz="1800" b="1">
              <a:solidFill>
                <a:srgbClr val="00A8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77" name="TextBox 22"/>
          <p:cNvSpPr/>
          <p:nvPr/>
        </p:nvSpPr>
        <p:spPr>
          <a:xfrm>
            <a:off x="828000" y="3978000"/>
            <a:ext cx="2088000" cy="52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0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按 grad 更新参数</a:t>
            </a:r>
            <a:endParaRPr lang="en-US" sz="12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78" name="TextBox 23"/>
          <p:cNvSpPr/>
          <p:nvPr/>
        </p:nvSpPr>
        <p:spPr>
          <a:xfrm>
            <a:off x="3438000" y="3420000"/>
            <a:ext cx="2484000" cy="129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79" name="TextBox 24"/>
          <p:cNvSpPr/>
          <p:nvPr/>
        </p:nvSpPr>
        <p:spPr>
          <a:xfrm>
            <a:off x="3564000" y="3571200"/>
            <a:ext cx="2232000" cy="28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8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Module</a:t>
            </a:r>
            <a:endParaRPr lang="en-US" sz="18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80" name="TextBox 25"/>
          <p:cNvSpPr/>
          <p:nvPr/>
        </p:nvSpPr>
        <p:spPr>
          <a:xfrm>
            <a:off x="3636000" y="3978000"/>
            <a:ext cx="2088000" cy="52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0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封装 Linear 层</a:t>
            </a:r>
            <a:endParaRPr lang="en-US" sz="12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81" name="TextBox 26"/>
          <p:cNvSpPr/>
          <p:nvPr/>
        </p:nvSpPr>
        <p:spPr>
          <a:xfrm>
            <a:off x="6246000" y="3420000"/>
            <a:ext cx="2484000" cy="129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82" name="TextBox 27"/>
          <p:cNvSpPr/>
          <p:nvPr/>
        </p:nvSpPr>
        <p:spPr>
          <a:xfrm>
            <a:off x="6372000" y="3571200"/>
            <a:ext cx="2232000" cy="28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800" b="1">
                <a:solidFill>
                  <a:srgbClr val="F59E0B"/>
                </a:solidFill>
                <a:latin typeface="Microsoft YaHei" panose="020B0503020204020204" charset="-122"/>
                <a:ea typeface="Microsoft YaHei" panose="020B0503020204020204" charset="-122"/>
              </a:rPr>
              <a:t>Dataset</a:t>
            </a:r>
            <a:endParaRPr lang="en-US" sz="1800" b="1">
              <a:solidFill>
                <a:srgbClr val="F59E0B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83" name="TextBox 28"/>
          <p:cNvSpPr/>
          <p:nvPr/>
        </p:nvSpPr>
        <p:spPr>
          <a:xfrm>
            <a:off x="6444000" y="3978000"/>
            <a:ext cx="2088000" cy="52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0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读取训练样本</a:t>
            </a:r>
            <a:endParaRPr lang="en-US" sz="12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84" name="TextBox 29"/>
          <p:cNvSpPr/>
          <p:nvPr/>
        </p:nvSpPr>
        <p:spPr>
          <a:xfrm>
            <a:off x="9054000" y="3420000"/>
            <a:ext cx="2484000" cy="129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85" name="TextBox 30"/>
          <p:cNvSpPr/>
          <p:nvPr/>
        </p:nvSpPr>
        <p:spPr>
          <a:xfrm>
            <a:off x="9180000" y="3571200"/>
            <a:ext cx="2232000" cy="28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800" b="1">
                <a:solidFill>
                  <a:srgbClr val="00A896"/>
                </a:solidFill>
                <a:latin typeface="Microsoft YaHei" panose="020B0503020204020204" charset="-122"/>
                <a:ea typeface="Microsoft YaHei" panose="020B0503020204020204" charset="-122"/>
              </a:rPr>
              <a:t>Logger</a:t>
            </a:r>
            <a:endParaRPr lang="en-US" sz="1800" b="1">
              <a:solidFill>
                <a:srgbClr val="00A8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86" name="TextBox 31"/>
          <p:cNvSpPr/>
          <p:nvPr/>
        </p:nvSpPr>
        <p:spPr>
          <a:xfrm>
            <a:off x="9252000" y="3978000"/>
            <a:ext cx="2088000" cy="52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0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记录 loss 与结果</a:t>
            </a:r>
            <a:endParaRPr lang="en-US" sz="12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87" name="TextBox 32"/>
          <p:cNvSpPr/>
          <p:nvPr/>
        </p:nvSpPr>
        <p:spPr>
          <a:xfrm>
            <a:off x="864000" y="5472000"/>
            <a:ext cx="10080000" cy="3780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集成顺序：Tensor → Ops → backward → Loss/SGD → Demo</a:t>
            </a:r>
            <a:endParaRPr lang="en-US" sz="1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18" name="TextBox 1"/>
          <p:cNvSpPr/>
          <p:nvPr/>
        </p:nvSpPr>
        <p:spPr>
          <a:xfrm>
            <a:off x="0" y="0"/>
            <a:ext cx="151200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19" name="TextBox 2"/>
          <p:cNvSpPr/>
          <p:nvPr/>
        </p:nvSpPr>
        <p:spPr>
          <a:xfrm>
            <a:off x="151200" y="0"/>
            <a:ext cx="57600" cy="6858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20" name="TextBox 3"/>
          <p:cNvSpPr/>
          <p:nvPr/>
        </p:nvSpPr>
        <p:spPr>
          <a:xfrm>
            <a:off x="9072000" y="198000"/>
            <a:ext cx="2340000" cy="12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5600" b="1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10</a:t>
            </a:r>
            <a:endParaRPr lang="en-US" sz="5600" b="1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21" name="TextBox 4"/>
          <p:cNvSpPr/>
          <p:nvPr/>
        </p:nvSpPr>
        <p:spPr>
          <a:xfrm>
            <a:off x="540000" y="6498000"/>
            <a:ext cx="3240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TinyTensor 自动求导引擎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22" name="TextBox 5"/>
          <p:cNvSpPr/>
          <p:nvPr/>
        </p:nvSpPr>
        <p:spPr>
          <a:xfrm>
            <a:off x="11052000" y="64980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10/12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23" name="TextBox 6"/>
          <p:cNvSpPr/>
          <p:nvPr/>
        </p:nvSpPr>
        <p:spPr>
          <a:xfrm>
            <a:off x="522000" y="324000"/>
            <a:ext cx="10260000" cy="59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34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小组分工：核心、运算、验收并行推进</a:t>
            </a:r>
            <a:endParaRPr lang="en-US" sz="34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24" name="TextBox 7"/>
          <p:cNvSpPr/>
          <p:nvPr/>
        </p:nvSpPr>
        <p:spPr>
          <a:xfrm>
            <a:off x="540000" y="918000"/>
            <a:ext cx="9180000" cy="3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5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先保证 basic demo 跑通，再扩展训练。</a:t>
            </a:r>
            <a:endParaRPr lang="en-US" sz="15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25" name="TextBox 8"/>
          <p:cNvSpPr/>
          <p:nvPr/>
        </p:nvSpPr>
        <p:spPr>
          <a:xfrm>
            <a:off x="792000" y="1620000"/>
            <a:ext cx="3168000" cy="331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26" name="TextBox 9"/>
          <p:cNvSpPr/>
          <p:nvPr/>
        </p:nvSpPr>
        <p:spPr>
          <a:xfrm>
            <a:off x="1980000" y="1818000"/>
            <a:ext cx="756000" cy="7560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周</a:t>
            </a:r>
            <a:endParaRPr lang="en-US" sz="2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27" name="TextBox 10"/>
          <p:cNvSpPr/>
          <p:nvPr/>
        </p:nvSpPr>
        <p:spPr>
          <a:xfrm>
            <a:off x="972000" y="2718000"/>
            <a:ext cx="2808000" cy="306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20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周获深</a:t>
            </a:r>
            <a:endParaRPr lang="en-US" sz="20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28" name="TextBox 11"/>
          <p:cNvSpPr/>
          <p:nvPr/>
        </p:nvSpPr>
        <p:spPr>
          <a:xfrm>
            <a:off x="1854000" y="3078000"/>
            <a:ext cx="1044000" cy="22320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2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组长</a:t>
            </a:r>
            <a:endParaRPr lang="en-US" sz="12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29" name="TextBox 12"/>
          <p:cNvSpPr/>
          <p:nvPr/>
        </p:nvSpPr>
        <p:spPr>
          <a:xfrm>
            <a:off x="1080000" y="3600000"/>
            <a:ext cx="2520000" cy="23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- 总体设计与集成</a:t>
            </a:r>
            <a:endParaRPr lang="en-US" sz="13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30" name="TextBox 13"/>
          <p:cNvSpPr/>
          <p:nvPr/>
        </p:nvSpPr>
        <p:spPr>
          <a:xfrm>
            <a:off x="1080000" y="3895200"/>
            <a:ext cx="2520000" cy="23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- LinkedList / Tensor</a:t>
            </a:r>
            <a:endParaRPr lang="en-US" sz="13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32" name="TextBox 15"/>
          <p:cNvSpPr/>
          <p:nvPr/>
        </p:nvSpPr>
        <p:spPr>
          <a:xfrm>
            <a:off x="4500000" y="1620000"/>
            <a:ext cx="3168000" cy="331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33" name="TextBox 16"/>
          <p:cNvSpPr/>
          <p:nvPr/>
        </p:nvSpPr>
        <p:spPr>
          <a:xfrm>
            <a:off x="5688000" y="1818000"/>
            <a:ext cx="756000" cy="75600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靳</a:t>
            </a:r>
            <a:endParaRPr lang="en-US" sz="2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34" name="TextBox 17"/>
          <p:cNvSpPr/>
          <p:nvPr/>
        </p:nvSpPr>
        <p:spPr>
          <a:xfrm>
            <a:off x="4680000" y="2718000"/>
            <a:ext cx="2808000" cy="306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20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靳子桐</a:t>
            </a:r>
            <a:endParaRPr lang="en-US" sz="20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35" name="TextBox 18"/>
          <p:cNvSpPr/>
          <p:nvPr/>
        </p:nvSpPr>
        <p:spPr>
          <a:xfrm>
            <a:off x="5562000" y="3078000"/>
            <a:ext cx="1044000" cy="22320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200" b="1">
                <a:solidFill>
                  <a:srgbClr val="00A896"/>
                </a:solidFill>
                <a:latin typeface="Microsoft YaHei" panose="020B0503020204020204" charset="-122"/>
                <a:ea typeface="Microsoft YaHei" panose="020B0503020204020204" charset="-122"/>
              </a:rPr>
              <a:t>组员</a:t>
            </a:r>
            <a:endParaRPr lang="en-US" sz="1200" b="1">
              <a:solidFill>
                <a:srgbClr val="00A8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36" name="TextBox 19"/>
          <p:cNvSpPr/>
          <p:nvPr/>
        </p:nvSpPr>
        <p:spPr>
          <a:xfrm>
            <a:off x="4788000" y="3600000"/>
            <a:ext cx="2520000" cy="23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- Ops 运算实现</a:t>
            </a:r>
            <a:endParaRPr lang="en-US" sz="13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37" name="TextBox 20"/>
          <p:cNvSpPr/>
          <p:nvPr/>
        </p:nvSpPr>
        <p:spPr>
          <a:xfrm>
            <a:off x="4788000" y="3895200"/>
            <a:ext cx="2520000" cy="23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- 反向传播公式</a:t>
            </a:r>
            <a:endParaRPr lang="en-US" sz="13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39" name="TextBox 22"/>
          <p:cNvSpPr/>
          <p:nvPr/>
        </p:nvSpPr>
        <p:spPr>
          <a:xfrm>
            <a:off x="8208000" y="1620000"/>
            <a:ext cx="3168000" cy="331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40" name="TextBox 23"/>
          <p:cNvSpPr/>
          <p:nvPr/>
        </p:nvSpPr>
        <p:spPr>
          <a:xfrm>
            <a:off x="9396000" y="1818000"/>
            <a:ext cx="756000" cy="756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杜</a:t>
            </a:r>
            <a:endParaRPr lang="en-US" sz="2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41" name="TextBox 24"/>
          <p:cNvSpPr/>
          <p:nvPr/>
        </p:nvSpPr>
        <p:spPr>
          <a:xfrm>
            <a:off x="8388000" y="2718000"/>
            <a:ext cx="2808000" cy="306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20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杜启瑄</a:t>
            </a:r>
            <a:endParaRPr lang="en-US" sz="20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42" name="TextBox 25"/>
          <p:cNvSpPr/>
          <p:nvPr/>
        </p:nvSpPr>
        <p:spPr>
          <a:xfrm>
            <a:off x="9270000" y="3078000"/>
            <a:ext cx="1044000" cy="22320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200" b="1">
                <a:solidFill>
                  <a:srgbClr val="F59E0B"/>
                </a:solidFill>
                <a:latin typeface="Microsoft YaHei" panose="020B0503020204020204" charset="-122"/>
                <a:ea typeface="Microsoft YaHei" panose="020B0503020204020204" charset="-122"/>
              </a:rPr>
              <a:t>组员</a:t>
            </a:r>
            <a:endParaRPr lang="en-US" sz="1200" b="1">
              <a:solidFill>
                <a:srgbClr val="F59E0B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43" name="TextBox 26"/>
          <p:cNvSpPr/>
          <p:nvPr/>
        </p:nvSpPr>
        <p:spPr>
          <a:xfrm>
            <a:off x="8496000" y="3600000"/>
            <a:ext cx="2520000" cy="23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- 测试与 Demo</a:t>
            </a:r>
            <a:r>
              <a:rPr lang="zh-CN" altLang="en-US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，修</a:t>
            </a:r>
            <a:r>
              <a:rPr lang="en-US" altLang="zh-CN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bug</a:t>
            </a:r>
            <a:endParaRPr lang="en-US" altLang="zh-CN" sz="13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44" name="TextBox 27"/>
          <p:cNvSpPr/>
          <p:nvPr/>
        </p:nvSpPr>
        <p:spPr>
          <a:xfrm>
            <a:off x="8496000" y="3895200"/>
            <a:ext cx="2520000" cy="23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3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- 日志、README、报告</a:t>
            </a:r>
            <a:endParaRPr lang="en-US" sz="13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46" name="TextBox 29"/>
          <p:cNvSpPr/>
          <p:nvPr/>
        </p:nvSpPr>
        <p:spPr>
          <a:xfrm>
            <a:off x="1116000" y="5436000"/>
            <a:ext cx="9936000" cy="3780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协作规则：先跑最小测试，再集成。</a:t>
            </a:r>
            <a:endParaRPr lang="en-US" sz="1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47" name="TextBox 1"/>
          <p:cNvSpPr/>
          <p:nvPr/>
        </p:nvSpPr>
        <p:spPr>
          <a:xfrm>
            <a:off x="0" y="0"/>
            <a:ext cx="151200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48" name="TextBox 2"/>
          <p:cNvSpPr/>
          <p:nvPr/>
        </p:nvSpPr>
        <p:spPr>
          <a:xfrm>
            <a:off x="151200" y="0"/>
            <a:ext cx="57600" cy="6858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49" name="TextBox 3"/>
          <p:cNvSpPr/>
          <p:nvPr/>
        </p:nvSpPr>
        <p:spPr>
          <a:xfrm>
            <a:off x="9072000" y="198000"/>
            <a:ext cx="2340000" cy="12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5600" b="1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11</a:t>
            </a:r>
            <a:endParaRPr lang="en-US" sz="5600" b="1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50" name="TextBox 4"/>
          <p:cNvSpPr/>
          <p:nvPr/>
        </p:nvSpPr>
        <p:spPr>
          <a:xfrm>
            <a:off x="540000" y="6498000"/>
            <a:ext cx="3240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TinyTensor 自动求导引擎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51" name="TextBox 5"/>
          <p:cNvSpPr/>
          <p:nvPr/>
        </p:nvSpPr>
        <p:spPr>
          <a:xfrm>
            <a:off x="11052000" y="64980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9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11/12</a:t>
            </a:r>
            <a:endParaRPr lang="en-US" sz="9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52" name="TextBox 6"/>
          <p:cNvSpPr/>
          <p:nvPr/>
        </p:nvSpPr>
        <p:spPr>
          <a:xfrm>
            <a:off x="522000" y="324000"/>
            <a:ext cx="10260000" cy="59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34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进度计划：每阶段都有 Demo 验收</a:t>
            </a:r>
            <a:endParaRPr lang="en-US" sz="34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53" name="TextBox 7"/>
          <p:cNvSpPr/>
          <p:nvPr/>
        </p:nvSpPr>
        <p:spPr>
          <a:xfrm>
            <a:off x="540000" y="918000"/>
            <a:ext cx="9180000" cy="3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500">
                <a:solidFill>
                  <a:srgbClr val="6B7B8D"/>
                </a:solidFill>
                <a:latin typeface="Microsoft YaHei" panose="020B0503020204020204" charset="-122"/>
                <a:ea typeface="Microsoft YaHei" panose="020B0503020204020204" charset="-122"/>
              </a:rPr>
              <a:t>Demo 贯穿验收：basic 求导，standard 训练，challenge XOR。</a:t>
            </a:r>
            <a:endParaRPr lang="en-US" sz="1500">
              <a:solidFill>
                <a:srgbClr val="6B7B8D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54" name="TextBox 8"/>
          <p:cNvSpPr/>
          <p:nvPr/>
        </p:nvSpPr>
        <p:spPr>
          <a:xfrm>
            <a:off x="1080000" y="3096000"/>
            <a:ext cx="9864000" cy="432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55" name="TextBox 9"/>
          <p:cNvSpPr/>
          <p:nvPr/>
        </p:nvSpPr>
        <p:spPr>
          <a:xfrm>
            <a:off x="1296000" y="2779200"/>
            <a:ext cx="522000" cy="5220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1</a:t>
            </a:r>
            <a:endParaRPr lang="en-US" sz="1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56" name="TextBox 10"/>
          <p:cNvSpPr/>
          <p:nvPr/>
        </p:nvSpPr>
        <p:spPr>
          <a:xfrm>
            <a:off x="792000" y="1746000"/>
            <a:ext cx="1512000" cy="23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6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第1周</a:t>
            </a:r>
            <a:endParaRPr lang="en-US" sz="16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57" name="TextBox 11"/>
          <p:cNvSpPr/>
          <p:nvPr/>
        </p:nvSpPr>
        <p:spPr>
          <a:xfrm>
            <a:off x="792000" y="2070000"/>
            <a:ext cx="1512000" cy="1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1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框架搭建</a:t>
            </a:r>
            <a:endParaRPr lang="en-US" sz="11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58" name="TextBox 12"/>
          <p:cNvSpPr/>
          <p:nvPr/>
        </p:nvSpPr>
        <p:spPr>
          <a:xfrm>
            <a:off x="792000" y="2278800"/>
            <a:ext cx="1512000" cy="1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1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LinkedList / Tensor</a:t>
            </a:r>
            <a:endParaRPr lang="en-US" sz="11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59" name="TextBox 13"/>
          <p:cNvSpPr/>
          <p:nvPr/>
        </p:nvSpPr>
        <p:spPr>
          <a:xfrm>
            <a:off x="3186000" y="2779200"/>
            <a:ext cx="522000" cy="5220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2</a:t>
            </a:r>
            <a:endParaRPr lang="en-US" sz="1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60" name="TextBox 14"/>
          <p:cNvSpPr/>
          <p:nvPr/>
        </p:nvSpPr>
        <p:spPr>
          <a:xfrm>
            <a:off x="2682000" y="3960000"/>
            <a:ext cx="1512000" cy="23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6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第2周</a:t>
            </a:r>
            <a:endParaRPr lang="en-US" sz="16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61" name="TextBox 15"/>
          <p:cNvSpPr/>
          <p:nvPr/>
        </p:nvSpPr>
        <p:spPr>
          <a:xfrm>
            <a:off x="2682000" y="4284000"/>
            <a:ext cx="1512000" cy="1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1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Ops 四则运算</a:t>
            </a:r>
            <a:endParaRPr lang="en-US" sz="11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62" name="TextBox 16"/>
          <p:cNvSpPr/>
          <p:nvPr/>
        </p:nvSpPr>
        <p:spPr>
          <a:xfrm>
            <a:off x="2682000" y="4492800"/>
            <a:ext cx="1512000" cy="1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1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标量前向</a:t>
            </a:r>
            <a:endParaRPr lang="en-US" sz="11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63" name="TextBox 17"/>
          <p:cNvSpPr/>
          <p:nvPr/>
        </p:nvSpPr>
        <p:spPr>
          <a:xfrm>
            <a:off x="5076000" y="2779200"/>
            <a:ext cx="522000" cy="5220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3</a:t>
            </a:r>
            <a:endParaRPr lang="en-US" sz="1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64" name="TextBox 18"/>
          <p:cNvSpPr/>
          <p:nvPr/>
        </p:nvSpPr>
        <p:spPr>
          <a:xfrm>
            <a:off x="4572000" y="1746000"/>
            <a:ext cx="1512000" cy="23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600" b="1">
                <a:solidFill>
                  <a:srgbClr val="1E2761"/>
                </a:solidFill>
                <a:latin typeface="Microsoft YaHei" panose="020B0503020204020204" charset="-122"/>
                <a:ea typeface="Microsoft YaHei" panose="020B0503020204020204" charset="-122"/>
              </a:rPr>
              <a:t>第3周</a:t>
            </a:r>
            <a:endParaRPr lang="en-US" sz="1600" b="1">
              <a:solidFill>
                <a:srgbClr val="1E276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65" name="TextBox 19"/>
          <p:cNvSpPr/>
          <p:nvPr/>
        </p:nvSpPr>
        <p:spPr>
          <a:xfrm>
            <a:off x="4572000" y="2070000"/>
            <a:ext cx="1512000" cy="1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1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backward</a:t>
            </a:r>
            <a:endParaRPr lang="en-US" sz="11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66" name="TextBox 20"/>
          <p:cNvSpPr/>
          <p:nvPr/>
        </p:nvSpPr>
        <p:spPr>
          <a:xfrm>
            <a:off x="4572000" y="2278800"/>
            <a:ext cx="1512000" cy="1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1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basic demo</a:t>
            </a:r>
            <a:endParaRPr lang="en-US" sz="11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67" name="TextBox 21"/>
          <p:cNvSpPr/>
          <p:nvPr/>
        </p:nvSpPr>
        <p:spPr>
          <a:xfrm>
            <a:off x="6966000" y="2779200"/>
            <a:ext cx="522000" cy="52200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4</a:t>
            </a:r>
            <a:endParaRPr lang="en-US" sz="1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68" name="TextBox 22"/>
          <p:cNvSpPr/>
          <p:nvPr/>
        </p:nvSpPr>
        <p:spPr>
          <a:xfrm>
            <a:off x="6462000" y="3960000"/>
            <a:ext cx="1512000" cy="23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600" b="1">
                <a:solidFill>
                  <a:srgbClr val="00A896"/>
                </a:solidFill>
                <a:latin typeface="Microsoft YaHei" panose="020B0503020204020204" charset="-122"/>
                <a:ea typeface="Microsoft YaHei" panose="020B0503020204020204" charset="-122"/>
              </a:rPr>
              <a:t>第4周</a:t>
            </a:r>
            <a:endParaRPr lang="en-US" sz="1600" b="1">
              <a:solidFill>
                <a:srgbClr val="00A8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69" name="TextBox 23"/>
          <p:cNvSpPr/>
          <p:nvPr/>
        </p:nvSpPr>
        <p:spPr>
          <a:xfrm>
            <a:off x="6462000" y="4284000"/>
            <a:ext cx="1512000" cy="1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1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矩阵 / matmul</a:t>
            </a:r>
            <a:endParaRPr lang="en-US" sz="11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70" name="TextBox 24"/>
          <p:cNvSpPr/>
          <p:nvPr/>
        </p:nvSpPr>
        <p:spPr>
          <a:xfrm>
            <a:off x="6462000" y="4492800"/>
            <a:ext cx="1512000" cy="1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1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MSE</a:t>
            </a:r>
            <a:endParaRPr lang="en-US" sz="11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71" name="TextBox 25"/>
          <p:cNvSpPr/>
          <p:nvPr/>
        </p:nvSpPr>
        <p:spPr>
          <a:xfrm>
            <a:off x="8856000" y="2779200"/>
            <a:ext cx="522000" cy="52200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5</a:t>
            </a:r>
            <a:endParaRPr lang="en-US" sz="1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72" name="TextBox 26"/>
          <p:cNvSpPr/>
          <p:nvPr/>
        </p:nvSpPr>
        <p:spPr>
          <a:xfrm>
            <a:off x="8352000" y="1746000"/>
            <a:ext cx="1512000" cy="23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600" b="1">
                <a:solidFill>
                  <a:srgbClr val="00A896"/>
                </a:solidFill>
                <a:latin typeface="Microsoft YaHei" panose="020B0503020204020204" charset="-122"/>
                <a:ea typeface="Microsoft YaHei" panose="020B0503020204020204" charset="-122"/>
              </a:rPr>
              <a:t>第5周</a:t>
            </a:r>
            <a:endParaRPr lang="en-US" sz="1600" b="1">
              <a:solidFill>
                <a:srgbClr val="00A8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73" name="TextBox 27"/>
          <p:cNvSpPr/>
          <p:nvPr/>
        </p:nvSpPr>
        <p:spPr>
          <a:xfrm>
            <a:off x="8352000" y="2070000"/>
            <a:ext cx="1512000" cy="1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1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SGD / Linear</a:t>
            </a:r>
            <a:endParaRPr lang="en-US" sz="11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74" name="TextBox 28"/>
          <p:cNvSpPr/>
          <p:nvPr/>
        </p:nvSpPr>
        <p:spPr>
          <a:xfrm>
            <a:off x="8352000" y="2278800"/>
            <a:ext cx="1512000" cy="1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1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standard demo</a:t>
            </a:r>
            <a:endParaRPr lang="en-US" sz="11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75" name="TextBox 29"/>
          <p:cNvSpPr/>
          <p:nvPr/>
        </p:nvSpPr>
        <p:spPr>
          <a:xfrm>
            <a:off x="10746000" y="2779200"/>
            <a:ext cx="522000" cy="522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6</a:t>
            </a:r>
            <a:endParaRPr lang="en-US" sz="1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76" name="TextBox 30"/>
          <p:cNvSpPr/>
          <p:nvPr/>
        </p:nvSpPr>
        <p:spPr>
          <a:xfrm>
            <a:off x="10242000" y="3960000"/>
            <a:ext cx="1512000" cy="23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600" b="1">
                <a:solidFill>
                  <a:srgbClr val="F59E0B"/>
                </a:solidFill>
                <a:latin typeface="Microsoft YaHei" panose="020B0503020204020204" charset="-122"/>
                <a:ea typeface="Microsoft YaHei" panose="020B0503020204020204" charset="-122"/>
              </a:rPr>
              <a:t>第6周</a:t>
            </a:r>
            <a:endParaRPr lang="en-US" sz="1600" b="1">
              <a:solidFill>
                <a:srgbClr val="F59E0B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77" name="TextBox 31"/>
          <p:cNvSpPr/>
          <p:nvPr/>
        </p:nvSpPr>
        <p:spPr>
          <a:xfrm>
            <a:off x="10242000" y="4284000"/>
            <a:ext cx="1512000" cy="1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1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XOR / 测试</a:t>
            </a:r>
            <a:endParaRPr lang="en-US" sz="11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78" name="TextBox 32"/>
          <p:cNvSpPr/>
          <p:nvPr/>
        </p:nvSpPr>
        <p:spPr>
          <a:xfrm>
            <a:off x="10242000" y="4492800"/>
            <a:ext cx="1512000" cy="1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1100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答辩演示</a:t>
            </a:r>
            <a:endParaRPr lang="en-US" sz="11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79" name="TextBox 33"/>
          <p:cNvSpPr/>
          <p:nvPr/>
        </p:nvSpPr>
        <p:spPr>
          <a:xfrm>
            <a:off x="1512000" y="5472000"/>
            <a:ext cx="1728000" cy="27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Demo演示路线</a:t>
            </a:r>
            <a:endParaRPr lang="en-US"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80" name="TextBox 34"/>
          <p:cNvSpPr/>
          <p:nvPr/>
        </p:nvSpPr>
        <p:spPr>
          <a:xfrm>
            <a:off x="3456000" y="5450400"/>
            <a:ext cx="7380000" cy="45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1500" b="1">
                <a:solidFill>
                  <a:srgbClr val="263238"/>
                </a:solidFill>
                <a:latin typeface="Microsoft YaHei" panose="020B0503020204020204" charset="-122"/>
                <a:ea typeface="Microsoft YaHei" panose="020B0503020204020204" charset="-122"/>
              </a:rPr>
              <a:t>第3周演示 basic；第5周演示 loss 下降；第6周演示 XOR 与答辩。</a:t>
            </a:r>
            <a:endParaRPr lang="en-US" sz="1500" b="1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81" name="TextBox 1"/>
          <p:cNvSpPr/>
          <p:nvPr/>
        </p:nvSpPr>
        <p:spPr>
          <a:xfrm>
            <a:off x="-1008000" y="-648000"/>
            <a:ext cx="3600000" cy="3600000"/>
          </a:xfrm>
          <a:prstGeom prst="ellipse">
            <a:avLst/>
          </a:prstGeom>
          <a:solidFill>
            <a:srgbClr val="00A896">
              <a:alpha val="18000"/>
            </a:srgbClr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82" name="TextBox 2"/>
          <p:cNvSpPr/>
          <p:nvPr/>
        </p:nvSpPr>
        <p:spPr>
          <a:xfrm>
            <a:off x="9720000" y="4392000"/>
            <a:ext cx="3240000" cy="3240000"/>
          </a:xfrm>
          <a:prstGeom prst="ellipse">
            <a:avLst/>
          </a:prstGeom>
          <a:solidFill>
            <a:srgbClr val="CADCFC">
              <a:alpha val="18000"/>
            </a:srgbClr>
          </a:solidFill>
          <a:ln>
            <a:noFill/>
          </a:ln>
        </p:spPr>
        <p:txBody>
          <a:bodyPr lIns="43200" tIns="43200" rIns="43200" bIns="43200" anchor="t"/>
          <a:lstStyle/>
          <a:p>
            <a:pPr algn="l"/>
            <a:endParaRPr lang="en-US" sz="1800">
              <a:solidFill>
                <a:srgbClr val="263238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84" name="TextBox 4"/>
          <p:cNvSpPr/>
          <p:nvPr/>
        </p:nvSpPr>
        <p:spPr>
          <a:xfrm>
            <a:off x="540000" y="6498000"/>
            <a:ext cx="3240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n-US" sz="900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TinyTensor 自动求导引擎</a:t>
            </a:r>
            <a:endParaRPr lang="en-US" sz="900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85" name="TextBox 5"/>
          <p:cNvSpPr/>
          <p:nvPr/>
        </p:nvSpPr>
        <p:spPr>
          <a:xfrm>
            <a:off x="11052000" y="64980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n-US" sz="900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12/12</a:t>
            </a:r>
            <a:endParaRPr lang="en-US" sz="900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310" name="TextBox 30"/>
          <p:cNvSpPr/>
          <p:nvPr/>
        </p:nvSpPr>
        <p:spPr>
          <a:xfrm>
            <a:off x="2207200" y="4725040"/>
            <a:ext cx="7200000" cy="50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endParaRPr lang="en-US"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311" name="TextBox 31"/>
          <p:cNvSpPr/>
          <p:nvPr/>
        </p:nvSpPr>
        <p:spPr>
          <a:xfrm>
            <a:off x="3524435" y="3428990"/>
            <a:ext cx="5040000" cy="32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n-US" sz="2000" b="1">
                <a:solidFill>
                  <a:srgbClr val="CADCFC"/>
                </a:solidFill>
                <a:latin typeface="Microsoft YaHei" panose="020B0503020204020204" charset="-122"/>
                <a:ea typeface="Microsoft YaHei" panose="020B0503020204020204" charset="-122"/>
              </a:rPr>
              <a:t>谢谢聆听</a:t>
            </a:r>
            <a:endParaRPr lang="en-US" sz="2000" b="1">
              <a:solidFill>
                <a:srgbClr val="CADCF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1628</Words>
  <Application>WPS 演示</Application>
  <PresentationFormat/>
  <Paragraphs>302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Arial</vt:lpstr>
      <vt:lpstr>SimSun</vt:lpstr>
      <vt:lpstr>Wingdings</vt:lpstr>
      <vt:lpstr>Microsoft YaHei</vt:lpstr>
      <vt:lpstr>Consolas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OfficeCLI</dc:creator>
  <cp:lastModifiedBy>周获深</cp:lastModifiedBy>
  <cp:revision>2</cp:revision>
  <dcterms:created xsi:type="dcterms:W3CDTF">2026-05-14T11:50:00Z</dcterms:created>
  <dcterms:modified xsi:type="dcterms:W3CDTF">2026-05-19T01:40:55Z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8F8C1B2D884148D48DA129B1E58EED87_12</vt:lpwstr>
  </property>
</Properties>
</file>