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开场说明项目主题：TinyTensor 自动求导引擎。强调目标不是调用现成框架，而是从零理解 Tensor、计算图和反向传播。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本页强调为什么做这个题：自动求导是深度学习框架的核心，项目能把理论、C++、数据结构和实验训练连起来。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按基础、标准、挑战三档讲项目边界。基础档是整个项目的核心，标准和挑战是在核心跑通后的扩展。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本页从需求角度拆解：不只是写代码，还要能验收、能演示、能形成课程报告材料。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用一条数据流讲总体架构：数据进入 Tensor，经过 Ops 构建计算图，通过 backward 得到梯度，最后由 Loss、SGD、Module 组成训练 demo。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解释 Tensor 的四个核心成员。重点讲清楚：计算图是由 Tensor 之间的父节点指针形成的，链表只是保存父节点集合的容器。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本页讲自动求导怎么实现：每个运算保存局部反向规则，backward 从 loss.grad=1 开始调用这些规则。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说明每个文件的职责，避免把功能堆在 main.cpp。讲清楚集成顺序，先核心求导，再训练组件。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技术路线不要贪多，基础闭环是最重要的。只有基础档稳定，标准档和挑战档才有意义。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介绍三人分工。强调不是按文件孤立开发，而是围绕求导闭环并行推进。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说明时间计划和阶段验收点。第 3 周的 basic demo 是整个项目风险最低化的关键节点。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收尾强调成果和风险控制。最后可以过渡到老师提问。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1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2" name="TextBox 3"/>
          <p:cNvSpPr/>
          <p:nvPr/>
        </p:nvSpPr>
        <p:spPr>
          <a:xfrm>
            <a:off x="8640000" y="252000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68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01</a:t>
            </a:r>
            <a:endParaRPr lang="en-US" sz="68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01/12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5" name="TextBox 6"/>
          <p:cNvSpPr/>
          <p:nvPr/>
        </p:nvSpPr>
        <p:spPr>
          <a:xfrm>
            <a:off x="720000" y="1602000"/>
            <a:ext cx="10728000" cy="84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</a:t>
            </a:r>
            <a:endParaRPr lang="en-US" sz="4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6" name="TextBox 7"/>
          <p:cNvSpPr/>
          <p:nvPr/>
        </p:nvSpPr>
        <p:spPr>
          <a:xfrm>
            <a:off x="720000" y="2466000"/>
            <a:ext cx="10728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自动求导引擎开题报告</a:t>
            </a:r>
            <a:endParaRPr lang="en-US" sz="24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7" name="TextBox 8"/>
          <p:cNvSpPr/>
          <p:nvPr/>
        </p:nvSpPr>
        <p:spPr>
          <a:xfrm>
            <a:off x="3690000" y="3114000"/>
            <a:ext cx="1980000" cy="280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课程设计 · 第三选题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8" name="TextBox 9"/>
          <p:cNvSpPr/>
          <p:nvPr/>
        </p:nvSpPr>
        <p:spPr>
          <a:xfrm>
            <a:off x="5886000" y="3114000"/>
            <a:ext cx="2664000" cy="280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Tensor / Graph / Backward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9" name="TextBox 10"/>
          <p:cNvSpPr/>
          <p:nvPr/>
        </p:nvSpPr>
        <p:spPr>
          <a:xfrm>
            <a:off x="3600000" y="4320000"/>
            <a:ext cx="496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组长：周获深</a:t>
            </a:r>
            <a:endParaRPr lang="en-US" sz="170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0" name="TextBox 11"/>
          <p:cNvSpPr/>
          <p:nvPr/>
        </p:nvSpPr>
        <p:spPr>
          <a:xfrm>
            <a:off x="3600000" y="4698000"/>
            <a:ext cx="496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组员：靳子桐 · 杜启瑄</a:t>
            </a:r>
            <a:endParaRPr lang="en-US" sz="16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1" name="TextBox 12"/>
          <p:cNvSpPr/>
          <p:nvPr/>
        </p:nvSpPr>
        <p:spPr>
          <a:xfrm>
            <a:off x="1728000" y="5490000"/>
            <a:ext cx="8748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50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从零实现迷你 Tensor 与自动求导核心</a:t>
            </a:r>
            <a:endParaRPr lang="en-US" sz="150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5" grpId="0"/>
      <p:bldP spid="10006" grpId="1"/>
      <p:bldP spid="10007" grpId="2"/>
      <p:bldP spid="10008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12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3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4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5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6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02/12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7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选题背景：从使用框架到理解框架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8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自动求导常被框架封装，本项目尝试拆开实现。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9" name="TextBox 8"/>
          <p:cNvSpPr/>
          <p:nvPr/>
        </p:nvSpPr>
        <p:spPr>
          <a:xfrm>
            <a:off x="558000" y="1530000"/>
            <a:ext cx="3384000" cy="309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0" name="TextBox 9"/>
          <p:cNvSpPr/>
          <p:nvPr/>
        </p:nvSpPr>
        <p:spPr>
          <a:xfrm>
            <a:off x="558000" y="1530000"/>
            <a:ext cx="64800" cy="309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1" name="TextBox 10"/>
          <p:cNvSpPr/>
          <p:nvPr/>
        </p:nvSpPr>
        <p:spPr>
          <a:xfrm>
            <a:off x="709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学习痛点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2" name="TextBox 11"/>
          <p:cNvSpPr/>
          <p:nvPr/>
        </p:nvSpPr>
        <p:spPr>
          <a:xfrm>
            <a:off x="720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API 会用，梯度不清楚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3" name="TextBox 12"/>
          <p:cNvSpPr/>
          <p:nvPr/>
        </p:nvSpPr>
        <p:spPr>
          <a:xfrm>
            <a:off x="720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反向传播难调试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5" name="TextBox 14"/>
          <p:cNvSpPr/>
          <p:nvPr/>
        </p:nvSpPr>
        <p:spPr>
          <a:xfrm>
            <a:off x="4356000" y="1530000"/>
            <a:ext cx="3384000" cy="30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6" name="TextBox 15"/>
          <p:cNvSpPr/>
          <p:nvPr/>
        </p:nvSpPr>
        <p:spPr>
          <a:xfrm>
            <a:off x="4356000" y="1530000"/>
            <a:ext cx="64800" cy="309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7" name="TextBox 16"/>
          <p:cNvSpPr/>
          <p:nvPr/>
        </p:nvSpPr>
        <p:spPr>
          <a:xfrm>
            <a:off x="4507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课程价值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8" name="TextBox 17"/>
          <p:cNvSpPr/>
          <p:nvPr/>
        </p:nvSpPr>
        <p:spPr>
          <a:xfrm>
            <a:off x="4518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练习 C++ 内存与对象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9" name="TextBox 18"/>
          <p:cNvSpPr/>
          <p:nvPr/>
        </p:nvSpPr>
        <p:spPr>
          <a:xfrm>
            <a:off x="4518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亲手建立计算图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1" name="TextBox 20"/>
          <p:cNvSpPr/>
          <p:nvPr/>
        </p:nvSpPr>
        <p:spPr>
          <a:xfrm>
            <a:off x="8154000" y="1530000"/>
            <a:ext cx="3384000" cy="309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2" name="TextBox 21"/>
          <p:cNvSpPr/>
          <p:nvPr/>
        </p:nvSpPr>
        <p:spPr>
          <a:xfrm>
            <a:off x="8154000" y="1530000"/>
            <a:ext cx="64800" cy="309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3" name="TextBox 22"/>
          <p:cNvSpPr/>
          <p:nvPr/>
        </p:nvSpPr>
        <p:spPr>
          <a:xfrm>
            <a:off x="8305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选题意义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4" name="TextBox 23"/>
          <p:cNvSpPr/>
          <p:nvPr/>
        </p:nvSpPr>
        <p:spPr>
          <a:xfrm>
            <a:off x="8316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实现迷你自动求导引擎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5" name="TextBox 24"/>
          <p:cNvSpPr/>
          <p:nvPr/>
        </p:nvSpPr>
        <p:spPr>
          <a:xfrm>
            <a:off x="8316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支持线性回归与 XOR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7" name="TextBox 26"/>
          <p:cNvSpPr/>
          <p:nvPr/>
        </p:nvSpPr>
        <p:spPr>
          <a:xfrm>
            <a:off x="1152000" y="5148000"/>
            <a:ext cx="2088000" cy="28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核心定位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8" name="TextBox 27"/>
          <p:cNvSpPr/>
          <p:nvPr/>
        </p:nvSpPr>
        <p:spPr>
          <a:xfrm>
            <a:off x="3262630" y="5130165"/>
            <a:ext cx="762698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目标：可解释、可验证的自动求导最小闭环。</a:t>
            </a:r>
            <a:endParaRPr lang="en-US" sz="18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9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0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1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2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3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03/12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4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项目目标：三档递进的 TinyTensor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5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先求导闭环，再扩展训练组件。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6" name="TextBox 8"/>
          <p:cNvSpPr/>
          <p:nvPr/>
        </p:nvSpPr>
        <p:spPr>
          <a:xfrm>
            <a:off x="720000" y="1440000"/>
            <a:ext cx="3168000" cy="115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7" name="TextBox 9"/>
          <p:cNvSpPr/>
          <p:nvPr/>
        </p:nvSpPr>
        <p:spPr>
          <a:xfrm>
            <a:off x="84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基础档</a:t>
            </a:r>
            <a:endParaRPr lang="en-US" sz="2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8" name="TextBox 10"/>
          <p:cNvSpPr/>
          <p:nvPr/>
        </p:nvSpPr>
        <p:spPr>
          <a:xfrm>
            <a:off x="88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标量 + 四则运算 + backward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9" name="TextBox 11"/>
          <p:cNvSpPr/>
          <p:nvPr/>
        </p:nvSpPr>
        <p:spPr>
          <a:xfrm>
            <a:off x="4500000" y="1440000"/>
            <a:ext cx="3168000" cy="1152000"/>
          </a:xfrm>
          <a:prstGeom prst="roundRect">
            <a:avLst/>
          </a:prstGeom>
          <a:solidFill>
            <a:srgbClr val="EAF7F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0" name="TextBox 12"/>
          <p:cNvSpPr/>
          <p:nvPr/>
        </p:nvSpPr>
        <p:spPr>
          <a:xfrm>
            <a:off x="462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标准档</a:t>
            </a:r>
            <a:endParaRPr lang="en-US" sz="24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1" name="TextBox 13"/>
          <p:cNvSpPr/>
          <p:nvPr/>
        </p:nvSpPr>
        <p:spPr>
          <a:xfrm>
            <a:off x="466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矩阵 + matmul + 线性回归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2" name="TextBox 14"/>
          <p:cNvSpPr/>
          <p:nvPr/>
        </p:nvSpPr>
        <p:spPr>
          <a:xfrm>
            <a:off x="8280000" y="1440000"/>
            <a:ext cx="3168000" cy="11520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3" name="TextBox 15"/>
          <p:cNvSpPr/>
          <p:nvPr/>
        </p:nvSpPr>
        <p:spPr>
          <a:xfrm>
            <a:off x="840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挑战档</a:t>
            </a:r>
            <a:endParaRPr lang="en-US" sz="24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4" name="TextBox 16"/>
          <p:cNvSpPr/>
          <p:nvPr/>
        </p:nvSpPr>
        <p:spPr>
          <a:xfrm>
            <a:off x="844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Linear + SGD + XOR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5" name="TextBox 17"/>
          <p:cNvSpPr/>
          <p:nvPr/>
        </p:nvSpPr>
        <p:spPr>
          <a:xfrm>
            <a:off x="1476000" y="3276000"/>
            <a:ext cx="9288000" cy="149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6" name="TextBox 18"/>
          <p:cNvSpPr/>
          <p:nvPr/>
        </p:nvSpPr>
        <p:spPr>
          <a:xfrm>
            <a:off x="1800000" y="3438000"/>
            <a:ext cx="3528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最小验收表达式</a:t>
            </a:r>
            <a:endParaRPr lang="en-US" sz="1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7" name="TextBox 19"/>
          <p:cNvSpPr/>
          <p:nvPr/>
        </p:nvSpPr>
        <p:spPr>
          <a:xfrm>
            <a:off x="1800000" y="3870000"/>
            <a:ext cx="85680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y = w*x + b；loss = (y-10)^2；期望：loss=9, w.grad=-12, b.grad=-6</a:t>
            </a:r>
            <a:endParaRPr lang="en-US" sz="15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058" name="TextBox 20"/>
          <p:cNvSpPr/>
          <p:nvPr/>
        </p:nvSpPr>
        <p:spPr>
          <a:xfrm>
            <a:off x="1548000" y="5112000"/>
            <a:ext cx="1980000" cy="288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目标结果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9" name="TextBox 21"/>
          <p:cNvSpPr/>
          <p:nvPr/>
        </p:nvSpPr>
        <p:spPr>
          <a:xfrm>
            <a:off x="3708000" y="5076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交付可运行、可测试、可展示的 C++ 项目。</a:t>
            </a:r>
            <a:endParaRPr lang="en-US" sz="18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60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1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2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04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04/12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5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需求分析：先跑通，再训练，可验收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6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以最小表达式和训练 demo 作为验收。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7" name="TextBox 8"/>
          <p:cNvSpPr/>
          <p:nvPr/>
        </p:nvSpPr>
        <p:spPr>
          <a:xfrm>
            <a:off x="648000" y="1440000"/>
            <a:ext cx="5112000" cy="165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8" name="TextBox 9"/>
          <p:cNvSpPr/>
          <p:nvPr/>
        </p:nvSpPr>
        <p:spPr>
          <a:xfrm>
            <a:off x="648000" y="1440000"/>
            <a:ext cx="64800" cy="165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9" name="TextBox 10"/>
          <p:cNvSpPr/>
          <p:nvPr/>
        </p:nvSpPr>
        <p:spPr>
          <a:xfrm>
            <a:off x="799200" y="156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功能需求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0" name="TextBox 11"/>
          <p:cNvSpPr/>
          <p:nvPr/>
        </p:nvSpPr>
        <p:spPr>
          <a:xfrm>
            <a:off x="810000" y="192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保存标量/向量/矩阵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1" name="TextBox 12"/>
          <p:cNvSpPr/>
          <p:nvPr/>
        </p:nvSpPr>
        <p:spPr>
          <a:xfrm>
            <a:off x="810000" y="222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支持四则运算与 matmul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3" name="TextBox 14"/>
          <p:cNvSpPr/>
          <p:nvPr/>
        </p:nvSpPr>
        <p:spPr>
          <a:xfrm>
            <a:off x="6120000" y="1440000"/>
            <a:ext cx="5112000" cy="165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4" name="TextBox 15"/>
          <p:cNvSpPr/>
          <p:nvPr/>
        </p:nvSpPr>
        <p:spPr>
          <a:xfrm>
            <a:off x="6120000" y="1440000"/>
            <a:ext cx="64800" cy="165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5" name="TextBox 16"/>
          <p:cNvSpPr/>
          <p:nvPr/>
        </p:nvSpPr>
        <p:spPr>
          <a:xfrm>
            <a:off x="6271200" y="156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训练需求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6" name="TextBox 17"/>
          <p:cNvSpPr/>
          <p:nvPr/>
        </p:nvSpPr>
        <p:spPr>
          <a:xfrm>
            <a:off x="6282000" y="192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MSE 损失函数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7" name="TextBox 18"/>
          <p:cNvSpPr/>
          <p:nvPr/>
        </p:nvSpPr>
        <p:spPr>
          <a:xfrm>
            <a:off x="6282000" y="222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SGD 参数更新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9" name="TextBox 20"/>
          <p:cNvSpPr/>
          <p:nvPr/>
        </p:nvSpPr>
        <p:spPr>
          <a:xfrm>
            <a:off x="648000" y="3600000"/>
            <a:ext cx="5112000" cy="165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0" name="TextBox 21"/>
          <p:cNvSpPr/>
          <p:nvPr/>
        </p:nvSpPr>
        <p:spPr>
          <a:xfrm>
            <a:off x="648000" y="3600000"/>
            <a:ext cx="64800" cy="165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1" name="TextBox 22"/>
          <p:cNvSpPr/>
          <p:nvPr/>
        </p:nvSpPr>
        <p:spPr>
          <a:xfrm>
            <a:off x="799200" y="372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验收需求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2" name="TextBox 23"/>
          <p:cNvSpPr/>
          <p:nvPr/>
        </p:nvSpPr>
        <p:spPr>
          <a:xfrm>
            <a:off x="810000" y="408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基础求导对齐手算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3" name="TextBox 24"/>
          <p:cNvSpPr/>
          <p:nvPr/>
        </p:nvSpPr>
        <p:spPr>
          <a:xfrm>
            <a:off x="810000" y="438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训练 loss 逐步下降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5" name="TextBox 26"/>
          <p:cNvSpPr/>
          <p:nvPr/>
        </p:nvSpPr>
        <p:spPr>
          <a:xfrm>
            <a:off x="6120000" y="3600000"/>
            <a:ext cx="5112000" cy="165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6" name="TextBox 27"/>
          <p:cNvSpPr/>
          <p:nvPr/>
        </p:nvSpPr>
        <p:spPr>
          <a:xfrm>
            <a:off x="6120000" y="3600000"/>
            <a:ext cx="64800" cy="165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7" name="TextBox 28"/>
          <p:cNvSpPr/>
          <p:nvPr/>
        </p:nvSpPr>
        <p:spPr>
          <a:xfrm>
            <a:off x="6271200" y="372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工程需求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8" name="TextBox 29"/>
          <p:cNvSpPr/>
          <p:nvPr/>
        </p:nvSpPr>
        <p:spPr>
          <a:xfrm>
            <a:off x="6282000" y="408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模块职责清晰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9" name="TextBox 30"/>
          <p:cNvSpPr/>
          <p:nvPr/>
        </p:nvSpPr>
        <p:spPr>
          <a:xfrm>
            <a:off x="6282000" y="438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测试覆盖关键路径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91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2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3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05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4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5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05/12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6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总体架构：从数据到训练 demo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7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分层结构：Tensor → Ops → Autograd → Train → Demo。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8" name="TextBox 8"/>
          <p:cNvSpPr/>
          <p:nvPr/>
        </p:nvSpPr>
        <p:spPr>
          <a:xfrm>
            <a:off x="1080000" y="1584000"/>
            <a:ext cx="2520000" cy="28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当前仓库模块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9" name="TextBox 9"/>
          <p:cNvSpPr/>
          <p:nvPr/>
        </p:nvSpPr>
        <p:spPr>
          <a:xfrm>
            <a:off x="3780000" y="1576800"/>
            <a:ext cx="7488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模块：LinkedList / Tensor / Ops / Loss / Optimizer / Module / Dataset / Logger</a:t>
            </a:r>
            <a:endParaRPr lang="en-US" sz="16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0" name="TextBox 10"/>
          <p:cNvSpPr/>
          <p:nvPr/>
        </p:nvSpPr>
        <p:spPr>
          <a:xfrm>
            <a:off x="576000" y="2880000"/>
            <a:ext cx="1656000" cy="93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Data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Dataset / linear / xor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1" name="TextBox 11"/>
          <p:cNvSpPr/>
          <p:nvPr/>
        </p:nvSpPr>
        <p:spPr>
          <a:xfrm>
            <a:off x="232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2" name="TextBox 12"/>
          <p:cNvSpPr/>
          <p:nvPr/>
        </p:nvSpPr>
        <p:spPr>
          <a:xfrm>
            <a:off x="2466000" y="2880000"/>
            <a:ext cx="1656000" cy="9360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data / grad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3" name="TextBox 13"/>
          <p:cNvSpPr/>
          <p:nvPr/>
        </p:nvSpPr>
        <p:spPr>
          <a:xfrm>
            <a:off x="421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4" name="TextBox 14"/>
          <p:cNvSpPr/>
          <p:nvPr/>
        </p:nvSpPr>
        <p:spPr>
          <a:xfrm>
            <a:off x="4356000" y="2880000"/>
            <a:ext cx="1656000" cy="93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Ops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+ - * /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5" name="TextBox 15"/>
          <p:cNvSpPr/>
          <p:nvPr/>
        </p:nvSpPr>
        <p:spPr>
          <a:xfrm>
            <a:off x="610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6" name="TextBox 16"/>
          <p:cNvSpPr/>
          <p:nvPr/>
        </p:nvSpPr>
        <p:spPr>
          <a:xfrm>
            <a:off x="6246000" y="2880000"/>
            <a:ext cx="1656000" cy="936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Autograd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7" name="TextBox 17"/>
          <p:cNvSpPr/>
          <p:nvPr/>
        </p:nvSpPr>
        <p:spPr>
          <a:xfrm>
            <a:off x="799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8" name="TextBox 18"/>
          <p:cNvSpPr/>
          <p:nvPr/>
        </p:nvSpPr>
        <p:spPr>
          <a:xfrm>
            <a:off x="8136000" y="2880000"/>
            <a:ext cx="1656000" cy="93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Train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Loss / SGD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9" name="TextBox 19"/>
          <p:cNvSpPr/>
          <p:nvPr/>
        </p:nvSpPr>
        <p:spPr>
          <a:xfrm>
            <a:off x="988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0" name="TextBox 20"/>
          <p:cNvSpPr/>
          <p:nvPr/>
        </p:nvSpPr>
        <p:spPr>
          <a:xfrm>
            <a:off x="10026000" y="2880000"/>
            <a:ext cx="1656000" cy="9360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Demo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basic / standard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1" name="TextBox 21"/>
          <p:cNvSpPr/>
          <p:nvPr/>
        </p:nvSpPr>
        <p:spPr>
          <a:xfrm>
            <a:off x="1080000" y="4716000"/>
            <a:ext cx="2232000" cy="28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设计原则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2" name="TextBox 22"/>
          <p:cNvSpPr/>
          <p:nvPr/>
        </p:nvSpPr>
        <p:spPr>
          <a:xfrm>
            <a:off x="3528000" y="4698000"/>
            <a:ext cx="7560000" cy="34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单一职责；先标量后矩阵；每个运算同时写前向与反向。</a:t>
            </a:r>
            <a:endParaRPr lang="en-US" sz="17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13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4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5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06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6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7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06/12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8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核心原理一：Tensor 即计算图节点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9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第一版让 Tensor 自己保存父节点和反向规则。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0" name="TextBox 8"/>
          <p:cNvSpPr/>
          <p:nvPr/>
        </p:nvSpPr>
        <p:spPr>
          <a:xfrm>
            <a:off x="4752000" y="2232000"/>
            <a:ext cx="2664000" cy="1080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1" name="TextBox 9"/>
          <p:cNvSpPr/>
          <p:nvPr/>
        </p:nvSpPr>
        <p:spPr>
          <a:xfrm>
            <a:off x="1188000" y="1656000"/>
            <a:ext cx="2304000" cy="79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data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当前值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2" name="TextBox 10"/>
          <p:cNvSpPr/>
          <p:nvPr/>
        </p:nvSpPr>
        <p:spPr>
          <a:xfrm>
            <a:off x="8568000" y="1656000"/>
            <a:ext cx="2304000" cy="792000"/>
          </a:xfrm>
          <a:prstGeom prst="roundRect">
            <a:avLst/>
          </a:prstGeom>
          <a:solidFill>
            <a:srgbClr val="EAF7F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grad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当前梯度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3" name="TextBox 11"/>
          <p:cNvSpPr/>
          <p:nvPr/>
        </p:nvSpPr>
        <p:spPr>
          <a:xfrm>
            <a:off x="1188000" y="3888000"/>
            <a:ext cx="2304000" cy="7920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parents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父节点列表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4" name="TextBox 12"/>
          <p:cNvSpPr/>
          <p:nvPr/>
        </p:nvSpPr>
        <p:spPr>
          <a:xfrm>
            <a:off x="8568000" y="3888000"/>
            <a:ext cx="2304000" cy="79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backwardFunc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反向传播规则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5" name="TextBox 13"/>
          <p:cNvSpPr/>
          <p:nvPr/>
        </p:nvSpPr>
        <p:spPr>
          <a:xfrm>
            <a:off x="3636000" y="1980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6" name="TextBox 14"/>
          <p:cNvSpPr/>
          <p:nvPr/>
        </p:nvSpPr>
        <p:spPr>
          <a:xfrm>
            <a:off x="7560000" y="1980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7" name="TextBox 15"/>
          <p:cNvSpPr/>
          <p:nvPr/>
        </p:nvSpPr>
        <p:spPr>
          <a:xfrm>
            <a:off x="3636000" y="4212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8" name="TextBox 16"/>
          <p:cNvSpPr/>
          <p:nvPr/>
        </p:nvSpPr>
        <p:spPr>
          <a:xfrm rot="10800000">
            <a:off x="7560000" y="4212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9" name="TextBox 17"/>
          <p:cNvSpPr/>
          <p:nvPr/>
        </p:nvSpPr>
        <p:spPr>
          <a:xfrm>
            <a:off x="1116000" y="5472000"/>
            <a:ext cx="10008000" cy="396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链表只是 parents 容器，真正的图由 Tensor 指针连接。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30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1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2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07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07/12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5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核心原理二：链式法则驱动 backward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6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从 loss.grad = 1 开始，沿计算图反向累加。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7" name="TextBox 8"/>
          <p:cNvSpPr/>
          <p:nvPr/>
        </p:nvSpPr>
        <p:spPr>
          <a:xfrm>
            <a:off x="720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8" name="TextBox 9"/>
          <p:cNvSpPr/>
          <p:nvPr/>
        </p:nvSpPr>
        <p:spPr>
          <a:xfrm>
            <a:off x="1278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前向计算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9" name="TextBox 10"/>
          <p:cNvSpPr/>
          <p:nvPr/>
        </p:nvSpPr>
        <p:spPr>
          <a:xfrm>
            <a:off x="1278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保存 out.data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0" name="TextBox 11"/>
          <p:cNvSpPr/>
          <p:nvPr/>
        </p:nvSpPr>
        <p:spPr>
          <a:xfrm>
            <a:off x="3132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1" name="TextBox 12"/>
          <p:cNvSpPr/>
          <p:nvPr/>
        </p:nvSpPr>
        <p:spPr>
          <a:xfrm>
            <a:off x="3528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2" name="TextBox 13"/>
          <p:cNvSpPr/>
          <p:nvPr/>
        </p:nvSpPr>
        <p:spPr>
          <a:xfrm>
            <a:off x="4086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记录父节点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3" name="TextBox 14"/>
          <p:cNvSpPr/>
          <p:nvPr/>
        </p:nvSpPr>
        <p:spPr>
          <a:xfrm>
            <a:off x="4086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out.parents = [a, b]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4" name="TextBox 15"/>
          <p:cNvSpPr/>
          <p:nvPr/>
        </p:nvSpPr>
        <p:spPr>
          <a:xfrm>
            <a:off x="5940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5" name="TextBox 16"/>
          <p:cNvSpPr/>
          <p:nvPr/>
        </p:nvSpPr>
        <p:spPr>
          <a:xfrm>
            <a:off x="6336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6" name="TextBox 17"/>
          <p:cNvSpPr/>
          <p:nvPr/>
        </p:nvSpPr>
        <p:spPr>
          <a:xfrm>
            <a:off x="6894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绑定规则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7" name="TextBox 18"/>
          <p:cNvSpPr/>
          <p:nvPr/>
        </p:nvSpPr>
        <p:spPr>
          <a:xfrm>
            <a:off x="6894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out.backwardFunc = mulBackward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8" name="TextBox 19"/>
          <p:cNvSpPr/>
          <p:nvPr/>
        </p:nvSpPr>
        <p:spPr>
          <a:xfrm>
            <a:off x="8748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9" name="TextBox 20"/>
          <p:cNvSpPr/>
          <p:nvPr/>
        </p:nvSpPr>
        <p:spPr>
          <a:xfrm>
            <a:off x="9144000" y="1656000"/>
            <a:ext cx="450000" cy="45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0" name="TextBox 21"/>
          <p:cNvSpPr/>
          <p:nvPr/>
        </p:nvSpPr>
        <p:spPr>
          <a:xfrm>
            <a:off x="9702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反向传播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1" name="TextBox 22"/>
          <p:cNvSpPr/>
          <p:nvPr/>
        </p:nvSpPr>
        <p:spPr>
          <a:xfrm>
            <a:off x="9702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a.grad += b.data * out.grad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52" name="TextBox 23"/>
          <p:cNvSpPr/>
          <p:nvPr/>
        </p:nvSpPr>
        <p:spPr>
          <a:xfrm>
            <a:off x="1476000" y="3276000"/>
            <a:ext cx="9288000" cy="149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3" name="TextBox 24"/>
          <p:cNvSpPr/>
          <p:nvPr/>
        </p:nvSpPr>
        <p:spPr>
          <a:xfrm>
            <a:off x="1800000" y="3438000"/>
            <a:ext cx="3528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示例：loss = diff * diff</a:t>
            </a:r>
            <a:endParaRPr lang="en-US" sz="1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4" name="TextBox 25"/>
          <p:cNvSpPr/>
          <p:nvPr/>
        </p:nvSpPr>
        <p:spPr>
          <a:xfrm>
            <a:off x="1800000" y="3834000"/>
            <a:ext cx="85680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loss.grad=1；diff 被用两次，所以 diff.grad = 2*diff = -6</a:t>
            </a:r>
            <a:endParaRPr lang="en-US" sz="15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55" name="TextBox 26"/>
          <p:cNvSpPr/>
          <p:nvPr/>
        </p:nvSpPr>
        <p:spPr>
          <a:xfrm>
            <a:off x="1476000" y="5256000"/>
            <a:ext cx="9288000" cy="342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关键：同一节点可出现两次，梯度必须累加。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56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7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8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08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9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0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08/12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1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模块划分：让每个文件只做一类事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2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按依赖关系逐层集成。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3" name="TextBox 8"/>
          <p:cNvSpPr/>
          <p:nvPr/>
        </p:nvSpPr>
        <p:spPr>
          <a:xfrm>
            <a:off x="630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4" name="TextBox 9"/>
          <p:cNvSpPr/>
          <p:nvPr/>
        </p:nvSpPr>
        <p:spPr>
          <a:xfrm>
            <a:off x="756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LinkedList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5" name="TextBox 10"/>
          <p:cNvSpPr/>
          <p:nvPr/>
        </p:nvSpPr>
        <p:spPr>
          <a:xfrm>
            <a:off x="828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保存父节点/参数/样本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6" name="TextBox 11"/>
          <p:cNvSpPr/>
          <p:nvPr/>
        </p:nvSpPr>
        <p:spPr>
          <a:xfrm>
            <a:off x="3438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7" name="TextBox 12"/>
          <p:cNvSpPr/>
          <p:nvPr/>
        </p:nvSpPr>
        <p:spPr>
          <a:xfrm>
            <a:off x="3564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8" name="TextBox 13"/>
          <p:cNvSpPr/>
          <p:nvPr/>
        </p:nvSpPr>
        <p:spPr>
          <a:xfrm>
            <a:off x="3636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保存 data/grad/parents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9" name="TextBox 14"/>
          <p:cNvSpPr/>
          <p:nvPr/>
        </p:nvSpPr>
        <p:spPr>
          <a:xfrm>
            <a:off x="6246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0" name="TextBox 15"/>
          <p:cNvSpPr/>
          <p:nvPr/>
        </p:nvSpPr>
        <p:spPr>
          <a:xfrm>
            <a:off x="6372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Ops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1" name="TextBox 16"/>
          <p:cNvSpPr/>
          <p:nvPr/>
        </p:nvSpPr>
        <p:spPr>
          <a:xfrm>
            <a:off x="6444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创建结果，绑定反向公式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2" name="TextBox 17"/>
          <p:cNvSpPr/>
          <p:nvPr/>
        </p:nvSpPr>
        <p:spPr>
          <a:xfrm>
            <a:off x="9054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3" name="TextBox 18"/>
          <p:cNvSpPr/>
          <p:nvPr/>
        </p:nvSpPr>
        <p:spPr>
          <a:xfrm>
            <a:off x="9180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Loss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4" name="TextBox 19"/>
          <p:cNvSpPr/>
          <p:nvPr/>
        </p:nvSpPr>
        <p:spPr>
          <a:xfrm>
            <a:off x="9252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生成标量 loss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5" name="TextBox 20"/>
          <p:cNvSpPr/>
          <p:nvPr/>
        </p:nvSpPr>
        <p:spPr>
          <a:xfrm>
            <a:off x="630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6" name="TextBox 21"/>
          <p:cNvSpPr/>
          <p:nvPr/>
        </p:nvSpPr>
        <p:spPr>
          <a:xfrm>
            <a:off x="756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Optimizer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7" name="TextBox 22"/>
          <p:cNvSpPr/>
          <p:nvPr/>
        </p:nvSpPr>
        <p:spPr>
          <a:xfrm>
            <a:off x="828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按 grad 更新参数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8" name="TextBox 23"/>
          <p:cNvSpPr/>
          <p:nvPr/>
        </p:nvSpPr>
        <p:spPr>
          <a:xfrm>
            <a:off x="3438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9" name="TextBox 24"/>
          <p:cNvSpPr/>
          <p:nvPr/>
        </p:nvSpPr>
        <p:spPr>
          <a:xfrm>
            <a:off x="3564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Module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0" name="TextBox 25"/>
          <p:cNvSpPr/>
          <p:nvPr/>
        </p:nvSpPr>
        <p:spPr>
          <a:xfrm>
            <a:off x="3636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封装 Linear 层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1" name="TextBox 26"/>
          <p:cNvSpPr/>
          <p:nvPr/>
        </p:nvSpPr>
        <p:spPr>
          <a:xfrm>
            <a:off x="6246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2" name="TextBox 27"/>
          <p:cNvSpPr/>
          <p:nvPr/>
        </p:nvSpPr>
        <p:spPr>
          <a:xfrm>
            <a:off x="6372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Dataset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3" name="TextBox 28"/>
          <p:cNvSpPr/>
          <p:nvPr/>
        </p:nvSpPr>
        <p:spPr>
          <a:xfrm>
            <a:off x="6444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读取训练样本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4" name="TextBox 29"/>
          <p:cNvSpPr/>
          <p:nvPr/>
        </p:nvSpPr>
        <p:spPr>
          <a:xfrm>
            <a:off x="9054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5" name="TextBox 30"/>
          <p:cNvSpPr/>
          <p:nvPr/>
        </p:nvSpPr>
        <p:spPr>
          <a:xfrm>
            <a:off x="9180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Logger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6" name="TextBox 31"/>
          <p:cNvSpPr/>
          <p:nvPr/>
        </p:nvSpPr>
        <p:spPr>
          <a:xfrm>
            <a:off x="9252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记录 loss 与结果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7" name="TextBox 32"/>
          <p:cNvSpPr/>
          <p:nvPr/>
        </p:nvSpPr>
        <p:spPr>
          <a:xfrm>
            <a:off x="864000" y="5472000"/>
            <a:ext cx="10080000" cy="37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集成顺序：Tensor → Ops → backward → Loss/SGD → Demo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88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9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0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09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1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2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09/12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3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技术路线：基础闭环优先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4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三阶段推进，每阶段可验收。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5" name="TextBox 8"/>
          <p:cNvSpPr/>
          <p:nvPr/>
        </p:nvSpPr>
        <p:spPr>
          <a:xfrm>
            <a:off x="720000" y="1620000"/>
            <a:ext cx="3204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6" name="TextBox 9"/>
          <p:cNvSpPr/>
          <p:nvPr/>
        </p:nvSpPr>
        <p:spPr>
          <a:xfrm>
            <a:off x="972000" y="1800000"/>
            <a:ext cx="2700000" cy="32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基础档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7" name="TextBox 10"/>
          <p:cNvSpPr/>
          <p:nvPr/>
        </p:nvSpPr>
        <p:spPr>
          <a:xfrm>
            <a:off x="1026000" y="23220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标量 Tensor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8" name="TextBox 11"/>
          <p:cNvSpPr/>
          <p:nvPr/>
        </p:nvSpPr>
        <p:spPr>
          <a:xfrm>
            <a:off x="1026000" y="26028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四则运算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9" name="TextBox 12"/>
          <p:cNvSpPr/>
          <p:nvPr/>
        </p:nvSpPr>
        <p:spPr>
          <a:xfrm>
            <a:off x="1026000" y="28836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loss.backward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0" name="TextBox 13"/>
          <p:cNvSpPr/>
          <p:nvPr/>
        </p:nvSpPr>
        <p:spPr>
          <a:xfrm>
            <a:off x="1026000" y="3744000"/>
            <a:ext cx="648000" cy="19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验收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1" name="TextBox 14"/>
          <p:cNvSpPr/>
          <p:nvPr/>
        </p:nvSpPr>
        <p:spPr>
          <a:xfrm>
            <a:off x="1026000" y="40500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3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输出正确 loss / w.grad / b.grad</a:t>
            </a:r>
            <a:endParaRPr lang="en-US" sz="13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2" name="TextBox 15"/>
          <p:cNvSpPr/>
          <p:nvPr/>
        </p:nvSpPr>
        <p:spPr>
          <a:xfrm>
            <a:off x="4050000" y="3150000"/>
            <a:ext cx="324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3" name="TextBox 16"/>
          <p:cNvSpPr/>
          <p:nvPr/>
        </p:nvSpPr>
        <p:spPr>
          <a:xfrm>
            <a:off x="4464000" y="1620000"/>
            <a:ext cx="3204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4" name="TextBox 17"/>
          <p:cNvSpPr/>
          <p:nvPr/>
        </p:nvSpPr>
        <p:spPr>
          <a:xfrm>
            <a:off x="4716000" y="1800000"/>
            <a:ext cx="2700000" cy="324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标准档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5" name="TextBox 18"/>
          <p:cNvSpPr/>
          <p:nvPr/>
        </p:nvSpPr>
        <p:spPr>
          <a:xfrm>
            <a:off x="4770000" y="23220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二维矩阵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6" name="TextBox 19"/>
          <p:cNvSpPr/>
          <p:nvPr/>
        </p:nvSpPr>
        <p:spPr>
          <a:xfrm>
            <a:off x="4770000" y="26028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matmul + MSE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7" name="TextBox 20"/>
          <p:cNvSpPr/>
          <p:nvPr/>
        </p:nvSpPr>
        <p:spPr>
          <a:xfrm>
            <a:off x="4770000" y="28836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线性回归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8" name="TextBox 21"/>
          <p:cNvSpPr/>
          <p:nvPr/>
        </p:nvSpPr>
        <p:spPr>
          <a:xfrm>
            <a:off x="4770000" y="3744000"/>
            <a:ext cx="648000" cy="19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验收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9" name="TextBox 22"/>
          <p:cNvSpPr/>
          <p:nvPr/>
        </p:nvSpPr>
        <p:spPr>
          <a:xfrm>
            <a:off x="4770000" y="40500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3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loss 下降，参数收敛</a:t>
            </a:r>
            <a:endParaRPr lang="en-US" sz="13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0" name="TextBox 23"/>
          <p:cNvSpPr/>
          <p:nvPr/>
        </p:nvSpPr>
        <p:spPr>
          <a:xfrm>
            <a:off x="7794000" y="3150000"/>
            <a:ext cx="324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1" name="TextBox 24"/>
          <p:cNvSpPr/>
          <p:nvPr/>
        </p:nvSpPr>
        <p:spPr>
          <a:xfrm>
            <a:off x="8208000" y="1620000"/>
            <a:ext cx="3204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2" name="TextBox 25"/>
          <p:cNvSpPr/>
          <p:nvPr/>
        </p:nvSpPr>
        <p:spPr>
          <a:xfrm>
            <a:off x="8460000" y="1800000"/>
            <a:ext cx="2700000" cy="324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挑战档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3" name="TextBox 26"/>
          <p:cNvSpPr/>
          <p:nvPr/>
        </p:nvSpPr>
        <p:spPr>
          <a:xfrm>
            <a:off x="8514000" y="23220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relu / sigmoid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4" name="TextBox 27"/>
          <p:cNvSpPr/>
          <p:nvPr/>
        </p:nvSpPr>
        <p:spPr>
          <a:xfrm>
            <a:off x="8514000" y="26028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Linear + SGD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5" name="TextBox 28"/>
          <p:cNvSpPr/>
          <p:nvPr/>
        </p:nvSpPr>
        <p:spPr>
          <a:xfrm>
            <a:off x="8514000" y="28836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XOR 网络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6" name="TextBox 29"/>
          <p:cNvSpPr/>
          <p:nvPr/>
        </p:nvSpPr>
        <p:spPr>
          <a:xfrm>
            <a:off x="8514000" y="3744000"/>
            <a:ext cx="648000" cy="19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验收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7" name="TextBox 30"/>
          <p:cNvSpPr/>
          <p:nvPr/>
        </p:nvSpPr>
        <p:spPr>
          <a:xfrm>
            <a:off x="8514000" y="40500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3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XOR 预测接近 0/1/1/0</a:t>
            </a:r>
            <a:endParaRPr lang="en-US" sz="13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18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9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0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10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1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2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10/12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3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小组分工：核心、运算、验收并行推进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4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先保证 basic demo 跑通，再扩展训练。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5" name="TextBox 8"/>
          <p:cNvSpPr/>
          <p:nvPr/>
        </p:nvSpPr>
        <p:spPr>
          <a:xfrm>
            <a:off x="792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6" name="TextBox 9"/>
          <p:cNvSpPr/>
          <p:nvPr/>
        </p:nvSpPr>
        <p:spPr>
          <a:xfrm>
            <a:off x="1980000" y="1818000"/>
            <a:ext cx="756000" cy="756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周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7" name="TextBox 10"/>
          <p:cNvSpPr/>
          <p:nvPr/>
        </p:nvSpPr>
        <p:spPr>
          <a:xfrm>
            <a:off x="972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周获深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8" name="TextBox 11"/>
          <p:cNvSpPr/>
          <p:nvPr/>
        </p:nvSpPr>
        <p:spPr>
          <a:xfrm>
            <a:off x="1854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组长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9" name="TextBox 12"/>
          <p:cNvSpPr/>
          <p:nvPr/>
        </p:nvSpPr>
        <p:spPr>
          <a:xfrm>
            <a:off x="1080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总体设计与集成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0" name="TextBox 13"/>
          <p:cNvSpPr/>
          <p:nvPr/>
        </p:nvSpPr>
        <p:spPr>
          <a:xfrm>
            <a:off x="1080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LinkedList / Tensor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2" name="TextBox 15"/>
          <p:cNvSpPr/>
          <p:nvPr/>
        </p:nvSpPr>
        <p:spPr>
          <a:xfrm>
            <a:off x="4500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3" name="TextBox 16"/>
          <p:cNvSpPr/>
          <p:nvPr/>
        </p:nvSpPr>
        <p:spPr>
          <a:xfrm>
            <a:off x="5688000" y="1818000"/>
            <a:ext cx="756000" cy="756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靳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4" name="TextBox 17"/>
          <p:cNvSpPr/>
          <p:nvPr/>
        </p:nvSpPr>
        <p:spPr>
          <a:xfrm>
            <a:off x="4680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靳子桐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5" name="TextBox 18"/>
          <p:cNvSpPr/>
          <p:nvPr/>
        </p:nvSpPr>
        <p:spPr>
          <a:xfrm>
            <a:off x="5562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组员</a:t>
            </a:r>
            <a:endParaRPr lang="en-US" sz="12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6" name="TextBox 19"/>
          <p:cNvSpPr/>
          <p:nvPr/>
        </p:nvSpPr>
        <p:spPr>
          <a:xfrm>
            <a:off x="4788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Ops 运算实现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7" name="TextBox 20"/>
          <p:cNvSpPr/>
          <p:nvPr/>
        </p:nvSpPr>
        <p:spPr>
          <a:xfrm>
            <a:off x="4788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反向传播公式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9" name="TextBox 22"/>
          <p:cNvSpPr/>
          <p:nvPr/>
        </p:nvSpPr>
        <p:spPr>
          <a:xfrm>
            <a:off x="8208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0" name="TextBox 23"/>
          <p:cNvSpPr/>
          <p:nvPr/>
        </p:nvSpPr>
        <p:spPr>
          <a:xfrm>
            <a:off x="9396000" y="1818000"/>
            <a:ext cx="756000" cy="756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杜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1" name="TextBox 24"/>
          <p:cNvSpPr/>
          <p:nvPr/>
        </p:nvSpPr>
        <p:spPr>
          <a:xfrm>
            <a:off x="8388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杜启瑄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2" name="TextBox 25"/>
          <p:cNvSpPr/>
          <p:nvPr/>
        </p:nvSpPr>
        <p:spPr>
          <a:xfrm>
            <a:off x="9270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组员</a:t>
            </a:r>
            <a:endParaRPr lang="en-US" sz="12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3" name="TextBox 26"/>
          <p:cNvSpPr/>
          <p:nvPr/>
        </p:nvSpPr>
        <p:spPr>
          <a:xfrm>
            <a:off x="8496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测试与 Demo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4" name="TextBox 27"/>
          <p:cNvSpPr/>
          <p:nvPr/>
        </p:nvSpPr>
        <p:spPr>
          <a:xfrm>
            <a:off x="8496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日志、README、报告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6" name="TextBox 29"/>
          <p:cNvSpPr/>
          <p:nvPr/>
        </p:nvSpPr>
        <p:spPr>
          <a:xfrm>
            <a:off x="1116000" y="5436000"/>
            <a:ext cx="9936000" cy="37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协作规则：先跑最小测试，再集成。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7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8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9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11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0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1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11/12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2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进度计划：每阶段都有 Demo 验收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3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Demo 贯穿验收：basic 求导，standard 训练，challenge XOR。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4" name="TextBox 8"/>
          <p:cNvSpPr/>
          <p:nvPr/>
        </p:nvSpPr>
        <p:spPr>
          <a:xfrm>
            <a:off x="1080000" y="3096000"/>
            <a:ext cx="9864000" cy="43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5" name="TextBox 9"/>
          <p:cNvSpPr/>
          <p:nvPr/>
        </p:nvSpPr>
        <p:spPr>
          <a:xfrm>
            <a:off x="129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6" name="TextBox 10"/>
          <p:cNvSpPr/>
          <p:nvPr/>
        </p:nvSpPr>
        <p:spPr>
          <a:xfrm>
            <a:off x="79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第1周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7" name="TextBox 11"/>
          <p:cNvSpPr/>
          <p:nvPr/>
        </p:nvSpPr>
        <p:spPr>
          <a:xfrm>
            <a:off x="79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框架搭建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8" name="TextBox 12"/>
          <p:cNvSpPr/>
          <p:nvPr/>
        </p:nvSpPr>
        <p:spPr>
          <a:xfrm>
            <a:off x="79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LinkedList / Tensor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9" name="TextBox 13"/>
          <p:cNvSpPr/>
          <p:nvPr/>
        </p:nvSpPr>
        <p:spPr>
          <a:xfrm>
            <a:off x="318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0" name="TextBox 14"/>
          <p:cNvSpPr/>
          <p:nvPr/>
        </p:nvSpPr>
        <p:spPr>
          <a:xfrm>
            <a:off x="268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第2周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1" name="TextBox 15"/>
          <p:cNvSpPr/>
          <p:nvPr/>
        </p:nvSpPr>
        <p:spPr>
          <a:xfrm>
            <a:off x="268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Ops 四则运算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2" name="TextBox 16"/>
          <p:cNvSpPr/>
          <p:nvPr/>
        </p:nvSpPr>
        <p:spPr>
          <a:xfrm>
            <a:off x="268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标量前向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3" name="TextBox 17"/>
          <p:cNvSpPr/>
          <p:nvPr/>
        </p:nvSpPr>
        <p:spPr>
          <a:xfrm>
            <a:off x="507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4" name="TextBox 18"/>
          <p:cNvSpPr/>
          <p:nvPr/>
        </p:nvSpPr>
        <p:spPr>
          <a:xfrm>
            <a:off x="457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第3周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5" name="TextBox 19"/>
          <p:cNvSpPr/>
          <p:nvPr/>
        </p:nvSpPr>
        <p:spPr>
          <a:xfrm>
            <a:off x="457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6" name="TextBox 20"/>
          <p:cNvSpPr/>
          <p:nvPr/>
        </p:nvSpPr>
        <p:spPr>
          <a:xfrm>
            <a:off x="457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basic demo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7" name="TextBox 21"/>
          <p:cNvSpPr/>
          <p:nvPr/>
        </p:nvSpPr>
        <p:spPr>
          <a:xfrm>
            <a:off x="6966000" y="2779200"/>
            <a:ext cx="522000" cy="522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8" name="TextBox 22"/>
          <p:cNvSpPr/>
          <p:nvPr/>
        </p:nvSpPr>
        <p:spPr>
          <a:xfrm>
            <a:off x="646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第4周</a:t>
            </a:r>
            <a:endParaRPr lang="en-US" sz="16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9" name="TextBox 23"/>
          <p:cNvSpPr/>
          <p:nvPr/>
        </p:nvSpPr>
        <p:spPr>
          <a:xfrm>
            <a:off x="646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矩阵 / matmul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0" name="TextBox 24"/>
          <p:cNvSpPr/>
          <p:nvPr/>
        </p:nvSpPr>
        <p:spPr>
          <a:xfrm>
            <a:off x="646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MSE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1" name="TextBox 25"/>
          <p:cNvSpPr/>
          <p:nvPr/>
        </p:nvSpPr>
        <p:spPr>
          <a:xfrm>
            <a:off x="8856000" y="2779200"/>
            <a:ext cx="522000" cy="522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2" name="TextBox 26"/>
          <p:cNvSpPr/>
          <p:nvPr/>
        </p:nvSpPr>
        <p:spPr>
          <a:xfrm>
            <a:off x="835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第5周</a:t>
            </a:r>
            <a:endParaRPr lang="en-US" sz="16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3" name="TextBox 27"/>
          <p:cNvSpPr/>
          <p:nvPr/>
        </p:nvSpPr>
        <p:spPr>
          <a:xfrm>
            <a:off x="835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SGD / Linear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4" name="TextBox 28"/>
          <p:cNvSpPr/>
          <p:nvPr/>
        </p:nvSpPr>
        <p:spPr>
          <a:xfrm>
            <a:off x="835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standard demo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5" name="TextBox 29"/>
          <p:cNvSpPr/>
          <p:nvPr/>
        </p:nvSpPr>
        <p:spPr>
          <a:xfrm>
            <a:off x="10746000" y="2779200"/>
            <a:ext cx="522000" cy="52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6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6" name="TextBox 30"/>
          <p:cNvSpPr/>
          <p:nvPr/>
        </p:nvSpPr>
        <p:spPr>
          <a:xfrm>
            <a:off x="1024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第6周</a:t>
            </a:r>
            <a:endParaRPr lang="en-US" sz="16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7" name="TextBox 31"/>
          <p:cNvSpPr/>
          <p:nvPr/>
        </p:nvSpPr>
        <p:spPr>
          <a:xfrm>
            <a:off x="1024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XOR / 测试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8" name="TextBox 32"/>
          <p:cNvSpPr/>
          <p:nvPr/>
        </p:nvSpPr>
        <p:spPr>
          <a:xfrm>
            <a:off x="1024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答辩演示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9" name="TextBox 33"/>
          <p:cNvSpPr/>
          <p:nvPr/>
        </p:nvSpPr>
        <p:spPr>
          <a:xfrm>
            <a:off x="1512000" y="5472000"/>
            <a:ext cx="1728000" cy="27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Demo演示路线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0" name="TextBox 34"/>
          <p:cNvSpPr/>
          <p:nvPr/>
        </p:nvSpPr>
        <p:spPr>
          <a:xfrm>
            <a:off x="3456000" y="5450400"/>
            <a:ext cx="7380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第3周演示 basic；第5周演示 loss 下降；第6周演示 XOR 与答辩。</a:t>
            </a:r>
            <a:endParaRPr lang="en-US" sz="15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81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2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3" name="TextBox 3"/>
          <p:cNvSpPr/>
          <p:nvPr/>
        </p:nvSpPr>
        <p:spPr>
          <a:xfrm>
            <a:off x="8640000" y="252000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68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12</a:t>
            </a:r>
            <a:endParaRPr lang="en-US" sz="68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4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5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12/12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6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预期成果与风险控制</a:t>
            </a:r>
            <a:endParaRPr lang="en-US" sz="3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7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交付程序、训练结果与答辩材料。</a:t>
            </a:r>
            <a:endParaRPr lang="en-US" sz="15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8" name="TextBox 8"/>
          <p:cNvSpPr/>
          <p:nvPr/>
        </p:nvSpPr>
        <p:spPr>
          <a:xfrm>
            <a:off x="720000" y="1566000"/>
            <a:ext cx="3312000" cy="259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9" name="TextBox 9"/>
          <p:cNvSpPr/>
          <p:nvPr/>
        </p:nvSpPr>
        <p:spPr>
          <a:xfrm>
            <a:off x="720000" y="1566000"/>
            <a:ext cx="64800" cy="2592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0" name="TextBox 10"/>
          <p:cNvSpPr/>
          <p:nvPr/>
        </p:nvSpPr>
        <p:spPr>
          <a:xfrm>
            <a:off x="871200" y="1692000"/>
            <a:ext cx="30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预期成果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1" name="TextBox 11"/>
          <p:cNvSpPr/>
          <p:nvPr/>
        </p:nvSpPr>
        <p:spPr>
          <a:xfrm>
            <a:off x="882000" y="20520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tinytensor.exe basic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2" name="TextBox 12"/>
          <p:cNvSpPr/>
          <p:nvPr/>
        </p:nvSpPr>
        <p:spPr>
          <a:xfrm>
            <a:off x="882000" y="23472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线性回归训练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3" name="TextBox 13"/>
          <p:cNvSpPr/>
          <p:nvPr/>
        </p:nvSpPr>
        <p:spPr>
          <a:xfrm>
            <a:off x="882000" y="26424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训练日志与结果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5" name="TextBox 15"/>
          <p:cNvSpPr/>
          <p:nvPr/>
        </p:nvSpPr>
        <p:spPr>
          <a:xfrm>
            <a:off x="4446000" y="1566000"/>
            <a:ext cx="3312000" cy="259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6" name="TextBox 16"/>
          <p:cNvSpPr/>
          <p:nvPr/>
        </p:nvSpPr>
        <p:spPr>
          <a:xfrm>
            <a:off x="4446000" y="1566000"/>
            <a:ext cx="64800" cy="259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7" name="TextBox 17"/>
          <p:cNvSpPr/>
          <p:nvPr/>
        </p:nvSpPr>
        <p:spPr>
          <a:xfrm>
            <a:off x="4597200" y="1692000"/>
            <a:ext cx="30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主要风险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8" name="TextBox 18"/>
          <p:cNvSpPr/>
          <p:nvPr/>
        </p:nvSpPr>
        <p:spPr>
          <a:xfrm>
            <a:off x="4608000" y="20520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临时 Tensor 生命周期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9" name="TextBox 19"/>
          <p:cNvSpPr/>
          <p:nvPr/>
        </p:nvSpPr>
        <p:spPr>
          <a:xfrm>
            <a:off x="4608000" y="23472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梯度误覆盖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0" name="TextBox 20"/>
          <p:cNvSpPr/>
          <p:nvPr/>
        </p:nvSpPr>
        <p:spPr>
          <a:xfrm>
            <a:off x="4608000" y="26424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shape 与内存管理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2" name="TextBox 22"/>
          <p:cNvSpPr/>
          <p:nvPr/>
        </p:nvSpPr>
        <p:spPr>
          <a:xfrm>
            <a:off x="8172000" y="1566000"/>
            <a:ext cx="3312000" cy="259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3" name="TextBox 23"/>
          <p:cNvSpPr/>
          <p:nvPr/>
        </p:nvSpPr>
        <p:spPr>
          <a:xfrm>
            <a:off x="8172000" y="1566000"/>
            <a:ext cx="64800" cy="2592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4" name="TextBox 24"/>
          <p:cNvSpPr/>
          <p:nvPr/>
        </p:nvSpPr>
        <p:spPr>
          <a:xfrm>
            <a:off x="8323200" y="1692000"/>
            <a:ext cx="30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解决策略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5" name="TextBox 25"/>
          <p:cNvSpPr/>
          <p:nvPr/>
        </p:nvSpPr>
        <p:spPr>
          <a:xfrm>
            <a:off x="8334000" y="20520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先标量后矩阵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6" name="TextBox 26"/>
          <p:cNvSpPr/>
          <p:nvPr/>
        </p:nvSpPr>
        <p:spPr>
          <a:xfrm>
            <a:off x="8334000" y="23472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每个运算配手算测试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7" name="TextBox 27"/>
          <p:cNvSpPr/>
          <p:nvPr/>
        </p:nvSpPr>
        <p:spPr>
          <a:xfrm>
            <a:off x="8334000" y="26424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显式命名中间 Tensor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9" name="TextBox 29"/>
          <p:cNvSpPr/>
          <p:nvPr/>
        </p:nvSpPr>
        <p:spPr>
          <a:xfrm>
            <a:off x="1836000" y="5076000"/>
            <a:ext cx="1440000" cy="2880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结论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0" name="TextBox 30"/>
          <p:cNvSpPr/>
          <p:nvPr/>
        </p:nvSpPr>
        <p:spPr>
          <a:xfrm>
            <a:off x="3528000" y="5040000"/>
            <a:ext cx="7200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以自动求导闭环为核心，逐步扩展到可演示训练任务。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1" name="TextBox 31"/>
          <p:cNvSpPr/>
          <p:nvPr/>
        </p:nvSpPr>
        <p:spPr>
          <a:xfrm>
            <a:off x="3600000" y="5922000"/>
            <a:ext cx="504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谢谢聆听</a:t>
            </a:r>
            <a:endParaRPr lang="en-US" sz="20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3168</ap:Words>
  <ap:Application>WPS 演示</ap:Application>
  <ap:PresentationFormat/>
  <ap:Paragraphs>478</ap:Paragraphs>
  <ap:Slides>12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ap:HeadingPairs>
  <ap:TitlesOfParts>
    <vt:vector baseType="lpstr" size="20">
      <vt:lpstr>Arial</vt:lpstr>
      <vt:lpstr>SimSun</vt:lpstr>
      <vt:lpstr>Wingdings</vt:lpstr>
      <vt:lpstr>Microsoft YaHei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ap:TitlesOfParts>
  <ap:LinksUpToDate>false</ap:LinksUpToDate>
  <ap:SharedDoc>false</ap:SharedDoc>
  <ap:HyperlinksChanged>false</ap:HyperlinksChanged>
  <ap:AppVersion>14.0000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OfficeCLI</dc:creator>
  <cp:lastModifiedBy>周获深</cp:lastModifiedBy>
  <cp:revision>1</cp:revision>
  <dcterms:created xsi:type="dcterms:W3CDTF">2026-05-14T11:50:12Z</dcterms:created>
  <dcterms:modified xsi:type="dcterms:W3CDTF">2026-05-14T11:50:12Z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8F8C1B2D884148D48DA129B1E58EED87_12</vt:lpwstr>
  </property>
</Properties>
</file>